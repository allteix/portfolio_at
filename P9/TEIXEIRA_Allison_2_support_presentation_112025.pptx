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0" r:id="rId3"/>
    <p:sldId id="261" r:id="rId4"/>
    <p:sldId id="279" r:id="rId5"/>
    <p:sldId id="280" r:id="rId6"/>
    <p:sldId id="282" r:id="rId7"/>
    <p:sldId id="262" r:id="rId8"/>
    <p:sldId id="283" r:id="rId9"/>
    <p:sldId id="286" r:id="rId10"/>
    <p:sldId id="284" r:id="rId11"/>
    <p:sldId id="274" r:id="rId12"/>
    <p:sldId id="263" r:id="rId13"/>
    <p:sldId id="266" r:id="rId14"/>
    <p:sldId id="288" r:id="rId15"/>
  </p:sldIdLst>
  <p:sldSz cx="9144000" cy="6858000" type="screen4x3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536" autoAdjust="0"/>
  </p:normalViewPr>
  <p:slideViewPr>
    <p:cSldViewPr>
      <p:cViewPr>
        <p:scale>
          <a:sx n="100" d="100"/>
          <a:sy n="100" d="100"/>
        </p:scale>
        <p:origin x="-946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../datas/Etude_site_Lapage_2023.xlsx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../datas/Etude_site_Lapage_2023.xlsx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A69F2-D0A7-4183-A12E-4842453A89A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0CBFC5A-B623-4DF0-A0A9-9FD8F0A45B91}">
      <dgm:prSet phldrT="[Text]" custT="1"/>
      <dgm:spPr/>
      <dgm:t>
        <a:bodyPr/>
        <a:lstStyle/>
        <a:p>
          <a:r>
            <a:rPr lang="fr-FR" sz="1400" dirty="0" smtClean="0"/>
            <a:t>Indicateurs</a:t>
          </a:r>
          <a:endParaRPr lang="fr-FR" sz="1400" dirty="0"/>
        </a:p>
      </dgm:t>
    </dgm:pt>
    <dgm:pt modelId="{3F21B759-361C-4DD6-BB86-CAF03922666C}" type="parTrans" cxnId="{26D399B3-2562-41E2-9493-6E3FE10F73BF}">
      <dgm:prSet/>
      <dgm:spPr/>
      <dgm:t>
        <a:bodyPr/>
        <a:lstStyle/>
        <a:p>
          <a:endParaRPr lang="fr-FR"/>
        </a:p>
      </dgm:t>
    </dgm:pt>
    <dgm:pt modelId="{8CE8EFC2-4720-4D5E-AA77-D68352B244F1}" type="sibTrans" cxnId="{26D399B3-2562-41E2-9493-6E3FE10F73BF}">
      <dgm:prSet/>
      <dgm:spPr/>
      <dgm:t>
        <a:bodyPr/>
        <a:lstStyle/>
        <a:p>
          <a:endParaRPr lang="fr-FR"/>
        </a:p>
      </dgm:t>
    </dgm:pt>
    <dgm:pt modelId="{F9445B03-88A5-4EE8-811D-3EBADE249F0D}">
      <dgm:prSet phldrT="[Text]" custT="1"/>
      <dgm:spPr/>
      <dgm:t>
        <a:bodyPr/>
        <a:lstStyle/>
        <a:p>
          <a:r>
            <a:rPr lang="fr-FR" sz="1200" dirty="0" smtClean="0"/>
            <a:t>stables et suffisants pour maintenir activité convenable</a:t>
          </a:r>
          <a:endParaRPr lang="fr-FR" sz="1200" dirty="0"/>
        </a:p>
      </dgm:t>
    </dgm:pt>
    <dgm:pt modelId="{FDA2EFC3-53AE-4191-8B11-9E963C1F6A0A}" type="parTrans" cxnId="{9883C179-D274-47E3-89B4-13B5CA3D13AF}">
      <dgm:prSet/>
      <dgm:spPr/>
      <dgm:t>
        <a:bodyPr/>
        <a:lstStyle/>
        <a:p>
          <a:endParaRPr lang="fr-FR"/>
        </a:p>
      </dgm:t>
    </dgm:pt>
    <dgm:pt modelId="{008AA0B4-3C66-427E-BBB7-91A017B9F467}" type="sibTrans" cxnId="{9883C179-D274-47E3-89B4-13B5CA3D13AF}">
      <dgm:prSet/>
      <dgm:spPr/>
      <dgm:t>
        <a:bodyPr/>
        <a:lstStyle/>
        <a:p>
          <a:endParaRPr lang="fr-FR"/>
        </a:p>
      </dgm:t>
    </dgm:pt>
    <dgm:pt modelId="{3DCCD2AC-2268-439A-8106-8C4D64DB36EF}">
      <dgm:prSet phldrT="[Text]" custT="1"/>
      <dgm:spPr/>
      <dgm:t>
        <a:bodyPr/>
        <a:lstStyle/>
        <a:p>
          <a:r>
            <a:rPr lang="fr-FR" sz="1400" dirty="0" smtClean="0"/>
            <a:t>Références</a:t>
          </a:r>
          <a:endParaRPr lang="fr-FR" sz="1400" dirty="0"/>
        </a:p>
      </dgm:t>
    </dgm:pt>
    <dgm:pt modelId="{3D9CBE46-04B9-41FB-BCEF-E5C7EECF1158}" type="parTrans" cxnId="{79AD8897-329B-44BA-86E9-646AD9DD4FB8}">
      <dgm:prSet/>
      <dgm:spPr/>
      <dgm:t>
        <a:bodyPr/>
        <a:lstStyle/>
        <a:p>
          <a:endParaRPr lang="fr-FR"/>
        </a:p>
      </dgm:t>
    </dgm:pt>
    <dgm:pt modelId="{88C70A43-C7CE-4BCE-A2F8-9B88F44263DE}" type="sibTrans" cxnId="{79AD8897-329B-44BA-86E9-646AD9DD4FB8}">
      <dgm:prSet/>
      <dgm:spPr/>
      <dgm:t>
        <a:bodyPr/>
        <a:lstStyle/>
        <a:p>
          <a:endParaRPr lang="fr-FR"/>
        </a:p>
      </dgm:t>
    </dgm:pt>
    <dgm:pt modelId="{0A2D3244-D70A-4479-8B7F-A0C77F022E57}">
      <dgm:prSet phldrT="[Text]" custT="1"/>
      <dgm:spPr/>
      <dgm:t>
        <a:bodyPr/>
        <a:lstStyle/>
        <a:p>
          <a:r>
            <a:rPr lang="fr-FR" sz="1200" dirty="0" smtClean="0"/>
            <a:t>Répartition déséquilibrée </a:t>
          </a:r>
          <a:r>
            <a:rPr lang="fr-FR" sz="1200" dirty="0" smtClean="0"/>
            <a:t>=&gt; Cat 2 sous représentée</a:t>
          </a:r>
          <a:endParaRPr lang="fr-FR" sz="1200" dirty="0"/>
        </a:p>
      </dgm:t>
    </dgm:pt>
    <dgm:pt modelId="{8236435B-D2BE-427D-A9EB-83D076352CB5}" type="parTrans" cxnId="{6CE73784-A244-4062-9DF6-5FB9F67EFDED}">
      <dgm:prSet/>
      <dgm:spPr/>
      <dgm:t>
        <a:bodyPr/>
        <a:lstStyle/>
        <a:p>
          <a:endParaRPr lang="fr-FR"/>
        </a:p>
      </dgm:t>
    </dgm:pt>
    <dgm:pt modelId="{FFBCF44F-66B0-4742-B585-07017559F122}" type="sibTrans" cxnId="{6CE73784-A244-4062-9DF6-5FB9F67EFDED}">
      <dgm:prSet/>
      <dgm:spPr/>
      <dgm:t>
        <a:bodyPr/>
        <a:lstStyle/>
        <a:p>
          <a:endParaRPr lang="fr-FR"/>
        </a:p>
      </dgm:t>
    </dgm:pt>
    <dgm:pt modelId="{E0A400B2-ABE4-4E3D-920B-B64F882F6BCE}">
      <dgm:prSet phldrT="[Text]" custT="1"/>
      <dgm:spPr/>
      <dgm:t>
        <a:bodyPr/>
        <a:lstStyle/>
        <a:p>
          <a:r>
            <a:rPr lang="fr-FR" sz="1400" dirty="0" smtClean="0"/>
            <a:t>Profil client</a:t>
          </a:r>
          <a:endParaRPr lang="fr-FR" sz="1400" dirty="0"/>
        </a:p>
      </dgm:t>
    </dgm:pt>
    <dgm:pt modelId="{0C93A9CD-28C5-45C9-876A-F27F349FF5C7}" type="parTrans" cxnId="{739CCB76-57C2-4A9C-B66C-B5D4FBB8939F}">
      <dgm:prSet/>
      <dgm:spPr/>
      <dgm:t>
        <a:bodyPr/>
        <a:lstStyle/>
        <a:p>
          <a:endParaRPr lang="fr-FR"/>
        </a:p>
      </dgm:t>
    </dgm:pt>
    <dgm:pt modelId="{D2FB06AE-51AA-46E1-9981-FCFDD178664F}" type="sibTrans" cxnId="{739CCB76-57C2-4A9C-B66C-B5D4FBB8939F}">
      <dgm:prSet/>
      <dgm:spPr/>
      <dgm:t>
        <a:bodyPr/>
        <a:lstStyle/>
        <a:p>
          <a:endParaRPr lang="fr-FR"/>
        </a:p>
      </dgm:t>
    </dgm:pt>
    <dgm:pt modelId="{DF732274-4C39-4DB0-BD02-D1FABD464B7E}">
      <dgm:prSet phldrT="[Text]" custT="1"/>
      <dgm:spPr/>
      <dgm:t>
        <a:bodyPr/>
        <a:lstStyle/>
        <a:p>
          <a:r>
            <a:rPr lang="fr-FR" sz="1200" dirty="0" smtClean="0"/>
            <a:t>4 clients </a:t>
          </a:r>
          <a:r>
            <a:rPr lang="fr-FR" sz="1200" dirty="0" err="1" smtClean="0"/>
            <a:t>BtoB</a:t>
          </a:r>
          <a:r>
            <a:rPr lang="fr-FR" sz="1200" dirty="0" smtClean="0"/>
            <a:t> </a:t>
          </a:r>
          <a:r>
            <a:rPr lang="fr-FR" sz="1200" dirty="0" smtClean="0"/>
            <a:t>importants</a:t>
          </a:r>
          <a:endParaRPr lang="fr-FR" sz="1200" dirty="0"/>
        </a:p>
      </dgm:t>
    </dgm:pt>
    <dgm:pt modelId="{998BFDC3-4151-464C-B9F7-3B7D24E1523B}" type="parTrans" cxnId="{FFEFC9C5-FE69-4D64-A7C9-A6DA6177106A}">
      <dgm:prSet/>
      <dgm:spPr/>
      <dgm:t>
        <a:bodyPr/>
        <a:lstStyle/>
        <a:p>
          <a:endParaRPr lang="fr-FR"/>
        </a:p>
      </dgm:t>
    </dgm:pt>
    <dgm:pt modelId="{809A1A5F-69C1-42C5-93F7-FD2672911E86}" type="sibTrans" cxnId="{FFEFC9C5-FE69-4D64-A7C9-A6DA6177106A}">
      <dgm:prSet/>
      <dgm:spPr/>
      <dgm:t>
        <a:bodyPr/>
        <a:lstStyle/>
        <a:p>
          <a:endParaRPr lang="fr-FR"/>
        </a:p>
      </dgm:t>
    </dgm:pt>
    <dgm:pt modelId="{74B7271C-E454-4A2B-92AC-7E3AED8826C1}">
      <dgm:prSet phldrT="[Text]" custT="1"/>
      <dgm:spPr/>
      <dgm:t>
        <a:bodyPr/>
        <a:lstStyle/>
        <a:p>
          <a:r>
            <a:rPr lang="fr-FR" sz="1200" dirty="0" smtClean="0"/>
            <a:t>Pas </a:t>
          </a:r>
          <a:r>
            <a:rPr lang="fr-FR" sz="1200" dirty="0" smtClean="0"/>
            <a:t>d’influence </a:t>
          </a:r>
          <a:r>
            <a:rPr lang="fr-FR" sz="1200" dirty="0" smtClean="0"/>
            <a:t>du Genre mais influence claire de l’Age</a:t>
          </a:r>
          <a:endParaRPr lang="fr-FR" sz="1200" dirty="0"/>
        </a:p>
      </dgm:t>
    </dgm:pt>
    <dgm:pt modelId="{A4463506-4B6F-482E-A61E-4DDACF792CB1}" type="parTrans" cxnId="{8F22DD77-10BF-4AC4-8A35-DC115003B0A7}">
      <dgm:prSet/>
      <dgm:spPr/>
      <dgm:t>
        <a:bodyPr/>
        <a:lstStyle/>
        <a:p>
          <a:endParaRPr lang="fr-FR"/>
        </a:p>
      </dgm:t>
    </dgm:pt>
    <dgm:pt modelId="{5EFE9CD4-3A49-4C4F-8EFC-B0684222EAEC}" type="sibTrans" cxnId="{8F22DD77-10BF-4AC4-8A35-DC115003B0A7}">
      <dgm:prSet/>
      <dgm:spPr/>
      <dgm:t>
        <a:bodyPr/>
        <a:lstStyle/>
        <a:p>
          <a:endParaRPr lang="fr-FR"/>
        </a:p>
      </dgm:t>
    </dgm:pt>
    <dgm:pt modelId="{3268F733-1C5A-4D1C-8A85-077F2153E511}">
      <dgm:prSet phldrT="[Text]" custT="1"/>
      <dgm:spPr/>
      <dgm:t>
        <a:bodyPr/>
        <a:lstStyle/>
        <a:p>
          <a:r>
            <a:rPr lang="fr-FR" sz="1400" dirty="0" smtClean="0"/>
            <a:t>Comportement client</a:t>
          </a:r>
          <a:endParaRPr lang="fr-FR" sz="1400" dirty="0"/>
        </a:p>
      </dgm:t>
    </dgm:pt>
    <dgm:pt modelId="{16C904F6-F108-4FD6-B988-0E6986063B1B}" type="parTrans" cxnId="{FFC69870-39D2-49D3-B3ED-70826C283D0F}">
      <dgm:prSet/>
      <dgm:spPr/>
      <dgm:t>
        <a:bodyPr/>
        <a:lstStyle/>
        <a:p>
          <a:endParaRPr lang="fr-FR"/>
        </a:p>
      </dgm:t>
    </dgm:pt>
    <dgm:pt modelId="{8A30943E-4FE8-482D-8013-D529CEDAA362}" type="sibTrans" cxnId="{FFC69870-39D2-49D3-B3ED-70826C283D0F}">
      <dgm:prSet/>
      <dgm:spPr/>
      <dgm:t>
        <a:bodyPr/>
        <a:lstStyle/>
        <a:p>
          <a:endParaRPr lang="fr-FR"/>
        </a:p>
      </dgm:t>
    </dgm:pt>
    <dgm:pt modelId="{19974EE1-80C6-4328-870C-92F4C3CA7338}">
      <dgm:prSet phldrT="[Text]" custT="1"/>
      <dgm:spPr/>
      <dgm:t>
        <a:bodyPr/>
        <a:lstStyle/>
        <a:p>
          <a:r>
            <a:rPr lang="fr-FR" sz="1200" dirty="0" smtClean="0"/>
            <a:t>21 clients à convertir</a:t>
          </a:r>
          <a:endParaRPr lang="fr-FR" sz="1200" dirty="0"/>
        </a:p>
      </dgm:t>
    </dgm:pt>
    <dgm:pt modelId="{DE8B7C39-25DE-4562-8A65-293F3E75173B}" type="parTrans" cxnId="{E563BD9D-D7D2-44BC-A05D-69A40042C855}">
      <dgm:prSet/>
      <dgm:spPr/>
      <dgm:t>
        <a:bodyPr/>
        <a:lstStyle/>
        <a:p>
          <a:endParaRPr lang="fr-FR"/>
        </a:p>
      </dgm:t>
    </dgm:pt>
    <dgm:pt modelId="{F46AC200-7C09-4C2E-847D-59DA64D1B549}" type="sibTrans" cxnId="{E563BD9D-D7D2-44BC-A05D-69A40042C855}">
      <dgm:prSet/>
      <dgm:spPr/>
      <dgm:t>
        <a:bodyPr/>
        <a:lstStyle/>
        <a:p>
          <a:endParaRPr lang="fr-FR"/>
        </a:p>
      </dgm:t>
    </dgm:pt>
    <dgm:pt modelId="{79561438-CECC-4297-BDB3-4EB86708C077}" type="pres">
      <dgm:prSet presAssocID="{B8BA69F2-D0A7-4183-A12E-4842453A89A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8DA9B22-9E24-47AC-A032-461BAA852FEF}" type="pres">
      <dgm:prSet presAssocID="{70CBFC5A-B623-4DF0-A0A9-9FD8F0A45B91}" presName="composite" presStyleCnt="0"/>
      <dgm:spPr/>
    </dgm:pt>
    <dgm:pt modelId="{24AB9605-97BA-4902-95C8-AA869524565A}" type="pres">
      <dgm:prSet presAssocID="{70CBFC5A-B623-4DF0-A0A9-9FD8F0A45B91}" presName="parTx" presStyleLbl="alignNode1" presStyleIdx="0" presStyleCnt="4" custScaleX="110223" custScaleY="87500" custLinFactNeighborY="-3707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5E9433B-0174-4B59-AC4E-2397AA0F41AE}" type="pres">
      <dgm:prSet presAssocID="{70CBFC5A-B623-4DF0-A0A9-9FD8F0A45B91}" presName="desTx" presStyleLbl="alignAccFollowNode1" presStyleIdx="0" presStyleCnt="4" custScaleX="110223" custScaleY="94566" custLinFactNeighborY="-1876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F81415A-038F-434A-BCB1-76B51C10AE2E}" type="pres">
      <dgm:prSet presAssocID="{8CE8EFC2-4720-4D5E-AA77-D68352B244F1}" presName="space" presStyleCnt="0"/>
      <dgm:spPr/>
    </dgm:pt>
    <dgm:pt modelId="{99F74D9C-0F45-4A38-8AE7-B4819682661E}" type="pres">
      <dgm:prSet presAssocID="{3DCCD2AC-2268-439A-8106-8C4D64DB36EF}" presName="composite" presStyleCnt="0"/>
      <dgm:spPr/>
    </dgm:pt>
    <dgm:pt modelId="{9451DFCB-3F2A-4E0F-92E0-3DF5C2827BBB}" type="pres">
      <dgm:prSet presAssocID="{3DCCD2AC-2268-439A-8106-8C4D64DB36EF}" presName="parTx" presStyleLbl="alignNode1" presStyleIdx="1" presStyleCnt="4" custScaleX="112573" custScaleY="87500" custLinFactNeighborY="-364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49A49E4-438D-4015-971B-51B32A64BC9B}" type="pres">
      <dgm:prSet presAssocID="{3DCCD2AC-2268-439A-8106-8C4D64DB36EF}" presName="desTx" presStyleLbl="alignAccFollowNode1" presStyleIdx="1" presStyleCnt="4" custScaleX="112573" custScaleY="94429" custLinFactNeighborY="-1799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9698166-C81B-4B4C-95A9-06D8B1982893}" type="pres">
      <dgm:prSet presAssocID="{88C70A43-C7CE-4BCE-A2F8-9B88F44263DE}" presName="space" presStyleCnt="0"/>
      <dgm:spPr/>
    </dgm:pt>
    <dgm:pt modelId="{10423942-CF95-44A4-A84B-9790BDA108FD}" type="pres">
      <dgm:prSet presAssocID="{E0A400B2-ABE4-4E3D-920B-B64F882F6BCE}" presName="composite" presStyleCnt="0"/>
      <dgm:spPr/>
    </dgm:pt>
    <dgm:pt modelId="{AA9488DA-D156-4381-A2F1-975ACD92F475}" type="pres">
      <dgm:prSet presAssocID="{E0A400B2-ABE4-4E3D-920B-B64F882F6BCE}" presName="parTx" presStyleLbl="alignNode1" presStyleIdx="2" presStyleCnt="4" custScaleX="108889" custScaleY="87500" custLinFactNeighborY="-364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9A12F7F-B291-4957-B801-74CA4F2B94C7}" type="pres">
      <dgm:prSet presAssocID="{E0A400B2-ABE4-4E3D-920B-B64F882F6BCE}" presName="desTx" presStyleLbl="alignAccFollowNode1" presStyleIdx="2" presStyleCnt="4" custScaleX="108971" custScaleY="94429" custLinFactNeighborY="-1799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6903B76-66E6-4423-AF5F-58BB9280DEA4}" type="pres">
      <dgm:prSet presAssocID="{D2FB06AE-51AA-46E1-9981-FCFDD178664F}" presName="space" presStyleCnt="0"/>
      <dgm:spPr/>
    </dgm:pt>
    <dgm:pt modelId="{9DAB310A-59DE-496C-A7BC-E2C6E7E00CDC}" type="pres">
      <dgm:prSet presAssocID="{3268F733-1C5A-4D1C-8A85-077F2153E511}" presName="composite" presStyleCnt="0"/>
      <dgm:spPr/>
    </dgm:pt>
    <dgm:pt modelId="{CBA308C0-ED1B-4F2C-97A4-272D13AD8B35}" type="pres">
      <dgm:prSet presAssocID="{3268F733-1C5A-4D1C-8A85-077F2153E511}" presName="parTx" presStyleLbl="alignNode1" presStyleIdx="3" presStyleCnt="4" custScaleX="103334" custScaleY="87500" custLinFactNeighborY="-364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655018-21F6-4F18-B4C8-0DED1D4DE50B}" type="pres">
      <dgm:prSet presAssocID="{3268F733-1C5A-4D1C-8A85-077F2153E511}" presName="desTx" presStyleLbl="alignAccFollowNode1" presStyleIdx="3" presStyleCnt="4" custScaleX="103246" custScaleY="94429" custLinFactNeighborY="-1799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75034AB-7B4E-4817-B4C3-AC1341774F45}" type="presOf" srcId="{E0A400B2-ABE4-4E3D-920B-B64F882F6BCE}" destId="{AA9488DA-D156-4381-A2F1-975ACD92F475}" srcOrd="0" destOrd="0" presId="urn:microsoft.com/office/officeart/2005/8/layout/hList1"/>
    <dgm:cxn modelId="{FFEFC9C5-FE69-4D64-A7C9-A6DA6177106A}" srcId="{E0A400B2-ABE4-4E3D-920B-B64F882F6BCE}" destId="{DF732274-4C39-4DB0-BD02-D1FABD464B7E}" srcOrd="0" destOrd="0" parTransId="{998BFDC3-4151-464C-B9F7-3B7D24E1523B}" sibTransId="{809A1A5F-69C1-42C5-93F7-FD2672911E86}"/>
    <dgm:cxn modelId="{D3A476ED-CF0D-48E9-A446-30840420E884}" type="presOf" srcId="{F9445B03-88A5-4EE8-811D-3EBADE249F0D}" destId="{05E9433B-0174-4B59-AC4E-2397AA0F41AE}" srcOrd="0" destOrd="0" presId="urn:microsoft.com/office/officeart/2005/8/layout/hList1"/>
    <dgm:cxn modelId="{8F22DD77-10BF-4AC4-8A35-DC115003B0A7}" srcId="{3268F733-1C5A-4D1C-8A85-077F2153E511}" destId="{74B7271C-E454-4A2B-92AC-7E3AED8826C1}" srcOrd="0" destOrd="0" parTransId="{A4463506-4B6F-482E-A61E-4DDACF792CB1}" sibTransId="{5EFE9CD4-3A49-4C4F-8EFC-B0684222EAEC}"/>
    <dgm:cxn modelId="{E8F7B072-728F-4186-B43C-1ABA6114AA33}" type="presOf" srcId="{B8BA69F2-D0A7-4183-A12E-4842453A89AE}" destId="{79561438-CECC-4297-BDB3-4EB86708C077}" srcOrd="0" destOrd="0" presId="urn:microsoft.com/office/officeart/2005/8/layout/hList1"/>
    <dgm:cxn modelId="{896471F9-AC9D-4E0F-AAB0-141C8C161252}" type="presOf" srcId="{0A2D3244-D70A-4479-8B7F-A0C77F022E57}" destId="{A49A49E4-438D-4015-971B-51B32A64BC9B}" srcOrd="0" destOrd="0" presId="urn:microsoft.com/office/officeart/2005/8/layout/hList1"/>
    <dgm:cxn modelId="{40B3E50E-ADE2-4568-B507-1474C520D087}" type="presOf" srcId="{3DCCD2AC-2268-439A-8106-8C4D64DB36EF}" destId="{9451DFCB-3F2A-4E0F-92E0-3DF5C2827BBB}" srcOrd="0" destOrd="0" presId="urn:microsoft.com/office/officeart/2005/8/layout/hList1"/>
    <dgm:cxn modelId="{739CCB76-57C2-4A9C-B66C-B5D4FBB8939F}" srcId="{B8BA69F2-D0A7-4183-A12E-4842453A89AE}" destId="{E0A400B2-ABE4-4E3D-920B-B64F882F6BCE}" srcOrd="2" destOrd="0" parTransId="{0C93A9CD-28C5-45C9-876A-F27F349FF5C7}" sibTransId="{D2FB06AE-51AA-46E1-9981-FCFDD178664F}"/>
    <dgm:cxn modelId="{E563BD9D-D7D2-44BC-A05D-69A40042C855}" srcId="{E0A400B2-ABE4-4E3D-920B-B64F882F6BCE}" destId="{19974EE1-80C6-4328-870C-92F4C3CA7338}" srcOrd="1" destOrd="0" parTransId="{DE8B7C39-25DE-4562-8A65-293F3E75173B}" sibTransId="{F46AC200-7C09-4C2E-847D-59DA64D1B549}"/>
    <dgm:cxn modelId="{6F56048E-1A41-4BF1-8975-6F4A6D33B76C}" type="presOf" srcId="{DF732274-4C39-4DB0-BD02-D1FABD464B7E}" destId="{B9A12F7F-B291-4957-B801-74CA4F2B94C7}" srcOrd="0" destOrd="0" presId="urn:microsoft.com/office/officeart/2005/8/layout/hList1"/>
    <dgm:cxn modelId="{FFC69870-39D2-49D3-B3ED-70826C283D0F}" srcId="{B8BA69F2-D0A7-4183-A12E-4842453A89AE}" destId="{3268F733-1C5A-4D1C-8A85-077F2153E511}" srcOrd="3" destOrd="0" parTransId="{16C904F6-F108-4FD6-B988-0E6986063B1B}" sibTransId="{8A30943E-4FE8-482D-8013-D529CEDAA362}"/>
    <dgm:cxn modelId="{FA80ACDC-0708-4299-AD24-5C2AB0D56A37}" type="presOf" srcId="{19974EE1-80C6-4328-870C-92F4C3CA7338}" destId="{B9A12F7F-B291-4957-B801-74CA4F2B94C7}" srcOrd="0" destOrd="1" presId="urn:microsoft.com/office/officeart/2005/8/layout/hList1"/>
    <dgm:cxn modelId="{26D399B3-2562-41E2-9493-6E3FE10F73BF}" srcId="{B8BA69F2-D0A7-4183-A12E-4842453A89AE}" destId="{70CBFC5A-B623-4DF0-A0A9-9FD8F0A45B91}" srcOrd="0" destOrd="0" parTransId="{3F21B759-361C-4DD6-BB86-CAF03922666C}" sibTransId="{8CE8EFC2-4720-4D5E-AA77-D68352B244F1}"/>
    <dgm:cxn modelId="{9883C179-D274-47E3-89B4-13B5CA3D13AF}" srcId="{70CBFC5A-B623-4DF0-A0A9-9FD8F0A45B91}" destId="{F9445B03-88A5-4EE8-811D-3EBADE249F0D}" srcOrd="0" destOrd="0" parTransId="{FDA2EFC3-53AE-4191-8B11-9E963C1F6A0A}" sibTransId="{008AA0B4-3C66-427E-BBB7-91A017B9F467}"/>
    <dgm:cxn modelId="{79AD8897-329B-44BA-86E9-646AD9DD4FB8}" srcId="{B8BA69F2-D0A7-4183-A12E-4842453A89AE}" destId="{3DCCD2AC-2268-439A-8106-8C4D64DB36EF}" srcOrd="1" destOrd="0" parTransId="{3D9CBE46-04B9-41FB-BCEF-E5C7EECF1158}" sibTransId="{88C70A43-C7CE-4BCE-A2F8-9B88F44263DE}"/>
    <dgm:cxn modelId="{3E07994D-D728-41D8-875F-60493B830737}" type="presOf" srcId="{70CBFC5A-B623-4DF0-A0A9-9FD8F0A45B91}" destId="{24AB9605-97BA-4902-95C8-AA869524565A}" srcOrd="0" destOrd="0" presId="urn:microsoft.com/office/officeart/2005/8/layout/hList1"/>
    <dgm:cxn modelId="{0BB618D8-8167-400A-B746-ED81762173E2}" type="presOf" srcId="{74B7271C-E454-4A2B-92AC-7E3AED8826C1}" destId="{25655018-21F6-4F18-B4C8-0DED1D4DE50B}" srcOrd="0" destOrd="0" presId="urn:microsoft.com/office/officeart/2005/8/layout/hList1"/>
    <dgm:cxn modelId="{6CE73784-A244-4062-9DF6-5FB9F67EFDED}" srcId="{3DCCD2AC-2268-439A-8106-8C4D64DB36EF}" destId="{0A2D3244-D70A-4479-8B7F-A0C77F022E57}" srcOrd="0" destOrd="0" parTransId="{8236435B-D2BE-427D-A9EB-83D076352CB5}" sibTransId="{FFBCF44F-66B0-4742-B585-07017559F122}"/>
    <dgm:cxn modelId="{CF351311-E9B0-4CCD-834D-3D4E3E768B49}" type="presOf" srcId="{3268F733-1C5A-4D1C-8A85-077F2153E511}" destId="{CBA308C0-ED1B-4F2C-97A4-272D13AD8B35}" srcOrd="0" destOrd="0" presId="urn:microsoft.com/office/officeart/2005/8/layout/hList1"/>
    <dgm:cxn modelId="{2BA59D0C-1240-40A9-8376-5BC8D0C05DAC}" type="presParOf" srcId="{79561438-CECC-4297-BDB3-4EB86708C077}" destId="{D8DA9B22-9E24-47AC-A032-461BAA852FEF}" srcOrd="0" destOrd="0" presId="urn:microsoft.com/office/officeart/2005/8/layout/hList1"/>
    <dgm:cxn modelId="{EFDF3CFA-28F3-4059-85E7-8BF0DD7D7630}" type="presParOf" srcId="{D8DA9B22-9E24-47AC-A032-461BAA852FEF}" destId="{24AB9605-97BA-4902-95C8-AA869524565A}" srcOrd="0" destOrd="0" presId="urn:microsoft.com/office/officeart/2005/8/layout/hList1"/>
    <dgm:cxn modelId="{52AC5238-1A69-40D4-BE4D-E9C4574172E1}" type="presParOf" srcId="{D8DA9B22-9E24-47AC-A032-461BAA852FEF}" destId="{05E9433B-0174-4B59-AC4E-2397AA0F41AE}" srcOrd="1" destOrd="0" presId="urn:microsoft.com/office/officeart/2005/8/layout/hList1"/>
    <dgm:cxn modelId="{A262136F-6C0D-4010-A48F-88DA5CFABD4D}" type="presParOf" srcId="{79561438-CECC-4297-BDB3-4EB86708C077}" destId="{CF81415A-038F-434A-BCB1-76B51C10AE2E}" srcOrd="1" destOrd="0" presId="urn:microsoft.com/office/officeart/2005/8/layout/hList1"/>
    <dgm:cxn modelId="{DC1FA0EA-BFE7-431B-AC58-43C3B1221AD1}" type="presParOf" srcId="{79561438-CECC-4297-BDB3-4EB86708C077}" destId="{99F74D9C-0F45-4A38-8AE7-B4819682661E}" srcOrd="2" destOrd="0" presId="urn:microsoft.com/office/officeart/2005/8/layout/hList1"/>
    <dgm:cxn modelId="{A751539B-F333-43B7-9583-4424886B5BE4}" type="presParOf" srcId="{99F74D9C-0F45-4A38-8AE7-B4819682661E}" destId="{9451DFCB-3F2A-4E0F-92E0-3DF5C2827BBB}" srcOrd="0" destOrd="0" presId="urn:microsoft.com/office/officeart/2005/8/layout/hList1"/>
    <dgm:cxn modelId="{9E496922-97DB-469B-896D-36794D6A600F}" type="presParOf" srcId="{99F74D9C-0F45-4A38-8AE7-B4819682661E}" destId="{A49A49E4-438D-4015-971B-51B32A64BC9B}" srcOrd="1" destOrd="0" presId="urn:microsoft.com/office/officeart/2005/8/layout/hList1"/>
    <dgm:cxn modelId="{02F3BB2E-4947-451B-B42E-904244C2A706}" type="presParOf" srcId="{79561438-CECC-4297-BDB3-4EB86708C077}" destId="{99698166-C81B-4B4C-95A9-06D8B1982893}" srcOrd="3" destOrd="0" presId="urn:microsoft.com/office/officeart/2005/8/layout/hList1"/>
    <dgm:cxn modelId="{73F79124-4C87-460F-A0E8-0790565AFB84}" type="presParOf" srcId="{79561438-CECC-4297-BDB3-4EB86708C077}" destId="{10423942-CF95-44A4-A84B-9790BDA108FD}" srcOrd="4" destOrd="0" presId="urn:microsoft.com/office/officeart/2005/8/layout/hList1"/>
    <dgm:cxn modelId="{115021D4-ECC2-4A12-BE10-332C36214FDB}" type="presParOf" srcId="{10423942-CF95-44A4-A84B-9790BDA108FD}" destId="{AA9488DA-D156-4381-A2F1-975ACD92F475}" srcOrd="0" destOrd="0" presId="urn:microsoft.com/office/officeart/2005/8/layout/hList1"/>
    <dgm:cxn modelId="{C40372C6-1DDB-444F-82FE-4AB3C9697E18}" type="presParOf" srcId="{10423942-CF95-44A4-A84B-9790BDA108FD}" destId="{B9A12F7F-B291-4957-B801-74CA4F2B94C7}" srcOrd="1" destOrd="0" presId="urn:microsoft.com/office/officeart/2005/8/layout/hList1"/>
    <dgm:cxn modelId="{914DCB3B-B707-405F-8989-8B1B3F6F5A22}" type="presParOf" srcId="{79561438-CECC-4297-BDB3-4EB86708C077}" destId="{76903B76-66E6-4423-AF5F-58BB9280DEA4}" srcOrd="5" destOrd="0" presId="urn:microsoft.com/office/officeart/2005/8/layout/hList1"/>
    <dgm:cxn modelId="{457028B7-3D12-4F35-908C-88748DBB17D0}" type="presParOf" srcId="{79561438-CECC-4297-BDB3-4EB86708C077}" destId="{9DAB310A-59DE-496C-A7BC-E2C6E7E00CDC}" srcOrd="6" destOrd="0" presId="urn:microsoft.com/office/officeart/2005/8/layout/hList1"/>
    <dgm:cxn modelId="{2CDD8C5C-B201-4182-A865-7B020BA15B35}" type="presParOf" srcId="{9DAB310A-59DE-496C-A7BC-E2C6E7E00CDC}" destId="{CBA308C0-ED1B-4F2C-97A4-272D13AD8B35}" srcOrd="0" destOrd="0" presId="urn:microsoft.com/office/officeart/2005/8/layout/hList1"/>
    <dgm:cxn modelId="{91B6D902-7889-4277-BF44-2466788EF0E1}" type="presParOf" srcId="{9DAB310A-59DE-496C-A7BC-E2C6E7E00CDC}" destId="{25655018-21F6-4F18-B4C8-0DED1D4DE5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472619-B4CF-4F5F-B5CD-2C460212461B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</dgm:pt>
    <dgm:pt modelId="{84C9240C-5549-4CA5-95CF-53BE47CDAF1B}">
      <dgm:prSet phldrT="[Text]" custT="1"/>
      <dgm:spPr/>
      <dgm:t>
        <a:bodyPr anchor="t"/>
        <a:lstStyle/>
        <a:p>
          <a:pPr algn="l">
            <a:spcAft>
              <a:spcPts val="0"/>
            </a:spcAft>
          </a:pPr>
          <a:endParaRPr lang="fr-FR" sz="800" u="sng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l">
            <a:spcAft>
              <a:spcPts val="600"/>
            </a:spcAft>
          </a:pPr>
          <a:r>
            <a:rPr lang="fr-FR" sz="16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Extraction données :</a:t>
          </a:r>
        </a:p>
        <a:p>
          <a:pPr algn="l">
            <a:spcAft>
              <a:spcPts val="0"/>
            </a:spcAft>
          </a:pPr>
          <a:r>
            <a:rPr lang="fr-FR" sz="1400" u="none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site web </a:t>
          </a:r>
          <a:r>
            <a:rPr lang="fr-FR" sz="1200" i="1" u="none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(transactions)</a:t>
          </a:r>
        </a:p>
        <a:p>
          <a:pPr algn="l">
            <a:spcAft>
              <a:spcPts val="0"/>
            </a:spcAft>
          </a:pPr>
          <a:r>
            <a:rPr lang="fr-FR" sz="1400" u="none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BDD</a:t>
          </a:r>
          <a:r>
            <a:rPr lang="fr-FR" sz="1200" i="1" u="none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400" u="none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clients</a:t>
          </a:r>
        </a:p>
        <a:p>
          <a:pPr algn="l">
            <a:spcAft>
              <a:spcPts val="0"/>
            </a:spcAft>
          </a:pPr>
          <a:r>
            <a:rPr lang="fr-FR" sz="1400" u="none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BDD références</a:t>
          </a:r>
        </a:p>
        <a:p>
          <a:pPr algn="l">
            <a:spcAft>
              <a:spcPts val="0"/>
            </a:spcAft>
          </a:pPr>
          <a:endParaRPr lang="fr-FR" sz="1400" i="0" u="none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ctr">
            <a:spcAft>
              <a:spcPts val="0"/>
            </a:spcAft>
          </a:pPr>
          <a:r>
            <a:rPr lang="fr-FR" sz="1600" i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</a:t>
          </a:r>
        </a:p>
        <a:p>
          <a:pPr algn="ctr">
            <a:spcAft>
              <a:spcPts val="0"/>
            </a:spcAft>
          </a:pPr>
          <a:endParaRPr lang="fr-FR" sz="1600" i="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l">
            <a:spcAft>
              <a:spcPts val="600"/>
            </a:spcAft>
          </a:pPr>
          <a:r>
            <a:rPr lang="fr-FR" sz="1600" i="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Importation fichiers CSV</a:t>
          </a:r>
          <a:r>
            <a:rPr lang="fr-FR" sz="1200" i="1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600" i="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dans Notebook</a:t>
          </a:r>
        </a:p>
      </dgm:t>
    </dgm:pt>
    <dgm:pt modelId="{2ACC7429-C73F-46B4-8EDF-81254A19FBE3}" type="parTrans" cxnId="{988AEDFE-A003-4CE1-83A3-EACB64A6ECC5}">
      <dgm:prSet/>
      <dgm:spPr/>
      <dgm:t>
        <a:bodyPr/>
        <a:lstStyle/>
        <a:p>
          <a:pPr algn="l"/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57285FA-BBC1-4BB5-9089-D23532A96DE4}" type="sibTrans" cxnId="{988AEDFE-A003-4CE1-83A3-EACB64A6ECC5}">
      <dgm:prSet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pPr algn="l"/>
          <a:endParaRPr lang="fr-FR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877CEF0-A4D1-4D23-B308-F477353B853B}">
      <dgm:prSet phldrT="[Text]" custT="1"/>
      <dgm:spPr/>
      <dgm:t>
        <a:bodyPr/>
        <a:lstStyle/>
        <a:p>
          <a:pPr algn="l">
            <a:spcAft>
              <a:spcPts val="600"/>
            </a:spcAft>
          </a:pPr>
          <a:r>
            <a:rPr lang="fr-FR" sz="16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Nettoyage et Préparation données :</a:t>
          </a:r>
        </a:p>
        <a:p>
          <a:pPr algn="l">
            <a:spcAft>
              <a:spcPts val="0"/>
            </a:spcAft>
          </a:pPr>
          <a:r>
            <a:rPr lang="fr-FR" sz="1400" u="none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</a:t>
          </a:r>
          <a:r>
            <a:rPr lang="fr-FR" sz="1400" b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Vérifications : </a:t>
          </a:r>
        </a:p>
        <a:p>
          <a:pPr algn="l"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nombre colonnes/lignes, types données, présence erreurs types, doublons, valeurs manquantes/aberrantes</a:t>
          </a:r>
        </a:p>
        <a:p>
          <a:pPr algn="l">
            <a:spcAft>
              <a:spcPts val="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</a:t>
          </a: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Traitement </a:t>
          </a:r>
          <a:r>
            <a:rPr lang="fr-FR" sz="1200" b="1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(si nécessaire) 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</a:t>
          </a:r>
        </a:p>
        <a:p>
          <a:pPr algn="l"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suppression colonnes inutiles/doublons, correction types données, remplacement valeurs aberrantes/ manquantes</a:t>
          </a:r>
        </a:p>
        <a:p>
          <a:pPr algn="l">
            <a:spcAft>
              <a:spcPts val="0"/>
            </a:spcAft>
          </a:pP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Création données manquantes utiles :</a:t>
          </a:r>
        </a:p>
        <a:p>
          <a:pPr algn="l"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  tranches d’âge</a:t>
          </a:r>
          <a:endParaRPr lang="fr-FR" sz="1600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21202B5-5AA8-43BE-8DCC-D5CEDF949409}" type="parTrans" cxnId="{29EC83A5-F932-4FF6-B545-1E951CE8E099}">
      <dgm:prSet/>
      <dgm:spPr/>
      <dgm:t>
        <a:bodyPr/>
        <a:lstStyle/>
        <a:p>
          <a:pPr algn="l"/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E9A1603-D8B2-4436-9034-B3F08E426A55}" type="sibTrans" cxnId="{29EC83A5-F932-4FF6-B545-1E951CE8E099}">
      <dgm:prSet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pPr algn="l"/>
          <a:endParaRPr lang="fr-FR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CE20F62-19EB-4288-9525-DE28644AAC6A}">
      <dgm:prSet phldrT="[Text]" custT="1"/>
      <dgm:spPr/>
      <dgm:t>
        <a:bodyPr anchor="t"/>
        <a:lstStyle/>
        <a:p>
          <a:pPr algn="l">
            <a:spcAft>
              <a:spcPts val="0"/>
            </a:spcAft>
          </a:pPr>
          <a:endParaRPr lang="fr-FR" sz="800" i="0" u="sng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l">
            <a:spcAft>
              <a:spcPts val="0"/>
            </a:spcAft>
          </a:pPr>
          <a:r>
            <a:rPr lang="fr-FR" sz="1600" i="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Agrégation données :</a:t>
          </a:r>
        </a:p>
        <a:p>
          <a:pPr algn="l">
            <a:spcAft>
              <a:spcPts val="0"/>
            </a:spcAft>
          </a:pPr>
          <a:endParaRPr lang="fr-FR" sz="800" i="0" u="sng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ctr">
            <a:spcAft>
              <a:spcPts val="0"/>
            </a:spcAft>
          </a:pP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Double jointure externe</a:t>
          </a:r>
        </a:p>
        <a:p>
          <a:pPr algn="ctr">
            <a:spcAft>
              <a:spcPts val="0"/>
            </a:spcAft>
          </a:pPr>
          <a:r>
            <a:rPr lang="fr-FR" sz="12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(« client_id » + « id_prod »)</a:t>
          </a:r>
        </a:p>
        <a:p>
          <a:pPr algn="l">
            <a:spcAft>
              <a:spcPts val="0"/>
            </a:spcAft>
          </a:pPr>
          <a:endParaRPr lang="fr-FR" sz="800" i="0" u="sng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ctr">
            <a:spcAft>
              <a:spcPts val="0"/>
            </a:spcAft>
          </a:pPr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</a:t>
          </a:r>
        </a:p>
        <a:p>
          <a:pPr algn="l">
            <a:spcAft>
              <a:spcPts val="0"/>
            </a:spcAft>
          </a:pPr>
          <a:endParaRPr lang="fr-FR" sz="8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l">
            <a:spcAft>
              <a:spcPts val="0"/>
            </a:spcAft>
          </a:pPr>
          <a:r>
            <a:rPr lang="fr-FR" sz="16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Extraction nouveau fichier Excel :</a:t>
          </a:r>
        </a:p>
        <a:p>
          <a:pPr algn="l">
            <a:spcAft>
              <a:spcPts val="0"/>
            </a:spcAft>
          </a:pPr>
          <a:endParaRPr lang="fr-FR" sz="800" u="sng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l">
            <a:spcAft>
              <a:spcPts val="0"/>
            </a:spcAft>
          </a:pPr>
          <a:r>
            <a:rPr lang="fr-FR" sz="1200" i="1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xmlns:r="http://schemas.openxmlformats.org/officeDocument/2006/relationships" r:id="rId1" action="ppaction://hlinkfile"/>
            </a:rPr>
            <a:t>Etude_site_Lapage_2023.xlsx</a:t>
          </a:r>
          <a:endParaRPr lang="fr-FR" sz="1200" i="1" u="sng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l">
            <a:spcAft>
              <a:spcPts val="0"/>
            </a:spcAft>
          </a:pPr>
          <a:endParaRPr lang="fr-FR" sz="800" i="1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44E4B72-CFFF-42BA-9D41-A3990BD29ACA}" type="parTrans" cxnId="{E919F5D5-3906-4471-8938-07E6CA5380B0}">
      <dgm:prSet/>
      <dgm:spPr/>
      <dgm:t>
        <a:bodyPr/>
        <a:lstStyle/>
        <a:p>
          <a:pPr algn="l"/>
          <a:endParaRPr lang="fr-FR"/>
        </a:p>
      </dgm:t>
    </dgm:pt>
    <dgm:pt modelId="{196B90ED-DC77-41CE-A9C7-F48A6DC0BE07}" type="sibTrans" cxnId="{E919F5D5-3906-4471-8938-07E6CA5380B0}">
      <dgm:prSet/>
      <dgm:spPr/>
      <dgm:t>
        <a:bodyPr/>
        <a:lstStyle/>
        <a:p>
          <a:pPr algn="l"/>
          <a:endParaRPr lang="fr-FR"/>
        </a:p>
      </dgm:t>
    </dgm:pt>
    <dgm:pt modelId="{AA392096-63C9-4BA0-8C98-03BEB8EDC448}" type="pres">
      <dgm:prSet presAssocID="{D7472619-B4CF-4F5F-B5CD-2C460212461B}" presName="Name0" presStyleCnt="0">
        <dgm:presLayoutVars>
          <dgm:dir/>
          <dgm:resizeHandles val="exact"/>
        </dgm:presLayoutVars>
      </dgm:prSet>
      <dgm:spPr/>
    </dgm:pt>
    <dgm:pt modelId="{2F045C80-E267-4A74-86B7-5801F3C002C0}" type="pres">
      <dgm:prSet presAssocID="{84C9240C-5549-4CA5-95CF-53BE47CDAF1B}" presName="node" presStyleLbl="node1" presStyleIdx="0" presStyleCnt="3" custScaleX="96771" custScaleY="256772" custLinFactNeighborY="-781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0C5DCFF-0B64-4406-9216-210C505BA04B}" type="pres">
      <dgm:prSet presAssocID="{C57285FA-BBC1-4BB5-9089-D23532A96DE4}" presName="sibTrans" presStyleLbl="sibTrans2D1" presStyleIdx="0" presStyleCnt="2" custLinFactNeighborX="4527"/>
      <dgm:spPr/>
      <dgm:t>
        <a:bodyPr/>
        <a:lstStyle/>
        <a:p>
          <a:endParaRPr lang="fr-FR"/>
        </a:p>
      </dgm:t>
    </dgm:pt>
    <dgm:pt modelId="{799A56FF-F9D2-4D32-99B1-02628FAB5E37}" type="pres">
      <dgm:prSet presAssocID="{C57285FA-BBC1-4BB5-9089-D23532A96DE4}" presName="connectorText" presStyleLbl="sibTrans2D1" presStyleIdx="0" presStyleCnt="2"/>
      <dgm:spPr/>
      <dgm:t>
        <a:bodyPr/>
        <a:lstStyle/>
        <a:p>
          <a:endParaRPr lang="fr-FR"/>
        </a:p>
      </dgm:t>
    </dgm:pt>
    <dgm:pt modelId="{9EB622EB-578C-4145-A911-192930FB844F}" type="pres">
      <dgm:prSet presAssocID="{A877CEF0-A4D1-4D23-B308-F477353B853B}" presName="node" presStyleLbl="node1" presStyleIdx="1" presStyleCnt="3" custScaleX="101675" custScaleY="256772" custLinFactNeighborX="-1402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F8022DC-3C8B-4B8C-9677-A7155ED0D85B}" type="pres">
      <dgm:prSet presAssocID="{2E9A1603-D8B2-4436-9034-B3F08E426A55}" presName="sibTrans" presStyleLbl="sibTrans2D1" presStyleIdx="1" presStyleCnt="2"/>
      <dgm:spPr/>
      <dgm:t>
        <a:bodyPr/>
        <a:lstStyle/>
        <a:p>
          <a:endParaRPr lang="fr-FR"/>
        </a:p>
      </dgm:t>
    </dgm:pt>
    <dgm:pt modelId="{4A5E3875-6184-48A1-9C09-2368CDF70272}" type="pres">
      <dgm:prSet presAssocID="{2E9A1603-D8B2-4436-9034-B3F08E426A55}" presName="connectorText" presStyleLbl="sibTrans2D1" presStyleIdx="1" presStyleCnt="2"/>
      <dgm:spPr/>
      <dgm:t>
        <a:bodyPr/>
        <a:lstStyle/>
        <a:p>
          <a:endParaRPr lang="fr-FR"/>
        </a:p>
      </dgm:t>
    </dgm:pt>
    <dgm:pt modelId="{5DFF3DC6-C6FD-4C9C-AD72-B577208768B0}" type="pres">
      <dgm:prSet presAssocID="{2CE20F62-19EB-4288-9525-DE28644AAC6A}" presName="node" presStyleLbl="node1" presStyleIdx="2" presStyleCnt="3" custScaleX="95088" custScaleY="256743" custLinFactNeighborX="-2277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FEB2D2F-C709-4EAC-BE10-F6F3B92280C3}" type="presOf" srcId="{2E9A1603-D8B2-4436-9034-B3F08E426A55}" destId="{2F8022DC-3C8B-4B8C-9677-A7155ED0D85B}" srcOrd="0" destOrd="0" presId="urn:microsoft.com/office/officeart/2005/8/layout/process1"/>
    <dgm:cxn modelId="{3450FABB-3891-4EDB-AABA-CBAA810DD258}" type="presOf" srcId="{2E9A1603-D8B2-4436-9034-B3F08E426A55}" destId="{4A5E3875-6184-48A1-9C09-2368CDF70272}" srcOrd="1" destOrd="0" presId="urn:microsoft.com/office/officeart/2005/8/layout/process1"/>
    <dgm:cxn modelId="{3D41B8E3-4AD9-4AE8-9A11-D57C60CD46C3}" type="presOf" srcId="{2CE20F62-19EB-4288-9525-DE28644AAC6A}" destId="{5DFF3DC6-C6FD-4C9C-AD72-B577208768B0}" srcOrd="0" destOrd="0" presId="urn:microsoft.com/office/officeart/2005/8/layout/process1"/>
    <dgm:cxn modelId="{B679F4D8-8243-403D-A585-27664409A5D3}" type="presOf" srcId="{C57285FA-BBC1-4BB5-9089-D23532A96DE4}" destId="{B0C5DCFF-0B64-4406-9216-210C505BA04B}" srcOrd="0" destOrd="0" presId="urn:microsoft.com/office/officeart/2005/8/layout/process1"/>
    <dgm:cxn modelId="{29223F11-DAFB-4928-B1AA-67A17B38EA53}" type="presOf" srcId="{84C9240C-5549-4CA5-95CF-53BE47CDAF1B}" destId="{2F045C80-E267-4A74-86B7-5801F3C002C0}" srcOrd="0" destOrd="0" presId="urn:microsoft.com/office/officeart/2005/8/layout/process1"/>
    <dgm:cxn modelId="{E919F5D5-3906-4471-8938-07E6CA5380B0}" srcId="{D7472619-B4CF-4F5F-B5CD-2C460212461B}" destId="{2CE20F62-19EB-4288-9525-DE28644AAC6A}" srcOrd="2" destOrd="0" parTransId="{C44E4B72-CFFF-42BA-9D41-A3990BD29ACA}" sibTransId="{196B90ED-DC77-41CE-A9C7-F48A6DC0BE07}"/>
    <dgm:cxn modelId="{F2EED766-0902-4657-B15B-3728D8C1BEF8}" type="presOf" srcId="{C57285FA-BBC1-4BB5-9089-D23532A96DE4}" destId="{799A56FF-F9D2-4D32-99B1-02628FAB5E37}" srcOrd="1" destOrd="0" presId="urn:microsoft.com/office/officeart/2005/8/layout/process1"/>
    <dgm:cxn modelId="{988AEDFE-A003-4CE1-83A3-EACB64A6ECC5}" srcId="{D7472619-B4CF-4F5F-B5CD-2C460212461B}" destId="{84C9240C-5549-4CA5-95CF-53BE47CDAF1B}" srcOrd="0" destOrd="0" parTransId="{2ACC7429-C73F-46B4-8EDF-81254A19FBE3}" sibTransId="{C57285FA-BBC1-4BB5-9089-D23532A96DE4}"/>
    <dgm:cxn modelId="{29EC83A5-F932-4FF6-B545-1E951CE8E099}" srcId="{D7472619-B4CF-4F5F-B5CD-2C460212461B}" destId="{A877CEF0-A4D1-4D23-B308-F477353B853B}" srcOrd="1" destOrd="0" parTransId="{E21202B5-5AA8-43BE-8DCC-D5CEDF949409}" sibTransId="{2E9A1603-D8B2-4436-9034-B3F08E426A55}"/>
    <dgm:cxn modelId="{78FFA2F1-2F42-49E4-BBD5-4DC9B184D5EB}" type="presOf" srcId="{D7472619-B4CF-4F5F-B5CD-2C460212461B}" destId="{AA392096-63C9-4BA0-8C98-03BEB8EDC448}" srcOrd="0" destOrd="0" presId="urn:microsoft.com/office/officeart/2005/8/layout/process1"/>
    <dgm:cxn modelId="{4E07B3CB-CFFD-4336-B97B-F82D3F8C1638}" type="presOf" srcId="{A877CEF0-A4D1-4D23-B308-F477353B853B}" destId="{9EB622EB-578C-4145-A911-192930FB844F}" srcOrd="0" destOrd="0" presId="urn:microsoft.com/office/officeart/2005/8/layout/process1"/>
    <dgm:cxn modelId="{1094A2AD-F4B2-43F6-98D7-12E673A55427}" type="presParOf" srcId="{AA392096-63C9-4BA0-8C98-03BEB8EDC448}" destId="{2F045C80-E267-4A74-86B7-5801F3C002C0}" srcOrd="0" destOrd="0" presId="urn:microsoft.com/office/officeart/2005/8/layout/process1"/>
    <dgm:cxn modelId="{45633B07-DB22-4EB0-B64E-D243C69052AA}" type="presParOf" srcId="{AA392096-63C9-4BA0-8C98-03BEB8EDC448}" destId="{B0C5DCFF-0B64-4406-9216-210C505BA04B}" srcOrd="1" destOrd="0" presId="urn:microsoft.com/office/officeart/2005/8/layout/process1"/>
    <dgm:cxn modelId="{75009ECB-49B1-4451-B4F3-43179075717E}" type="presParOf" srcId="{B0C5DCFF-0B64-4406-9216-210C505BA04B}" destId="{799A56FF-F9D2-4D32-99B1-02628FAB5E37}" srcOrd="0" destOrd="0" presId="urn:microsoft.com/office/officeart/2005/8/layout/process1"/>
    <dgm:cxn modelId="{7F708441-4EF2-4BB7-8173-DBDA5B918456}" type="presParOf" srcId="{AA392096-63C9-4BA0-8C98-03BEB8EDC448}" destId="{9EB622EB-578C-4145-A911-192930FB844F}" srcOrd="2" destOrd="0" presId="urn:microsoft.com/office/officeart/2005/8/layout/process1"/>
    <dgm:cxn modelId="{31FB90E0-5233-4EA9-851B-FD07AC4740A2}" type="presParOf" srcId="{AA392096-63C9-4BA0-8C98-03BEB8EDC448}" destId="{2F8022DC-3C8B-4B8C-9677-A7155ED0D85B}" srcOrd="3" destOrd="0" presId="urn:microsoft.com/office/officeart/2005/8/layout/process1"/>
    <dgm:cxn modelId="{06E4F2C6-4799-4E38-ABE6-7363F46619FD}" type="presParOf" srcId="{2F8022DC-3C8B-4B8C-9677-A7155ED0D85B}" destId="{4A5E3875-6184-48A1-9C09-2368CDF70272}" srcOrd="0" destOrd="0" presId="urn:microsoft.com/office/officeart/2005/8/layout/process1"/>
    <dgm:cxn modelId="{7794499C-BF94-4B6C-A608-2F96752C3E1C}" type="presParOf" srcId="{AA392096-63C9-4BA0-8C98-03BEB8EDC448}" destId="{5DFF3DC6-C6FD-4C9C-AD72-B577208768B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B9605-97BA-4902-95C8-AA869524565A}">
      <dsp:nvSpPr>
        <dsp:cNvPr id="0" name=""/>
        <dsp:cNvSpPr/>
      </dsp:nvSpPr>
      <dsp:spPr>
        <a:xfrm>
          <a:off x="2485" y="19258"/>
          <a:ext cx="1900795" cy="4043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Indicateurs</a:t>
          </a:r>
          <a:endParaRPr lang="fr-FR" sz="1400" kern="1200" dirty="0"/>
        </a:p>
      </dsp:txBody>
      <dsp:txXfrm>
        <a:off x="2485" y="19258"/>
        <a:ext cx="1900795" cy="404347"/>
      </dsp:txXfrm>
    </dsp:sp>
    <dsp:sp modelId="{05E9433B-0174-4B59-AC4E-2397AA0F41AE}">
      <dsp:nvSpPr>
        <dsp:cNvPr id="0" name=""/>
        <dsp:cNvSpPr/>
      </dsp:nvSpPr>
      <dsp:spPr>
        <a:xfrm>
          <a:off x="2485" y="441406"/>
          <a:ext cx="1900795" cy="734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stables et suffisants pour maintenir activité convenable</a:t>
          </a:r>
          <a:endParaRPr lang="fr-FR" sz="1200" kern="1200" dirty="0"/>
        </a:p>
      </dsp:txBody>
      <dsp:txXfrm>
        <a:off x="2485" y="441406"/>
        <a:ext cx="1900795" cy="734400"/>
      </dsp:txXfrm>
    </dsp:sp>
    <dsp:sp modelId="{9451DFCB-3F2A-4E0F-92E0-3DF5C2827BBB}">
      <dsp:nvSpPr>
        <dsp:cNvPr id="0" name=""/>
        <dsp:cNvSpPr/>
      </dsp:nvSpPr>
      <dsp:spPr>
        <a:xfrm>
          <a:off x="2144710" y="22602"/>
          <a:ext cx="1941320" cy="4043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Références</a:t>
          </a:r>
          <a:endParaRPr lang="fr-FR" sz="1400" kern="1200" dirty="0"/>
        </a:p>
      </dsp:txBody>
      <dsp:txXfrm>
        <a:off x="2144710" y="22602"/>
        <a:ext cx="1941320" cy="404347"/>
      </dsp:txXfrm>
    </dsp:sp>
    <dsp:sp modelId="{A49A49E4-438D-4015-971B-51B32A64BC9B}">
      <dsp:nvSpPr>
        <dsp:cNvPr id="0" name=""/>
        <dsp:cNvSpPr/>
      </dsp:nvSpPr>
      <dsp:spPr>
        <a:xfrm>
          <a:off x="2144710" y="448215"/>
          <a:ext cx="1941320" cy="7333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Répartition déséquilibrée </a:t>
          </a:r>
          <a:r>
            <a:rPr lang="fr-FR" sz="1200" kern="1200" dirty="0" smtClean="0"/>
            <a:t>=&gt; Cat 2 sous représentée</a:t>
          </a:r>
          <a:endParaRPr lang="fr-FR" sz="1200" kern="1200" dirty="0"/>
        </a:p>
      </dsp:txBody>
      <dsp:txXfrm>
        <a:off x="2144710" y="448215"/>
        <a:ext cx="1941320" cy="733336"/>
      </dsp:txXfrm>
    </dsp:sp>
    <dsp:sp modelId="{AA9488DA-D156-4381-A2F1-975ACD92F475}">
      <dsp:nvSpPr>
        <dsp:cNvPr id="0" name=""/>
        <dsp:cNvSpPr/>
      </dsp:nvSpPr>
      <dsp:spPr>
        <a:xfrm>
          <a:off x="4328168" y="22602"/>
          <a:ext cx="1877790" cy="4043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Profil client</a:t>
          </a:r>
          <a:endParaRPr lang="fr-FR" sz="1400" kern="1200" dirty="0"/>
        </a:p>
      </dsp:txBody>
      <dsp:txXfrm>
        <a:off x="4328168" y="22602"/>
        <a:ext cx="1877790" cy="404347"/>
      </dsp:txXfrm>
    </dsp:sp>
    <dsp:sp modelId="{B9A12F7F-B291-4957-B801-74CA4F2B94C7}">
      <dsp:nvSpPr>
        <dsp:cNvPr id="0" name=""/>
        <dsp:cNvSpPr/>
      </dsp:nvSpPr>
      <dsp:spPr>
        <a:xfrm>
          <a:off x="4327461" y="448215"/>
          <a:ext cx="1879204" cy="7333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4 clients </a:t>
          </a:r>
          <a:r>
            <a:rPr lang="fr-FR" sz="1200" kern="1200" dirty="0" err="1" smtClean="0"/>
            <a:t>BtoB</a:t>
          </a:r>
          <a:r>
            <a:rPr lang="fr-FR" sz="1200" kern="1200" dirty="0" smtClean="0"/>
            <a:t> </a:t>
          </a:r>
          <a:r>
            <a:rPr lang="fr-FR" sz="1200" kern="1200" dirty="0" smtClean="0"/>
            <a:t>importants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21 clients à convertir</a:t>
          </a:r>
          <a:endParaRPr lang="fr-FR" sz="1200" kern="1200" dirty="0"/>
        </a:p>
      </dsp:txBody>
      <dsp:txXfrm>
        <a:off x="4327461" y="448215"/>
        <a:ext cx="1879204" cy="733336"/>
      </dsp:txXfrm>
    </dsp:sp>
    <dsp:sp modelId="{CBA308C0-ED1B-4F2C-97A4-272D13AD8B35}">
      <dsp:nvSpPr>
        <dsp:cNvPr id="0" name=""/>
        <dsp:cNvSpPr/>
      </dsp:nvSpPr>
      <dsp:spPr>
        <a:xfrm>
          <a:off x="6448095" y="22602"/>
          <a:ext cx="1781994" cy="4043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Comportement client</a:t>
          </a:r>
          <a:endParaRPr lang="fr-FR" sz="1400" kern="1200" dirty="0"/>
        </a:p>
      </dsp:txBody>
      <dsp:txXfrm>
        <a:off x="6448095" y="22602"/>
        <a:ext cx="1781994" cy="404347"/>
      </dsp:txXfrm>
    </dsp:sp>
    <dsp:sp modelId="{25655018-21F6-4F18-B4C8-0DED1D4DE50B}">
      <dsp:nvSpPr>
        <dsp:cNvPr id="0" name=""/>
        <dsp:cNvSpPr/>
      </dsp:nvSpPr>
      <dsp:spPr>
        <a:xfrm>
          <a:off x="6448854" y="448215"/>
          <a:ext cx="1780476" cy="7333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Pas </a:t>
          </a:r>
          <a:r>
            <a:rPr lang="fr-FR" sz="1200" kern="1200" dirty="0" smtClean="0"/>
            <a:t>d’influence </a:t>
          </a:r>
          <a:r>
            <a:rPr lang="fr-FR" sz="1200" kern="1200" dirty="0" smtClean="0"/>
            <a:t>du Genre mais influence claire de l’Age</a:t>
          </a:r>
          <a:endParaRPr lang="fr-FR" sz="1200" kern="1200" dirty="0"/>
        </a:p>
      </dsp:txBody>
      <dsp:txXfrm>
        <a:off x="6448854" y="448215"/>
        <a:ext cx="1780476" cy="7333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45C80-E267-4A74-86B7-5801F3C002C0}">
      <dsp:nvSpPr>
        <dsp:cNvPr id="0" name=""/>
        <dsp:cNvSpPr/>
      </dsp:nvSpPr>
      <dsp:spPr>
        <a:xfrm>
          <a:off x="5917" y="0"/>
          <a:ext cx="2067641" cy="33843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800" u="sng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fr-FR" sz="16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Extraction données :</a:t>
          </a: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u="none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site web </a:t>
          </a:r>
          <a:r>
            <a:rPr lang="fr-FR" sz="1200" i="1" u="none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(transactions)</a:t>
          </a: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u="none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BDD</a:t>
          </a:r>
          <a:r>
            <a:rPr lang="fr-FR" sz="1200" i="1" u="none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400" u="none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clients</a:t>
          </a: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u="none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BDD références</a:t>
          </a: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1400" i="0" u="none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i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1600" i="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fr-FR" sz="1600" i="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Importation fichiers CSV</a:t>
          </a:r>
          <a:r>
            <a:rPr lang="fr-FR" sz="1200" i="1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600" i="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dans Notebook</a:t>
          </a:r>
        </a:p>
      </dsp:txBody>
      <dsp:txXfrm>
        <a:off x="66476" y="60559"/>
        <a:ext cx="1946523" cy="3263258"/>
      </dsp:txXfrm>
    </dsp:sp>
    <dsp:sp modelId="{B0C5DCFF-0B64-4406-9216-210C505BA04B}">
      <dsp:nvSpPr>
        <dsp:cNvPr id="0" name=""/>
        <dsp:cNvSpPr/>
      </dsp:nvSpPr>
      <dsp:spPr>
        <a:xfrm>
          <a:off x="2274876" y="1427245"/>
          <a:ext cx="389419" cy="529885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solidFill>
            <a:schemeClr val="tx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274876" y="1533222"/>
        <a:ext cx="272593" cy="317931"/>
      </dsp:txXfrm>
    </dsp:sp>
    <dsp:sp modelId="{9EB622EB-578C-4145-A911-192930FB844F}">
      <dsp:nvSpPr>
        <dsp:cNvPr id="0" name=""/>
        <dsp:cNvSpPr/>
      </dsp:nvSpPr>
      <dsp:spPr>
        <a:xfrm>
          <a:off x="2808313" y="0"/>
          <a:ext cx="2172421" cy="33843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fr-FR" sz="16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Nettoyage et Préparation données :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u="none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</a:t>
          </a:r>
          <a:r>
            <a:rPr lang="fr-FR" sz="1400" b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Vérifications :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nombre colonnes/lignes, types données, présence erreurs types, doublons, valeurs manquantes/aberrantes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</a:t>
          </a: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Traitement </a:t>
          </a:r>
          <a:r>
            <a:rPr lang="fr-FR" sz="1200" b="1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(si nécessaire) 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suppression colonnes inutiles/doublons, correction types données, remplacement valeurs aberrantes/ manquantes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Création données manquantes utiles :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  tranches d’âge</a:t>
          </a:r>
          <a:endParaRPr lang="fr-FR" sz="16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871941" y="63628"/>
        <a:ext cx="2045165" cy="3257120"/>
      </dsp:txXfrm>
    </dsp:sp>
    <dsp:sp modelId="{2F8022DC-3C8B-4B8C-9677-A7155ED0D85B}">
      <dsp:nvSpPr>
        <dsp:cNvPr id="0" name=""/>
        <dsp:cNvSpPr/>
      </dsp:nvSpPr>
      <dsp:spPr>
        <a:xfrm>
          <a:off x="5175711" y="1427245"/>
          <a:ext cx="413349" cy="529885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solidFill>
            <a:schemeClr val="tx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175711" y="1533222"/>
        <a:ext cx="289344" cy="317931"/>
      </dsp:txXfrm>
    </dsp:sp>
    <dsp:sp modelId="{5DFF3DC6-C6FD-4C9C-AD72-B577208768B0}">
      <dsp:nvSpPr>
        <dsp:cNvPr id="0" name=""/>
        <dsp:cNvSpPr/>
      </dsp:nvSpPr>
      <dsp:spPr>
        <a:xfrm>
          <a:off x="5760640" y="191"/>
          <a:ext cx="2031681" cy="33839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800" i="0" u="sng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i="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Agrégation données :</a:t>
          </a: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800" i="0" u="sng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Double jointure externe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2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(« client_id » + « id_prod »)</a:t>
          </a: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800" i="0" u="sng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</a:t>
          </a: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80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Extraction nouveau fichier Excel :</a:t>
          </a: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800" u="sng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200" i="1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xmlns:r="http://schemas.openxmlformats.org/officeDocument/2006/relationships" r:id="rId1" action="ppaction://hlinkfile"/>
            </a:rPr>
            <a:t>Etude_site_Lapage_2023.xlsx</a:t>
          </a:r>
          <a:endParaRPr lang="fr-FR" sz="1200" i="1" u="sng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3556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endParaRPr lang="fr-FR" sz="800" i="1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820146" y="59697"/>
        <a:ext cx="1912669" cy="3264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5"/>
            <a:ext cx="2945659" cy="496331"/>
          </a:xfrm>
          <a:prstGeom prst="rect">
            <a:avLst/>
          </a:prstGeom>
        </p:spPr>
        <p:txBody>
          <a:bodyPr vert="horz" lIns="95548" tIns="47774" rIns="95548" bIns="47774" rtlCol="0"/>
          <a:lstStyle>
            <a:lvl1pPr algn="l">
              <a:defRPr sz="1300"/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6" y="5"/>
            <a:ext cx="2945659" cy="496331"/>
          </a:xfrm>
          <a:prstGeom prst="rect">
            <a:avLst/>
          </a:prstGeom>
        </p:spPr>
        <p:txBody>
          <a:bodyPr vert="horz" lIns="95548" tIns="47774" rIns="95548" bIns="47774" rtlCol="0"/>
          <a:lstStyle>
            <a:lvl1pPr algn="r">
              <a:defRPr sz="1300"/>
            </a:lvl1pPr>
          </a:lstStyle>
          <a:p>
            <a:fld id="{30D0BC61-2397-4E4C-B336-29E6A4E38BD6}" type="datetimeFigureOut">
              <a:rPr lang="fr-FR" smtClean="0"/>
              <a:t>09/02/2026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28585"/>
            <a:ext cx="2945659" cy="496331"/>
          </a:xfrm>
          <a:prstGeom prst="rect">
            <a:avLst/>
          </a:prstGeom>
        </p:spPr>
        <p:txBody>
          <a:bodyPr vert="horz" lIns="95548" tIns="47774" rIns="95548" bIns="47774" rtlCol="0" anchor="b"/>
          <a:lstStyle>
            <a:lvl1pPr algn="l">
              <a:defRPr sz="1300"/>
            </a:lvl1pPr>
          </a:lstStyle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6" y="9428585"/>
            <a:ext cx="2945659" cy="496331"/>
          </a:xfrm>
          <a:prstGeom prst="rect">
            <a:avLst/>
          </a:prstGeom>
        </p:spPr>
        <p:txBody>
          <a:bodyPr vert="horz" lIns="95548" tIns="47774" rIns="95548" bIns="47774" rtlCol="0" anchor="b"/>
          <a:lstStyle>
            <a:lvl1pPr algn="r">
              <a:defRPr sz="1300"/>
            </a:lvl1pPr>
          </a:lstStyle>
          <a:p>
            <a:fld id="{D2135BDF-764A-477E-BDD5-72AB63B62C3B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7625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5"/>
            <a:ext cx="2945659" cy="496331"/>
          </a:xfrm>
          <a:prstGeom prst="rect">
            <a:avLst/>
          </a:prstGeom>
        </p:spPr>
        <p:txBody>
          <a:bodyPr vert="horz" lIns="95548" tIns="47774" rIns="95548" bIns="47774" rtlCol="0"/>
          <a:lstStyle>
            <a:lvl1pPr algn="l">
              <a:defRPr sz="1300"/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6" y="5"/>
            <a:ext cx="2945659" cy="496331"/>
          </a:xfrm>
          <a:prstGeom prst="rect">
            <a:avLst/>
          </a:prstGeom>
        </p:spPr>
        <p:txBody>
          <a:bodyPr vert="horz" lIns="95548" tIns="47774" rIns="95548" bIns="47774" rtlCol="0"/>
          <a:lstStyle>
            <a:lvl1pPr algn="r">
              <a:defRPr sz="1300"/>
            </a:lvl1pPr>
          </a:lstStyle>
          <a:p>
            <a:fld id="{65285E63-D06A-434E-B94E-CF31F88D0220}" type="datetimeFigureOut">
              <a:rPr lang="fr-FR" smtClean="0"/>
              <a:t>09/02/2026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48" tIns="47774" rIns="95548" bIns="47774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6"/>
          </a:xfrm>
          <a:prstGeom prst="rect">
            <a:avLst/>
          </a:prstGeom>
        </p:spPr>
        <p:txBody>
          <a:bodyPr vert="horz" lIns="95548" tIns="47774" rIns="95548" bIns="4777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28585"/>
            <a:ext cx="2945659" cy="496331"/>
          </a:xfrm>
          <a:prstGeom prst="rect">
            <a:avLst/>
          </a:prstGeom>
        </p:spPr>
        <p:txBody>
          <a:bodyPr vert="horz" lIns="95548" tIns="47774" rIns="95548" bIns="47774" rtlCol="0" anchor="b"/>
          <a:lstStyle>
            <a:lvl1pPr algn="l">
              <a:defRPr sz="1300"/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6" y="9428585"/>
            <a:ext cx="2945659" cy="496331"/>
          </a:xfrm>
          <a:prstGeom prst="rect">
            <a:avLst/>
          </a:prstGeom>
        </p:spPr>
        <p:txBody>
          <a:bodyPr vert="horz" lIns="95548" tIns="47774" rIns="95548" bIns="47774" rtlCol="0" anchor="b"/>
          <a:lstStyle>
            <a:lvl1pPr algn="r">
              <a:defRPr sz="1300"/>
            </a:lvl1pPr>
          </a:lstStyle>
          <a:p>
            <a:fld id="{C747B1C5-3D15-46FC-97CE-C6E23539A37D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671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5492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7672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153" indent="-179153" defTabSz="914305">
              <a:buFontTx/>
              <a:buChar char="-"/>
            </a:pPr>
            <a:r>
              <a:rPr lang="fr-FR" dirty="0" smtClean="0"/>
              <a:t>Evolutions</a:t>
            </a:r>
            <a:r>
              <a:rPr lang="fr-FR" baseline="0" dirty="0" smtClean="0"/>
              <a:t> montant total achat client et panier moyen sur les 2 ans = stables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4930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153" indent="-179153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fr-FR" dirty="0" smtClean="0"/>
              <a:t>Influence</a:t>
            </a:r>
            <a:r>
              <a:rPr lang="fr-FR" baseline="0" dirty="0" smtClean="0"/>
              <a:t> des catégories dans le CA (moyenne des 2 ans</a:t>
            </a:r>
            <a:r>
              <a:rPr lang="fr-FR" baseline="0" dirty="0" smtClean="0"/>
              <a:t>): Cat </a:t>
            </a:r>
            <a:r>
              <a:rPr lang="fr-FR" baseline="0" dirty="0" smtClean="0"/>
              <a:t>0 = 37 </a:t>
            </a:r>
            <a:r>
              <a:rPr lang="fr-FR" baseline="0" dirty="0" smtClean="0"/>
              <a:t>% / Cat </a:t>
            </a:r>
            <a:r>
              <a:rPr lang="fr-FR" baseline="0" dirty="0" smtClean="0"/>
              <a:t>1 = 40 </a:t>
            </a:r>
            <a:r>
              <a:rPr lang="fr-FR" baseline="0" dirty="0" smtClean="0"/>
              <a:t>% / Cat </a:t>
            </a:r>
            <a:r>
              <a:rPr lang="fr-FR" baseline="0" dirty="0" smtClean="0"/>
              <a:t>2 = 23 </a:t>
            </a:r>
            <a:r>
              <a:rPr lang="fr-FR" baseline="0" dirty="0" smtClean="0"/>
              <a:t>%</a:t>
            </a:r>
            <a:endParaRPr lang="fr-FR" sz="800" baseline="0" dirty="0" smtClean="0"/>
          </a:p>
          <a:p>
            <a:pPr marL="191990" lvl="0" indent="-171450">
              <a:spcBef>
                <a:spcPts val="600"/>
              </a:spcBef>
              <a:buFontTx/>
              <a:buChar char="-"/>
            </a:pPr>
            <a:r>
              <a:rPr lang="fr-FR" baseline="0" dirty="0" smtClean="0"/>
              <a:t>20/80 OK mais risque de dépendance aux 20% de références concernées =&gt; attention au stock et à l’évolution des performances</a:t>
            </a:r>
          </a:p>
          <a:p>
            <a:pPr marL="477740" lvl="1" indent="0">
              <a:spcBef>
                <a:spcPts val="600"/>
              </a:spcBef>
              <a:buFontTx/>
              <a:buNone/>
            </a:pPr>
            <a:r>
              <a:rPr lang="fr-FR" baseline="0" dirty="0" smtClean="0"/>
              <a:t>+ identifier les 70-80% restant pour voir si intérêt à les conserver ou amélioration à apporter pour augmenter les performances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4930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153" indent="-179153">
              <a:buFontTx/>
              <a:buChar char="-"/>
            </a:pPr>
            <a:r>
              <a:rPr lang="fr-FR" dirty="0" smtClean="0"/>
              <a:t>Flops </a:t>
            </a:r>
            <a:r>
              <a:rPr lang="fr-FR" dirty="0" smtClean="0"/>
              <a:t>références nb articles / CA différents =&gt; possibilité qu’il y en ait plus que 10 et que</a:t>
            </a:r>
            <a:r>
              <a:rPr lang="fr-FR" baseline="0" dirty="0" smtClean="0"/>
              <a:t> ordre d’affichage soit différent </a:t>
            </a:r>
          </a:p>
          <a:p>
            <a:pPr marL="457153" lvl="1"/>
            <a:r>
              <a:rPr lang="fr-FR" baseline="0" dirty="0" smtClean="0"/>
              <a:t>-&gt; </a:t>
            </a:r>
            <a:r>
              <a:rPr lang="fr-FR" dirty="0" smtClean="0"/>
              <a:t>mais que des articles</a:t>
            </a:r>
            <a:r>
              <a:rPr lang="fr-FR" baseline="0" dirty="0" smtClean="0"/>
              <a:t> de la catégorie 0 = vendus 1 seul fois en 2 ans et peu chers (&lt; 2 €)</a:t>
            </a:r>
            <a:endParaRPr lang="fr-F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2823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153" indent="-179153">
              <a:buFontTx/>
              <a:buChar char="-"/>
            </a:pPr>
            <a:r>
              <a:rPr lang="fr-FR" dirty="0" smtClean="0"/>
              <a:t>Courbe de Lorenz </a:t>
            </a:r>
            <a:r>
              <a:rPr lang="fr-FR" dirty="0" smtClean="0"/>
              <a:t>=</a:t>
            </a:r>
            <a:r>
              <a:rPr lang="fr-FR" baseline="0" dirty="0" smtClean="0"/>
              <a:t> </a:t>
            </a:r>
            <a:r>
              <a:rPr lang="fr-FR" baseline="0" dirty="0" smtClean="0"/>
              <a:t>Répartition déséquilibrée </a:t>
            </a:r>
            <a:r>
              <a:rPr lang="fr-FR" baseline="0" dirty="0" smtClean="0"/>
              <a:t> :</a:t>
            </a:r>
            <a:endParaRPr lang="fr-FR" baseline="0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 smtClean="0"/>
              <a:t>		- courbe éloignée de la bissectrice (équilibre parfait)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 smtClean="0"/>
              <a:t>		- indice de Gini s’éloigne de 0  (1 = inégalité maximale / « 1 personne représente l’intégralité de tous les montants </a:t>
            </a:r>
            <a:r>
              <a:rPr lang="fr-FR" baseline="0" dirty="0" smtClean="0"/>
              <a:t>d’achat »)</a:t>
            </a:r>
            <a:endParaRPr lang="fr-FR" baseline="0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 smtClean="0"/>
              <a:t>		- médiale = 80% des clients représentent &lt; 50% des montants totaux d’achat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1860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153" indent="-179153">
              <a:buFontTx/>
              <a:buChar char="-"/>
            </a:pPr>
            <a:r>
              <a:rPr lang="fr-FR" dirty="0" smtClean="0"/>
              <a:t>Flop panier</a:t>
            </a:r>
            <a:r>
              <a:rPr lang="fr-FR" baseline="0" dirty="0" smtClean="0"/>
              <a:t> moyen = entre 4 et 10 €   +  nombre d’articles achetés = &lt; 2 </a:t>
            </a:r>
            <a:r>
              <a:rPr lang="fr-FR" baseline="0" dirty="0" smtClean="0"/>
              <a:t>articles</a:t>
            </a:r>
            <a:endParaRPr lang="fr-FR" baseline="0" dirty="0" smtClean="0"/>
          </a:p>
          <a:p>
            <a:pPr marL="179153" marR="0" indent="-17915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 smtClean="0"/>
              <a:t>Catégorie privilégiée</a:t>
            </a:r>
            <a:r>
              <a:rPr lang="fr-FR" baseline="0" dirty="0" smtClean="0"/>
              <a:t> </a:t>
            </a:r>
            <a:r>
              <a:rPr lang="fr-FR" baseline="0" dirty="0" err="1" smtClean="0"/>
              <a:t>BtoB</a:t>
            </a:r>
            <a:r>
              <a:rPr lang="fr-FR" baseline="0" dirty="0" smtClean="0"/>
              <a:t> = 0 &gt; 1 &gt; 2 </a:t>
            </a:r>
          </a:p>
          <a:p>
            <a:pPr marL="179153" marR="0" indent="-17915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 smtClean="0"/>
              <a:t>Répartition CA </a:t>
            </a:r>
            <a:r>
              <a:rPr lang="fr-FR" baseline="0" dirty="0" err="1" smtClean="0"/>
              <a:t>BtoB</a:t>
            </a:r>
            <a:r>
              <a:rPr lang="fr-FR" baseline="0" dirty="0" smtClean="0"/>
              <a:t> </a:t>
            </a:r>
            <a:r>
              <a:rPr lang="fr-FR" baseline="0" dirty="0" smtClean="0"/>
              <a:t>:  </a:t>
            </a:r>
            <a:r>
              <a:rPr lang="fr-FR" sz="1000" i="1" baseline="0" dirty="0" smtClean="0"/>
              <a:t>c_1609</a:t>
            </a:r>
            <a:r>
              <a:rPr lang="fr-FR" sz="1000" baseline="0" dirty="0" smtClean="0"/>
              <a:t> </a:t>
            </a:r>
            <a:r>
              <a:rPr lang="fr-FR" sz="1000" baseline="0" dirty="0" smtClean="0"/>
              <a:t> = 36,87%  /  </a:t>
            </a:r>
            <a:r>
              <a:rPr lang="fr-FR" sz="1000" i="1" baseline="0" dirty="0" smtClean="0"/>
              <a:t>c_4958</a:t>
            </a:r>
            <a:r>
              <a:rPr lang="fr-FR" sz="1000" baseline="0" dirty="0" smtClean="0"/>
              <a:t>  = 32,82%  /  </a:t>
            </a:r>
            <a:r>
              <a:rPr lang="fr-FR" sz="1000" i="1" baseline="0" dirty="0" smtClean="0"/>
              <a:t>c_6714 </a:t>
            </a:r>
            <a:r>
              <a:rPr lang="fr-FR" sz="1000" i="0" baseline="0" dirty="0" smtClean="0"/>
              <a:t> =</a:t>
            </a:r>
            <a:r>
              <a:rPr lang="fr-FR" sz="1000" i="1" baseline="0" dirty="0" smtClean="0"/>
              <a:t> </a:t>
            </a:r>
            <a:r>
              <a:rPr lang="fr-FR" sz="1000" baseline="0" dirty="0" smtClean="0"/>
              <a:t>17,41%  /  </a:t>
            </a:r>
            <a:r>
              <a:rPr lang="fr-FR" sz="1000" i="1" baseline="0" dirty="0" smtClean="0"/>
              <a:t>c_3454</a:t>
            </a:r>
            <a:r>
              <a:rPr lang="fr-FR" sz="1200" i="0" baseline="0" dirty="0" smtClean="0"/>
              <a:t>  = </a:t>
            </a:r>
            <a:r>
              <a:rPr lang="fr-FR" baseline="0" dirty="0" smtClean="0"/>
              <a:t>12,90% </a:t>
            </a:r>
            <a:endParaRPr lang="fr-FR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1860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153" indent="-179153">
              <a:buFontTx/>
              <a:buChar char="-"/>
            </a:pPr>
            <a:r>
              <a:rPr lang="fr-FR" baseline="0" dirty="0" smtClean="0"/>
              <a:t>Nombre de transactions et d’articles achetés = 50/50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1860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32" marR="0" indent="-1714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/>
              <a:buChar char="Þ"/>
              <a:tabLst/>
              <a:defRPr/>
            </a:pPr>
            <a:r>
              <a:rPr lang="fr-FR" sz="1200" dirty="0" smtClean="0"/>
              <a:t>Utilisation </a:t>
            </a:r>
            <a:r>
              <a:rPr lang="fr-FR" sz="1200" dirty="0" smtClean="0"/>
              <a:t>de tests statistiques pour vérifier si</a:t>
            </a:r>
            <a:r>
              <a:rPr lang="fr-FR" sz="1200" baseline="0" dirty="0" smtClean="0"/>
              <a:t> la </a:t>
            </a:r>
            <a:r>
              <a:rPr lang="fr-FR" sz="1200" dirty="0" smtClean="0"/>
              <a:t>différence observée est bien réelle et valider le résultat</a:t>
            </a:r>
          </a:p>
          <a:p>
            <a:pPr marL="656893" lvl="1" indent="-179153">
              <a:buFontTx/>
              <a:buChar char="-"/>
            </a:pPr>
            <a:r>
              <a:rPr lang="fr-FR" sz="1200" dirty="0" smtClean="0"/>
              <a:t>Student : 2 variables mixtes + 2 groupes uniquement +  pas de normalité des distributions + variances égales</a:t>
            </a:r>
          </a:p>
          <a:p>
            <a:pPr marL="656893" lvl="1" indent="-179153">
              <a:buFontTx/>
              <a:buChar char="-"/>
            </a:pPr>
            <a:r>
              <a:rPr lang="fr-FR" sz="1200" dirty="0" smtClean="0"/>
              <a:t>Chi-2 : 2 variables qualitatives + fréquences théoriques des groupes ≥ 5</a:t>
            </a:r>
          </a:p>
          <a:p>
            <a:r>
              <a:rPr lang="fr-FR" sz="1200" dirty="0" smtClean="0"/>
              <a:t>	(X² = mesure l’écart entre</a:t>
            </a:r>
            <a:r>
              <a:rPr lang="fr-FR" sz="1200" baseline="0" dirty="0" smtClean="0"/>
              <a:t> les fréquences observées et les fréquences attendues sous l’hypothèse d’indépendance des variables)</a:t>
            </a:r>
            <a:endParaRPr lang="fr-F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8251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153" indent="-179153">
              <a:buFontTx/>
              <a:buChar char="-"/>
            </a:pPr>
            <a:endParaRPr lang="fr-FR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1860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32" marR="0" indent="-1714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/>
              <a:buChar char="Þ"/>
              <a:tabLst/>
              <a:defRPr/>
            </a:pPr>
            <a:r>
              <a:rPr lang="fr-FR" sz="1200" dirty="0" smtClean="0"/>
              <a:t>Utilisation </a:t>
            </a:r>
            <a:r>
              <a:rPr lang="fr-FR" sz="1200" dirty="0" smtClean="0"/>
              <a:t>de tests statistiques pour vérifier si</a:t>
            </a:r>
            <a:r>
              <a:rPr lang="fr-FR" sz="1200" baseline="0" dirty="0" smtClean="0"/>
              <a:t> la </a:t>
            </a:r>
            <a:r>
              <a:rPr lang="fr-FR" sz="1200" dirty="0" smtClean="0"/>
              <a:t>différence observée est bien réelle et valider le résultat</a:t>
            </a:r>
          </a:p>
          <a:p>
            <a:pPr marL="628650" lvl="1" indent="-171450">
              <a:buFontTx/>
              <a:buChar char="-"/>
            </a:pPr>
            <a:r>
              <a:rPr lang="fr-FR" sz="1200" dirty="0" smtClean="0"/>
              <a:t>Spearman = 2 variables quantitatives + pas de normalité des distributions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1200" dirty="0" smtClean="0"/>
              <a:t>Kruskal-Wallis = 2 variables mixtes + &gt; 2 groupes + pas de normalité des distributions + variances inégales</a:t>
            </a:r>
          </a:p>
          <a:p>
            <a:pPr marL="457153" lvl="1"/>
            <a:r>
              <a:rPr lang="fr-FR" sz="1200" dirty="0">
                <a:solidFill>
                  <a:srgbClr val="FF0000"/>
                </a:solidFill>
              </a:rPr>
              <a:t>	(valeur h indique qu’il existe une différence significative dans l’âge des clients selon les catégories de livres achetés</a:t>
            </a:r>
            <a:r>
              <a:rPr lang="fr-FR" sz="1200" dirty="0" smtClean="0">
                <a:solidFill>
                  <a:srgbClr val="FF0000"/>
                </a:solidFill>
              </a:rPr>
              <a:t>)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8251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baseline="0" dirty="0" smtClean="0"/>
              <a:t>Autres recommandations :</a:t>
            </a:r>
          </a:p>
          <a:p>
            <a:pPr marL="628650" lvl="1" indent="-171450">
              <a:buFontTx/>
              <a:buChar char="-"/>
            </a:pPr>
            <a:r>
              <a:rPr lang="fr-FR" baseline="0" dirty="0" smtClean="0"/>
              <a:t>Fréquences d’achat : présence de clients fidèles ou non ? Si non, pourquoi ? =&gt; création de carte / avantages fidélité</a:t>
            </a:r>
          </a:p>
          <a:p>
            <a:pPr marL="628650" lvl="1" indent="-171450">
              <a:buFontTx/>
              <a:buChar char="-"/>
            </a:pPr>
            <a:r>
              <a:rPr lang="fr-FR" baseline="0" dirty="0" smtClean="0"/>
              <a:t>Caractéristiques des références moins performantes (prix, intérêt client…) =&gt; pertinence de les conserver, baisser les prix…</a:t>
            </a:r>
            <a:endParaRPr lang="fr-F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6153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47B1C5-3D15-46FC-97CE-C6E23539A37D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2151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05">
              <a:defRPr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D1117-A048-499D-A42C-82ED20CC2E62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3883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E814FE8-37A4-4DF4-91EE-883BAFF17382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F119E-06CF-429E-A927-058BDB83FB61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96C6104-A60C-4977-8688-FA05C022C9CB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126-46F1-4AC0-B237-6E5C7ABEC044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5A0B-9AAB-487E-B02E-1284F61E8D9F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8F27-F3A8-4CBE-80EC-BD38BFB4BFE3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7B3-62E5-48F1-91EB-E148BB0B5DB1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F61E-B73D-4DF9-8501-0C0C1D5F71E2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98BF-D73B-4EBE-95B8-C5053D6A745F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931-687F-4F36-A577-197110B9171B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42BC-0079-4DE8-AD32-01DBCB8ABF25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F2E17F2-67E1-41D5-9F1C-E67A0D508EB4}" type="datetime2">
              <a:rPr lang="fr-FR" smtClean="0"/>
              <a:t>lundi 9 février 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1F30B7A-7CBE-4D9D-B685-75D4189C02F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33.png"/><Relationship Id="rId4" Type="http://schemas.microsoft.com/office/2007/relationships/hdphoto" Target="../media/hdphoto2.wdp"/><Relationship Id="rId9" Type="http://schemas.microsoft.com/office/2007/relationships/diagramDrawing" Target="../diagrams/drawin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19200" y="3806552"/>
            <a:ext cx="6858000" cy="9906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r-FR" dirty="0" smtClean="0"/>
              <a:t>Analyse de l’activité du site </a:t>
            </a:r>
            <a:br>
              <a:rPr lang="fr-FR" dirty="0" smtClean="0"/>
            </a:br>
            <a:r>
              <a:rPr lang="fr-FR" dirty="0" smtClean="0"/>
              <a:t>de vente en ligne de la librairie</a:t>
            </a:r>
            <a:endParaRPr lang="fr-FR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19200" y="5157192"/>
            <a:ext cx="6858000" cy="533400"/>
          </a:xfrm>
        </p:spPr>
        <p:txBody>
          <a:bodyPr anchor="ctr">
            <a:normAutofit fontScale="70000" lnSpcReduction="20000"/>
          </a:bodyPr>
          <a:lstStyle/>
          <a:p>
            <a:r>
              <a:rPr lang="fr-FR" dirty="0" smtClean="0"/>
              <a:t>TEIXEIRA Allison</a:t>
            </a:r>
          </a:p>
          <a:p>
            <a:r>
              <a:rPr lang="fr-FR" dirty="0" smtClean="0"/>
              <a:t>Data Analyst</a:t>
            </a: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20" y="44624"/>
            <a:ext cx="4120412" cy="412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5940152" y="5877272"/>
            <a:ext cx="2286000" cy="365760"/>
          </a:xfrm>
        </p:spPr>
        <p:txBody>
          <a:bodyPr/>
          <a:lstStyle/>
          <a:p>
            <a:pPr algn="r"/>
            <a:r>
              <a:rPr lang="fr-FR" dirty="0" smtClean="0"/>
              <a:t>mardi 04 avril 2023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8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fr-FR" sz="2000" dirty="0" smtClean="0"/>
          </a:p>
          <a:p>
            <a:r>
              <a:rPr lang="fr-FR" sz="2000" dirty="0" smtClean="0"/>
              <a:t>2021 </a:t>
            </a:r>
            <a:r>
              <a:rPr lang="fr-FR" sz="2000" dirty="0"/>
              <a:t>: Ouverture du site de vente en ligne suite au succès des librairies physiques et à l’engouement des </a:t>
            </a:r>
            <a:r>
              <a:rPr lang="fr-FR" sz="2000" dirty="0" smtClean="0"/>
              <a:t>clients pour les produits.</a:t>
            </a:r>
          </a:p>
          <a:p>
            <a:endParaRPr lang="fr-FR" sz="2000" dirty="0"/>
          </a:p>
          <a:p>
            <a:pPr>
              <a:spcAft>
                <a:spcPts val="600"/>
              </a:spcAft>
            </a:pPr>
            <a:r>
              <a:rPr lang="fr-FR" sz="2000" b="1" dirty="0"/>
              <a:t>Objectif</a:t>
            </a:r>
            <a:r>
              <a:rPr lang="fr-FR" sz="2000" dirty="0"/>
              <a:t> = faire le point sur l’activité du site après ces 2 ans</a:t>
            </a:r>
            <a:r>
              <a:rPr lang="fr-FR" sz="2000" dirty="0" smtClean="0"/>
              <a:t>.</a:t>
            </a:r>
          </a:p>
          <a:p>
            <a:pPr lvl="2">
              <a:buClrTx/>
              <a:buSzPct val="100000"/>
              <a:buFont typeface="Wingdings" panose="05000000000000000000" pitchFamily="2" charset="2"/>
              <a:buChar char="Ä"/>
            </a:pPr>
            <a:r>
              <a:rPr lang="fr-FR" sz="1800" dirty="0" smtClean="0">
                <a:solidFill>
                  <a:schemeClr val="tx1"/>
                </a:solidFill>
              </a:rPr>
              <a:t>aider </a:t>
            </a:r>
            <a:r>
              <a:rPr lang="fr-FR" sz="1800" dirty="0">
                <a:solidFill>
                  <a:schemeClr val="tx1"/>
                </a:solidFill>
              </a:rPr>
              <a:t>à la prise de décision stratégique : créer des offres, adapter certains prix, cibler un certain type de clientèle…</a:t>
            </a:r>
          </a:p>
          <a:p>
            <a:endParaRPr lang="fr-F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2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811" y1="50000" x2="50811" y2="50000"/>
                        <a14:foregroundMark x1="49730" y1="49730" x2="49730" y2="49730"/>
                        <a14:foregroundMark x1="48919" y1="49189" x2="48919" y2="49189"/>
                        <a14:foregroundMark x1="50541" y1="48784" x2="50000" y2="50541"/>
                        <a14:foregroundMark x1="50000" y1="51486" x2="49189" y2="51351"/>
                        <a14:foregroundMark x1="56351" y1="44189" x2="56351" y2="441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773" y="3756858"/>
            <a:ext cx="2480454" cy="2480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867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Indicateurs de vente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229600" cy="4937760"/>
          </a:xfrm>
        </p:spPr>
        <p:txBody>
          <a:bodyPr>
            <a:normAutofit/>
          </a:bodyPr>
          <a:lstStyle/>
          <a:p>
            <a:r>
              <a:rPr lang="fr-FR" sz="2000" dirty="0" smtClean="0"/>
              <a:t>Chiffre d’Affaires</a:t>
            </a:r>
          </a:p>
          <a:p>
            <a:endParaRPr lang="fr-FR" sz="2000" dirty="0"/>
          </a:p>
          <a:p>
            <a:endParaRPr lang="fr-FR" sz="2000" dirty="0" smtClean="0"/>
          </a:p>
          <a:p>
            <a:endParaRPr lang="fr-FR" sz="2000" dirty="0"/>
          </a:p>
          <a:p>
            <a:pPr marL="0" indent="0">
              <a:buNone/>
            </a:pPr>
            <a:endParaRPr lang="fr-FR" sz="3200" dirty="0"/>
          </a:p>
          <a:p>
            <a:r>
              <a:rPr lang="fr-FR" sz="2000" dirty="0" smtClean="0"/>
              <a:t>Nombre de </a:t>
            </a:r>
            <a:r>
              <a:rPr lang="fr-FR" sz="2000" dirty="0" smtClean="0"/>
              <a:t>clients,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2000" dirty="0"/>
              <a:t> </a:t>
            </a:r>
            <a:r>
              <a:rPr lang="fr-FR" sz="2000" dirty="0" smtClean="0"/>
              <a:t>   </a:t>
            </a:r>
            <a:r>
              <a:rPr lang="fr-FR" sz="2000" dirty="0" smtClean="0"/>
              <a:t>transactions &amp; articles vendus</a:t>
            </a:r>
            <a:endParaRPr lang="fr-F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3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42" y="1656583"/>
            <a:ext cx="8849907" cy="17004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92" y="4149081"/>
            <a:ext cx="4320000" cy="19442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701" y="4869304"/>
            <a:ext cx="4424948" cy="129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140" y="3501152"/>
            <a:ext cx="4418509" cy="129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44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Indicateurs de vente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53450" cy="4937760"/>
          </a:xfrm>
        </p:spPr>
        <p:txBody>
          <a:bodyPr>
            <a:normAutofit/>
          </a:bodyPr>
          <a:lstStyle/>
          <a:p>
            <a:endParaRPr lang="fr-FR" sz="1000" dirty="0" smtClean="0"/>
          </a:p>
          <a:p>
            <a:r>
              <a:rPr lang="fr-FR" sz="2000" dirty="0" smtClean="0"/>
              <a:t>Chiffre d’affaires par catégories d’articles</a:t>
            </a:r>
          </a:p>
          <a:p>
            <a:endParaRPr lang="fr-FR" sz="2000" dirty="0"/>
          </a:p>
          <a:p>
            <a:endParaRPr lang="fr-FR" sz="2000" dirty="0" smtClean="0"/>
          </a:p>
          <a:p>
            <a:endParaRPr lang="fr-FR" sz="2000" dirty="0"/>
          </a:p>
          <a:p>
            <a:endParaRPr lang="fr-FR" sz="2000" dirty="0" smtClean="0"/>
          </a:p>
          <a:p>
            <a:endParaRPr lang="fr-FR" sz="2000" dirty="0"/>
          </a:p>
          <a:p>
            <a:endParaRPr lang="fr-FR" sz="2000" dirty="0" smtClean="0"/>
          </a:p>
          <a:p>
            <a:pPr marL="0" indent="0">
              <a:buNone/>
            </a:pPr>
            <a:endParaRPr lang="fr-FR" sz="1000" dirty="0"/>
          </a:p>
          <a:p>
            <a:r>
              <a:rPr lang="fr-FR" sz="1800" dirty="0" smtClean="0"/>
              <a:t>Analyse 20/80 sur les 2 ans :</a:t>
            </a:r>
          </a:p>
          <a:p>
            <a:pPr lvl="2">
              <a:buClr>
                <a:schemeClr val="tx1"/>
              </a:buClr>
              <a:buSzPct val="100000"/>
              <a:buFont typeface="Wingdings" panose="05000000000000000000" pitchFamily="2" charset="2"/>
              <a:buChar char="Ä"/>
            </a:pPr>
            <a:r>
              <a:rPr lang="fr-FR" sz="1600" u="dashLong" dirty="0"/>
              <a:t>Chiffre d’affaires </a:t>
            </a:r>
            <a:r>
              <a:rPr lang="fr-FR" sz="1600" dirty="0"/>
              <a:t>: 80</a:t>
            </a:r>
            <a:r>
              <a:rPr lang="fr-FR" sz="1600" dirty="0" smtClean="0"/>
              <a:t>% CA </a:t>
            </a:r>
            <a:r>
              <a:rPr lang="fr-FR" sz="1600" dirty="0"/>
              <a:t>effectué par 21,03% des </a:t>
            </a:r>
            <a:r>
              <a:rPr lang="fr-FR" sz="1600" dirty="0" smtClean="0"/>
              <a:t>références (691 articles)</a:t>
            </a:r>
          </a:p>
          <a:p>
            <a:pPr lvl="2">
              <a:buClr>
                <a:schemeClr val="tx1"/>
              </a:buClr>
              <a:buSzPct val="100000"/>
              <a:buFont typeface="Wingdings" panose="05000000000000000000" pitchFamily="2" charset="2"/>
              <a:buChar char="Ä"/>
            </a:pPr>
            <a:r>
              <a:rPr lang="fr-FR" sz="1600" u="dashLong" dirty="0" smtClean="0"/>
              <a:t>Nombre d’articles vendus </a:t>
            </a:r>
            <a:r>
              <a:rPr lang="fr-FR" sz="1600" dirty="0" smtClean="0"/>
              <a:t>: 80% ventes effectuées par 24,53% des références (806 articles)</a:t>
            </a:r>
            <a:endParaRPr lang="fr-FR" sz="1600" dirty="0"/>
          </a:p>
          <a:p>
            <a:pPr lvl="2"/>
            <a:endParaRPr lang="fr-FR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4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44" y="2060848"/>
            <a:ext cx="8820149" cy="19322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310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Références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000" dirty="0" smtClean="0"/>
              <a:t>Répartition par catégories</a:t>
            </a:r>
          </a:p>
          <a:p>
            <a:endParaRPr lang="fr-FR" sz="2000" dirty="0"/>
          </a:p>
          <a:p>
            <a:endParaRPr lang="fr-FR" sz="2000" dirty="0" smtClean="0"/>
          </a:p>
          <a:p>
            <a:endParaRPr lang="fr-FR" sz="2000" dirty="0"/>
          </a:p>
          <a:p>
            <a:endParaRPr lang="fr-FR" sz="2000" dirty="0" smtClean="0"/>
          </a:p>
          <a:p>
            <a:endParaRPr lang="fr-FR" sz="3000" dirty="0"/>
          </a:p>
          <a:p>
            <a:r>
              <a:rPr lang="fr-FR" sz="2000" dirty="0" smtClean="0"/>
              <a:t>Tops Références</a:t>
            </a:r>
            <a:endParaRPr lang="fr-F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5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79" y="1595577"/>
            <a:ext cx="2295229" cy="20882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609" y="1562354"/>
            <a:ext cx="2781679" cy="2121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077072"/>
            <a:ext cx="2808312" cy="22309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077072"/>
            <a:ext cx="2815975" cy="22309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104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clients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fr-FR" sz="500" dirty="0" smtClean="0"/>
          </a:p>
          <a:p>
            <a:r>
              <a:rPr lang="fr-FR" sz="2000" dirty="0" smtClean="0"/>
              <a:t>Répartition</a:t>
            </a:r>
            <a:endParaRPr lang="fr-F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6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539551" y="1988840"/>
            <a:ext cx="4680521" cy="3096344"/>
            <a:chOff x="539552" y="1844824"/>
            <a:chExt cx="3833369" cy="2546201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1844824"/>
              <a:ext cx="3833369" cy="25462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1450273" y="2463279"/>
              <a:ext cx="601447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200" u="sng" dirty="0" smtClean="0"/>
                <a:t>Gini</a:t>
              </a:r>
              <a:r>
                <a:rPr lang="fr-FR" sz="1200" dirty="0" smtClean="0"/>
                <a:t> </a:t>
              </a:r>
            </a:p>
            <a:p>
              <a:pPr algn="ctr"/>
              <a:r>
                <a:rPr lang="fr-FR" sz="1200" dirty="0" smtClean="0"/>
                <a:t>= 0,44</a:t>
              </a:r>
              <a:endParaRPr lang="fr-FR" sz="1200" dirty="0"/>
            </a:p>
          </p:txBody>
        </p:sp>
      </p:grp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966" y="1340768"/>
            <a:ext cx="2571509" cy="26642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722751" y="4066436"/>
            <a:ext cx="4230624" cy="2228406"/>
            <a:chOff x="3722751" y="4066436"/>
            <a:chExt cx="4230624" cy="2228406"/>
          </a:xfrm>
        </p:grpSpPr>
        <p:pic>
          <p:nvPicPr>
            <p:cNvPr id="9219" name="Picture 3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39"/>
            <a:stretch/>
          </p:blipFill>
          <p:spPr bwMode="auto">
            <a:xfrm>
              <a:off x="5652120" y="4066436"/>
              <a:ext cx="2301255" cy="22284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3722751" y="5487615"/>
              <a:ext cx="15773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1200" i="1" dirty="0" smtClean="0"/>
                <a:t>Répartition </a:t>
              </a:r>
              <a:r>
                <a:rPr lang="fr-FR" sz="1200" i="1" dirty="0"/>
                <a:t>des clients </a:t>
              </a:r>
              <a:r>
                <a:rPr lang="fr-FR" sz="1200" i="1" dirty="0" smtClean="0"/>
                <a:t>selon leur genre</a:t>
              </a:r>
              <a:endParaRPr lang="fr-FR" sz="1200" i="1" dirty="0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5276081" y="5478323"/>
              <a:ext cx="304031" cy="28917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47162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clients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fr-FR" sz="500" dirty="0" smtClean="0"/>
          </a:p>
          <a:p>
            <a:r>
              <a:rPr lang="fr-FR" sz="2000" dirty="0" smtClean="0"/>
              <a:t>Tops / Flops</a:t>
            </a:r>
            <a:endParaRPr lang="fr-F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7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27391"/>
            <a:ext cx="3168352" cy="25498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71600" y="4653136"/>
            <a:ext cx="772472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Ä"/>
            </a:pPr>
            <a:r>
              <a:rPr lang="fr-FR" sz="1600" dirty="0" smtClean="0"/>
              <a:t>4 clients extrêmes = clients BtoB </a:t>
            </a:r>
            <a:r>
              <a:rPr lang="fr-FR" sz="1400" i="1" dirty="0" smtClean="0"/>
              <a:t>(Business to Business,  professionnels)</a:t>
            </a:r>
          </a:p>
          <a:p>
            <a:pPr marL="285750" indent="-285750">
              <a:buFont typeface="Wingdings" panose="05000000000000000000" pitchFamily="2" charset="2"/>
              <a:buChar char="Ä"/>
            </a:pPr>
            <a:r>
              <a:rPr lang="fr-FR" sz="1600" dirty="0"/>
              <a:t>21 clients </a:t>
            </a:r>
            <a:r>
              <a:rPr lang="fr-FR" sz="1600" dirty="0" smtClean="0"/>
              <a:t>à 0 transactions </a:t>
            </a:r>
            <a:r>
              <a:rPr lang="fr-FR" sz="1600" dirty="0"/>
              <a:t>= </a:t>
            </a:r>
            <a:endParaRPr lang="fr-FR" sz="1600" dirty="0" smtClean="0"/>
          </a:p>
          <a:p>
            <a:pPr marL="742950" lvl="1" indent="-285750">
              <a:buFont typeface="Montserrat"/>
              <a:buChar char="→"/>
            </a:pPr>
            <a:r>
              <a:rPr lang="fr-FR" sz="1400" dirty="0" smtClean="0"/>
              <a:t>peut </a:t>
            </a:r>
            <a:r>
              <a:rPr lang="fr-FR" sz="1400" dirty="0"/>
              <a:t>être </a:t>
            </a:r>
            <a:r>
              <a:rPr lang="fr-FR" sz="1400" dirty="0" smtClean="0"/>
              <a:t>clients </a:t>
            </a:r>
            <a:r>
              <a:rPr lang="fr-FR" sz="1400" dirty="0"/>
              <a:t>des librairies physiques mais pas encore du site de </a:t>
            </a:r>
            <a:r>
              <a:rPr lang="fr-FR" sz="1400" dirty="0" smtClean="0"/>
              <a:t>vente</a:t>
            </a:r>
          </a:p>
          <a:p>
            <a:pPr marL="742950" lvl="1" indent="-285750">
              <a:buFont typeface="Montserrat"/>
              <a:buChar char="→"/>
            </a:pPr>
            <a:r>
              <a:rPr lang="fr-FR" sz="1400" dirty="0" smtClean="0"/>
              <a:t>ou </a:t>
            </a:r>
            <a:r>
              <a:rPr lang="fr-FR" sz="1400" dirty="0"/>
              <a:t>ayant créé un compte mais pas encore </a:t>
            </a:r>
            <a:r>
              <a:rPr lang="fr-FR" sz="1400" dirty="0" smtClean="0"/>
              <a:t>converti leur visite</a:t>
            </a:r>
            <a:endParaRPr lang="fr-FR" sz="1600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927391"/>
            <a:ext cx="3168352" cy="25498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916832"/>
            <a:ext cx="2403673" cy="25604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422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clients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fr-FR" sz="500" dirty="0" smtClean="0"/>
          </a:p>
          <a:p>
            <a:r>
              <a:rPr lang="fr-FR" sz="2000" dirty="0" smtClean="0"/>
              <a:t>Comportement selon le genre</a:t>
            </a:r>
            <a:endParaRPr lang="fr-F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8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76872"/>
            <a:ext cx="4082322" cy="32038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188"/>
          <a:stretch/>
        </p:blipFill>
        <p:spPr bwMode="auto">
          <a:xfrm>
            <a:off x="4413660" y="1916832"/>
            <a:ext cx="4334804" cy="3838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743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993706"/>
              </p:ext>
            </p:extLst>
          </p:nvPr>
        </p:nvGraphicFramePr>
        <p:xfrm>
          <a:off x="3059832" y="1673325"/>
          <a:ext cx="3024336" cy="2062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1512168"/>
              </a:tblGrid>
              <a:tr h="985151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/>
                        <a:t>Montants totaux des achats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/>
                        <a:t>Fréquences d’achat</a:t>
                      </a:r>
                      <a:endParaRPr lang="fr-FR" sz="1600" dirty="0"/>
                    </a:p>
                  </a:txBody>
                  <a:tcPr anchor="ctr"/>
                </a:tc>
              </a:tr>
              <a:tr h="1077115">
                <a:tc>
                  <a:txBody>
                    <a:bodyPr/>
                    <a:lstStyle/>
                    <a:p>
                      <a:pPr algn="l"/>
                      <a:r>
                        <a:rPr lang="en-US" sz="1400" i="1" u="sng" dirty="0" smtClean="0"/>
                        <a:t>Student :</a:t>
                      </a:r>
                    </a:p>
                    <a:p>
                      <a:pPr algn="ctr"/>
                      <a:r>
                        <a:rPr lang="en-US" sz="1400" i="0" u="none" dirty="0" smtClean="0"/>
                        <a:t>t = - 0,18</a:t>
                      </a:r>
                    </a:p>
                    <a:p>
                      <a:pPr algn="ctr"/>
                      <a:r>
                        <a:rPr lang="en-US" sz="1400" i="0" u="none" dirty="0" smtClean="0"/>
                        <a:t>p = 0,854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rtl="0" eaLnBrk="1" latinLnBrk="0" hangingPunct="1"/>
                      <a:r>
                        <a:rPr kumimoji="0" lang="en-US" sz="1400" i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Student :</a:t>
                      </a:r>
                    </a:p>
                    <a:p>
                      <a:pPr marL="0" algn="ctr" rtl="0" eaLnBrk="1" latinLnBrk="0" hangingPunct="1"/>
                      <a:r>
                        <a:rPr kumimoji="0" lang="en-US" sz="1400" i="0" u="non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= - 0,07</a:t>
                      </a:r>
                    </a:p>
                    <a:p>
                      <a:pPr marL="0" algn="ctr" rtl="0" eaLnBrk="1" latinLnBrk="0" hangingPunct="1"/>
                      <a:r>
                        <a:rPr kumimoji="0" lang="en-US" sz="1400" i="0" u="non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 = 0,942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Profil clients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000" dirty="0"/>
              <a:t>Comportement selon le </a:t>
            </a:r>
            <a:r>
              <a:rPr lang="fr-FR" sz="2000" dirty="0" smtClean="0"/>
              <a:t>genre (tests statistiques) :</a:t>
            </a:r>
            <a:endParaRPr lang="fr-F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9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400554"/>
              </p:ext>
            </p:extLst>
          </p:nvPr>
        </p:nvGraphicFramePr>
        <p:xfrm>
          <a:off x="3059832" y="4005236"/>
          <a:ext cx="3024336" cy="2017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1512168"/>
              </a:tblGrid>
              <a:tr h="100868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/>
                        <a:t>Paniers moyens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/>
                        <a:t>Catégories de livres</a:t>
                      </a:r>
                      <a:endParaRPr lang="fr-FR" sz="1600" dirty="0"/>
                    </a:p>
                  </a:txBody>
                  <a:tcPr anchor="ctr"/>
                </a:tc>
              </a:tr>
              <a:tr h="1008682">
                <a:tc>
                  <a:txBody>
                    <a:bodyPr/>
                    <a:lstStyle/>
                    <a:p>
                      <a:r>
                        <a:rPr lang="en-US" sz="1400" i="1" u="sng" dirty="0" smtClean="0"/>
                        <a:t>Student :</a:t>
                      </a:r>
                    </a:p>
                    <a:p>
                      <a:pPr algn="ctr"/>
                      <a:r>
                        <a:rPr lang="en-US" sz="1400" i="0" u="none" dirty="0" smtClean="0"/>
                        <a:t>t = - 0,96</a:t>
                      </a:r>
                    </a:p>
                    <a:p>
                      <a:pPr algn="ctr"/>
                      <a:r>
                        <a:rPr lang="en-US" sz="1400" i="0" u="none" dirty="0" smtClean="0"/>
                        <a:t>p = 0,336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400" i="1" u="sng" dirty="0" smtClean="0"/>
                        <a:t>Chi-2 :</a:t>
                      </a:r>
                    </a:p>
                    <a:p>
                      <a:pPr algn="l"/>
                      <a:r>
                        <a:rPr lang="it-IT" sz="1400" i="0" u="none" dirty="0" smtClean="0"/>
                        <a:t>       X² = 22,67</a:t>
                      </a:r>
                    </a:p>
                    <a:p>
                      <a:pPr algn="l"/>
                      <a:r>
                        <a:rPr lang="it-IT" sz="1400" i="0" u="none" dirty="0" smtClean="0"/>
                        <a:t>       p = 0,000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33607"/>
            <a:ext cx="2232248" cy="2125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831" y="1556792"/>
            <a:ext cx="2156793" cy="2231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53" y="3854828"/>
            <a:ext cx="2037955" cy="2238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317082"/>
            <a:ext cx="2660124" cy="1416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316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32856"/>
            <a:ext cx="4693910" cy="30677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clients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fr-FR" sz="500" dirty="0" smtClean="0"/>
          </a:p>
          <a:p>
            <a:r>
              <a:rPr lang="fr-FR" sz="2000" dirty="0" smtClean="0"/>
              <a:t>Comportement selon l’âge</a:t>
            </a:r>
            <a:endParaRPr lang="fr-FR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10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647256"/>
            <a:ext cx="3309844" cy="25900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13"/>
          <a:stretch/>
        </p:blipFill>
        <p:spPr bwMode="auto">
          <a:xfrm>
            <a:off x="5471670" y="1332359"/>
            <a:ext cx="2556714" cy="22406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904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793210"/>
              </p:ext>
            </p:extLst>
          </p:nvPr>
        </p:nvGraphicFramePr>
        <p:xfrm>
          <a:off x="3059832" y="1673325"/>
          <a:ext cx="3024336" cy="2062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1512168"/>
              </a:tblGrid>
              <a:tr h="985151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/>
                        <a:t>Montants totaux des achats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/>
                        <a:t>Fréquences d’achat</a:t>
                      </a:r>
                      <a:endParaRPr lang="fr-FR" sz="1600" dirty="0"/>
                    </a:p>
                  </a:txBody>
                  <a:tcPr anchor="ctr"/>
                </a:tc>
              </a:tr>
              <a:tr h="1077115">
                <a:tc>
                  <a:txBody>
                    <a:bodyPr/>
                    <a:lstStyle/>
                    <a:p>
                      <a:pPr algn="l"/>
                      <a:r>
                        <a:rPr lang="en-US" sz="1400" i="1" u="sng" dirty="0" smtClean="0"/>
                        <a:t>Spearman :</a:t>
                      </a:r>
                    </a:p>
                    <a:p>
                      <a:pPr algn="ctr"/>
                      <a:r>
                        <a:rPr lang="en-US" sz="1400" dirty="0" smtClean="0"/>
                        <a:t>r = - 0,18</a:t>
                      </a:r>
                    </a:p>
                    <a:p>
                      <a:pPr algn="ctr"/>
                      <a:r>
                        <a:rPr lang="en-US" sz="1400" dirty="0" smtClean="0"/>
                        <a:t>p = 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rtl="0" eaLnBrk="1" latinLnBrk="0" hangingPunct="1"/>
                      <a:r>
                        <a:rPr kumimoji="0" lang="en-US" sz="1400" i="1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Spearman :</a:t>
                      </a:r>
                    </a:p>
                    <a:p>
                      <a:pPr marL="0" rtl="0" eaLnBrk="1" latinLnBrk="0" hangingPunct="1"/>
                      <a:r>
                        <a:rPr kumimoji="0" lang="en-US" sz="1400" i="0" u="non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r = 0,03</a:t>
                      </a:r>
                    </a:p>
                    <a:p>
                      <a:pPr marL="0" rtl="0" eaLnBrk="1" latinLnBrk="0" hangingPunct="1"/>
                      <a:r>
                        <a:rPr kumimoji="0" lang="en-US" sz="1400" i="0" u="non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en-US" sz="1400" i="0" u="non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 = 0,000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Profil clients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000" dirty="0"/>
              <a:t>Comportement selon </a:t>
            </a:r>
            <a:r>
              <a:rPr lang="fr-FR" sz="2000" dirty="0" smtClean="0"/>
              <a:t>l’âge </a:t>
            </a:r>
            <a:r>
              <a:rPr lang="fr-FR" sz="2000" dirty="0"/>
              <a:t>(tests statistiques) 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11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62" y="1673325"/>
            <a:ext cx="2113063" cy="20622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00192" y="1651898"/>
            <a:ext cx="2077247" cy="21200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62" y="3854443"/>
            <a:ext cx="2122587" cy="2167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"/>
          <a:stretch/>
        </p:blipFill>
        <p:spPr bwMode="auto">
          <a:xfrm>
            <a:off x="6272832" y="3854828"/>
            <a:ext cx="2156793" cy="21677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032901"/>
              </p:ext>
            </p:extLst>
          </p:nvPr>
        </p:nvGraphicFramePr>
        <p:xfrm>
          <a:off x="3059832" y="4005236"/>
          <a:ext cx="3024336" cy="2017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1512168"/>
              </a:tblGrid>
              <a:tr h="100868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/>
                        <a:t>Paniers moyens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/>
                        <a:t>Catégories de livres</a:t>
                      </a:r>
                      <a:endParaRPr lang="fr-FR" sz="1600" dirty="0"/>
                    </a:p>
                  </a:txBody>
                  <a:tcPr anchor="ctr"/>
                </a:tc>
              </a:tr>
              <a:tr h="1008682">
                <a:tc>
                  <a:txBody>
                    <a:bodyPr/>
                    <a:lstStyle/>
                    <a:p>
                      <a:r>
                        <a:rPr lang="en-US" sz="1400" i="1" u="sng" dirty="0" smtClean="0"/>
                        <a:t>Spearman :</a:t>
                      </a:r>
                    </a:p>
                    <a:p>
                      <a:pPr algn="ctr"/>
                      <a:r>
                        <a:rPr lang="en-US" sz="1400" dirty="0" smtClean="0"/>
                        <a:t>r = - 0,62</a:t>
                      </a:r>
                    </a:p>
                    <a:p>
                      <a:pPr algn="ctr"/>
                      <a:r>
                        <a:rPr lang="en-US" sz="1400" dirty="0" smtClean="0"/>
                        <a:t>p = 0,000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i-FI" sz="1400" i="1" u="sng" dirty="0" smtClean="0"/>
                        <a:t>Kruskal-Wallis :</a:t>
                      </a:r>
                    </a:p>
                    <a:p>
                      <a:pPr algn="l"/>
                      <a:r>
                        <a:rPr lang="fi-FI" sz="1400" dirty="0" smtClean="0"/>
                        <a:t>     H = 71 283,58</a:t>
                      </a:r>
                    </a:p>
                    <a:p>
                      <a:pPr algn="l"/>
                      <a:r>
                        <a:rPr lang="fi-FI" sz="1400" baseline="0" dirty="0" smtClean="0"/>
                        <a:t>     </a:t>
                      </a:r>
                      <a:r>
                        <a:rPr lang="fi-FI" sz="1400" dirty="0" smtClean="0"/>
                        <a:t>p = 0,000</a:t>
                      </a:r>
                      <a:endParaRPr lang="fr-FR" sz="1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6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 &amp; Recommandations</a:t>
            </a:r>
            <a:endParaRPr lang="fr-F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457200" y="1435224"/>
            <a:ext cx="8229600" cy="409600"/>
          </a:xfrm>
        </p:spPr>
        <p:txBody>
          <a:bodyPr>
            <a:normAutofit/>
          </a:bodyPr>
          <a:lstStyle/>
          <a:p>
            <a:pPr>
              <a:buClrTx/>
              <a:buSzPct val="100000"/>
              <a:buFont typeface="Symbol" panose="05050102010706020507" pitchFamily="18" charset="2"/>
              <a:buChar char="Þ"/>
            </a:pPr>
            <a:r>
              <a:rPr lang="fr-FR" sz="2000" dirty="0" smtClean="0"/>
              <a:t> Activité du site convenable et stable sur les 2 années écoulées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30B7A-7CBE-4D9D-B685-75D4189C02F7}" type="slidenum">
              <a:rPr lang="fr-FR" smtClean="0"/>
              <a:t>12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-76432"/>
            <a:ext cx="1417200" cy="141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494601540"/>
              </p:ext>
            </p:extLst>
          </p:nvPr>
        </p:nvGraphicFramePr>
        <p:xfrm>
          <a:off x="467544" y="1844824"/>
          <a:ext cx="8232576" cy="1512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Content Placeholder 1"/>
          <p:cNvSpPr txBox="1">
            <a:spLocks/>
          </p:cNvSpPr>
          <p:nvPr/>
        </p:nvSpPr>
        <p:spPr>
          <a:xfrm>
            <a:off x="467544" y="3212976"/>
            <a:ext cx="8280920" cy="7612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Pct val="100000"/>
              <a:buFont typeface="Wingdings" panose="05000000000000000000" pitchFamily="2" charset="2"/>
              <a:buChar char="Ä"/>
            </a:pPr>
            <a:r>
              <a:rPr lang="fr-FR" sz="2000" u="sng" dirty="0" smtClean="0"/>
              <a:t>Recommandations</a:t>
            </a:r>
            <a:r>
              <a:rPr lang="fr-FR" sz="2000" dirty="0" smtClean="0"/>
              <a:t> </a:t>
            </a:r>
            <a:r>
              <a:rPr lang="fr-FR" sz="2000" dirty="0" smtClean="0"/>
              <a:t>:</a:t>
            </a:r>
            <a:endParaRPr lang="fr-FR" sz="2000" dirty="0" smtClean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50" y="3689881"/>
            <a:ext cx="1224136" cy="1013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547664" y="3689881"/>
            <a:ext cx="7200800" cy="253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400" dirty="0" smtClean="0"/>
              <a:t> Comportement </a:t>
            </a:r>
            <a:r>
              <a:rPr lang="fr-FR" sz="1400" dirty="0"/>
              <a:t>selon Age :  enquête client choix catégorie, panier moyen, fréquence achat…  </a:t>
            </a:r>
          </a:p>
          <a:p>
            <a:pPr>
              <a:buClr>
                <a:schemeClr val="accent4"/>
              </a:buClr>
              <a:buSzPct val="100000"/>
              <a:buFont typeface="Symbol" panose="05050102010706020507" pitchFamily="18" charset="2"/>
              <a:buChar char="Þ"/>
            </a:pPr>
            <a:r>
              <a:rPr lang="fr-FR" sz="1200" dirty="0"/>
              <a:t> </a:t>
            </a:r>
            <a:r>
              <a:rPr lang="fr-FR" sz="1200" dirty="0" smtClean="0"/>
              <a:t>campagne </a:t>
            </a:r>
            <a:r>
              <a:rPr lang="fr-FR" sz="1200" dirty="0"/>
              <a:t>ciblée en fonction des caractéristiques </a:t>
            </a:r>
            <a:r>
              <a:rPr lang="fr-FR" sz="1200" dirty="0" smtClean="0"/>
              <a:t>de l’âge </a:t>
            </a:r>
            <a:r>
              <a:rPr lang="fr-FR" sz="1200" dirty="0"/>
              <a:t>(difficulté financière, moins </a:t>
            </a:r>
            <a:r>
              <a:rPr lang="fr-FR" sz="1200" dirty="0" smtClean="0"/>
              <a:t>motivés </a:t>
            </a:r>
            <a:r>
              <a:rPr lang="fr-FR" sz="1200" dirty="0"/>
              <a:t>par lecture, promouvoir catégories moins intéressantes, etc</a:t>
            </a:r>
            <a:r>
              <a:rPr lang="fr-FR" sz="1200" dirty="0" smtClean="0"/>
              <a:t>.)</a:t>
            </a:r>
          </a:p>
          <a:p>
            <a:pPr>
              <a:buClr>
                <a:schemeClr val="accent4"/>
              </a:buClr>
              <a:buSzPct val="100000"/>
            </a:pPr>
            <a:endParaRPr lang="fr-FR" sz="1000" dirty="0"/>
          </a:p>
          <a:p>
            <a:pPr>
              <a:spcAft>
                <a:spcPts val="3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400" dirty="0" smtClean="0"/>
              <a:t> </a:t>
            </a:r>
            <a:r>
              <a:rPr lang="fr-FR" sz="1400" dirty="0"/>
              <a:t>Etude des prix : taux de marge convenables, prix trop élevés par rapport à la concurrence</a:t>
            </a:r>
          </a:p>
          <a:p>
            <a:pPr>
              <a:buClr>
                <a:schemeClr val="accent4"/>
              </a:buClr>
              <a:buSzPct val="100000"/>
              <a:buFont typeface="Symbol" panose="05050102010706020507" pitchFamily="18" charset="2"/>
              <a:buChar char=""/>
            </a:pPr>
            <a:r>
              <a:rPr lang="fr-FR" sz="1200" dirty="0"/>
              <a:t> amélioration des ventes, marges/performances et CA</a:t>
            </a:r>
          </a:p>
          <a:p>
            <a:pPr lvl="1">
              <a:buClr>
                <a:schemeClr val="accent4"/>
              </a:buClr>
              <a:buSzPct val="100000"/>
            </a:pPr>
            <a:endParaRPr lang="fr-FR" sz="1000" dirty="0"/>
          </a:p>
          <a:p>
            <a:pPr>
              <a:spcAft>
                <a:spcPts val="3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400" dirty="0"/>
              <a:t> Performances du site : </a:t>
            </a:r>
            <a:r>
              <a:rPr lang="fr-FR" sz="1400" i="1" dirty="0" smtClean="0"/>
              <a:t>« </a:t>
            </a:r>
            <a:r>
              <a:rPr lang="fr-FR" sz="1400" i="1" dirty="0" err="1" smtClean="0"/>
              <a:t>framework</a:t>
            </a:r>
            <a:r>
              <a:rPr lang="fr-FR" sz="1400" i="1" dirty="0" smtClean="0"/>
              <a:t> HEART » </a:t>
            </a:r>
            <a:endParaRPr lang="fr-FR" sz="1400" dirty="0"/>
          </a:p>
          <a:p>
            <a:pPr marL="742950" lvl="1" indent="-285750">
              <a:spcAft>
                <a:spcPts val="300"/>
              </a:spcAft>
              <a:buClr>
                <a:schemeClr val="accent4"/>
              </a:buClr>
              <a:buSzPct val="100000"/>
              <a:buFont typeface="Wingdings" panose="05000000000000000000" pitchFamily="2" charset="2"/>
              <a:buChar char="Ä"/>
            </a:pPr>
            <a:r>
              <a:rPr lang="fr-FR" sz="1200" dirty="0" smtClean="0"/>
              <a:t>enquête </a:t>
            </a:r>
            <a:r>
              <a:rPr lang="fr-FR" sz="1200" dirty="0"/>
              <a:t>satisfaction </a:t>
            </a:r>
            <a:r>
              <a:rPr lang="fr-FR" sz="1200" dirty="0" smtClean="0"/>
              <a:t>clients (</a:t>
            </a:r>
            <a:r>
              <a:rPr lang="fr-FR" sz="1200" dirty="0" err="1" smtClean="0"/>
              <a:t>Happiness</a:t>
            </a:r>
            <a:r>
              <a:rPr lang="fr-FR" sz="1200" dirty="0" smtClean="0"/>
              <a:t>), </a:t>
            </a:r>
            <a:r>
              <a:rPr lang="fr-FR" sz="1200" dirty="0"/>
              <a:t>nombre de </a:t>
            </a:r>
            <a:r>
              <a:rPr lang="fr-FR" sz="1200" dirty="0" smtClean="0"/>
              <a:t>clics/localisation </a:t>
            </a:r>
            <a:r>
              <a:rPr lang="fr-FR" sz="1200" dirty="0"/>
              <a:t>+ taux de rebond </a:t>
            </a:r>
            <a:r>
              <a:rPr lang="fr-FR" sz="1200" dirty="0" smtClean="0"/>
              <a:t>(Engagement), nombre d’utilisateurs (Adoption), fréquence de visite (</a:t>
            </a:r>
            <a:r>
              <a:rPr lang="fr-FR" sz="1200" dirty="0" err="1" smtClean="0"/>
              <a:t>Retention</a:t>
            </a:r>
            <a:r>
              <a:rPr lang="fr-FR" sz="1200" dirty="0" smtClean="0"/>
              <a:t>), taux </a:t>
            </a:r>
            <a:r>
              <a:rPr lang="fr-FR" sz="1200" dirty="0"/>
              <a:t>de </a:t>
            </a:r>
            <a:r>
              <a:rPr lang="fr-FR" sz="1200" dirty="0" smtClean="0"/>
              <a:t>conversion (</a:t>
            </a:r>
            <a:r>
              <a:rPr lang="fr-FR" sz="1200" dirty="0" err="1" smtClean="0"/>
              <a:t>Task</a:t>
            </a:r>
            <a:r>
              <a:rPr lang="fr-FR" sz="1200" dirty="0" smtClean="0"/>
              <a:t> </a:t>
            </a:r>
            <a:r>
              <a:rPr lang="fr-FR" sz="1200" dirty="0" err="1" smtClean="0"/>
              <a:t>Success</a:t>
            </a:r>
            <a:r>
              <a:rPr lang="fr-FR" sz="1200" dirty="0" smtClean="0"/>
              <a:t>)</a:t>
            </a:r>
          </a:p>
          <a:p>
            <a:pPr marL="171450" indent="-171450">
              <a:spcAft>
                <a:spcPts val="300"/>
              </a:spcAft>
              <a:buClr>
                <a:schemeClr val="accent4"/>
              </a:buClr>
              <a:buSzPct val="100000"/>
              <a:buFont typeface="Symbol" panose="05050102010706020507" pitchFamily="18" charset="2"/>
              <a:buChar char="Þ"/>
            </a:pPr>
            <a:r>
              <a:rPr lang="fr-FR" sz="1200" dirty="0"/>
              <a:t> améliorations </a:t>
            </a:r>
            <a:r>
              <a:rPr lang="fr-FR" sz="1200" dirty="0"/>
              <a:t>à apporter / optimisation du site lui-même</a:t>
            </a:r>
          </a:p>
          <a:p>
            <a:pPr>
              <a:buClr>
                <a:schemeClr val="accent4"/>
              </a:buClr>
              <a:buSzPct val="100000"/>
              <a:buFont typeface="Wingdings" panose="05000000000000000000" pitchFamily="2" charset="2"/>
              <a:buChar char="ü"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16281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566" y1="60449" x2="30566" y2="60449"/>
                        <a14:foregroundMark x1="35254" y1="66895" x2="35254" y2="66895"/>
                        <a14:foregroundMark x1="41504" y1="62891" x2="41504" y2="62891"/>
                        <a14:foregroundMark x1="45898" y1="63184" x2="45898" y2="63184"/>
                        <a14:foregroundMark x1="57031" y1="63184" x2="57031" y2="63184"/>
                        <a14:foregroundMark x1="60547" y1="62891" x2="60547" y2="62891"/>
                        <a14:foregroundMark x1="68555" y1="63184" x2="68555" y2="63184"/>
                        <a14:foregroundMark x1="44434" y1="39258" x2="44434" y2="39258"/>
                        <a14:foregroundMark x1="70801" y1="44531" x2="70801" y2="44531"/>
                        <a14:backgroundMark x1="40430" y1="65625" x2="40430" y2="65625"/>
                        <a14:backgroundMark x1="56348" y1="65430" x2="56348" y2="65430"/>
                        <a14:backgroundMark x1="70605" y1="62500" x2="70605" y2="62500"/>
                        <a14:backgroundMark x1="69531" y1="39844" x2="69531" y2="39844"/>
                        <a14:backgroundMark x1="33105" y1="39453" x2="33105" y2="39453"/>
                        <a14:backgroundMark x1="48828" y1="53711" x2="48828" y2="53711"/>
                        <a14:backgroundMark x1="57227" y1="51660" x2="57227" y2="516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598" y="1916435"/>
            <a:ext cx="3672805" cy="367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091193" y="1908121"/>
            <a:ext cx="49616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latin typeface="+mj-lt"/>
              </a:rPr>
              <a:t>Merci de votre attention</a:t>
            </a:r>
            <a:endParaRPr lang="fr-FR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028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7740000" cy="4781128"/>
          </a:xfrm>
          <a:noFill/>
        </p:spPr>
        <p:txBody>
          <a:bodyPr>
            <a:normAutofit/>
          </a:bodyPr>
          <a:lstStyle/>
          <a:p>
            <a:pPr>
              <a:buClrTx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Collecte, Préparation et Agrégation des données</a:t>
            </a:r>
          </a:p>
          <a:p>
            <a:pPr>
              <a:buClrTx/>
            </a:pPr>
            <a:endParaRPr lang="fr-FR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4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None/>
            </a:pP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mardi 04 avril 2023</a:t>
            </a:r>
            <a:endParaRPr lang="fr-FR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65376519"/>
              </p:ext>
            </p:extLst>
          </p:nvPr>
        </p:nvGraphicFramePr>
        <p:xfrm>
          <a:off x="683568" y="2060848"/>
          <a:ext cx="7992888" cy="3384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7544" y="5734417"/>
            <a:ext cx="19062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 smtClean="0"/>
              <a:t>* BDD : base de données</a:t>
            </a:r>
          </a:p>
          <a:p>
            <a:r>
              <a:rPr lang="fr-FR" sz="1100" i="1" dirty="0" smtClean="0"/>
              <a:t>  CSV : Comma Separated Value</a:t>
            </a:r>
            <a:endParaRPr lang="fr-FR" sz="1100" i="1" dirty="0"/>
          </a:p>
        </p:txBody>
      </p:sp>
    </p:spTree>
    <p:extLst>
      <p:ext uri="{BB962C8B-B14F-4D97-AF65-F5344CB8AC3E}">
        <p14:creationId xmlns:p14="http://schemas.microsoft.com/office/powerpoint/2010/main" val="22041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854</TotalTime>
  <Words>977</Words>
  <Application>Microsoft Office PowerPoint</Application>
  <PresentationFormat>On-screen Show (4:3)</PresentationFormat>
  <Paragraphs>216</Paragraphs>
  <Slides>14</Slides>
  <Notes>14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Origin</vt:lpstr>
      <vt:lpstr>Analyse de l’activité du site  de vente en ligne de la librairie</vt:lpstr>
      <vt:lpstr>Contexte</vt:lpstr>
      <vt:lpstr>Indicateurs de vente</vt:lpstr>
      <vt:lpstr>Indicateurs de vente</vt:lpstr>
      <vt:lpstr>Références</vt:lpstr>
      <vt:lpstr>Profil clients</vt:lpstr>
      <vt:lpstr>Profil clients</vt:lpstr>
      <vt:lpstr>Profil clients</vt:lpstr>
      <vt:lpstr>Profil clients</vt:lpstr>
      <vt:lpstr>Profil clients</vt:lpstr>
      <vt:lpstr>Profil clients</vt:lpstr>
      <vt:lpstr>Conclusion &amp; Recommandations</vt:lpstr>
      <vt:lpstr>PowerPoint Presentation</vt:lpstr>
      <vt:lpstr> Méthodologie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 Inc.</dc:creator>
  <cp:lastModifiedBy>HP Inc.</cp:lastModifiedBy>
  <cp:revision>103</cp:revision>
  <cp:lastPrinted>2026-01-26T15:46:03Z</cp:lastPrinted>
  <dcterms:created xsi:type="dcterms:W3CDTF">2025-11-25T13:19:09Z</dcterms:created>
  <dcterms:modified xsi:type="dcterms:W3CDTF">2026-02-09T17:19:25Z</dcterms:modified>
</cp:coreProperties>
</file>