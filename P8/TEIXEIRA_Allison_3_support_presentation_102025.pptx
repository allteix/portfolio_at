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76" r:id="rId1"/>
  </p:sldMasterIdLst>
  <p:notesMasterIdLst>
    <p:notesMasterId r:id="rId15"/>
  </p:notesMasterIdLst>
  <p:sldIdLst>
    <p:sldId id="257" r:id="rId2"/>
    <p:sldId id="259" r:id="rId3"/>
    <p:sldId id="260" r:id="rId4"/>
    <p:sldId id="276" r:id="rId5"/>
    <p:sldId id="261" r:id="rId6"/>
    <p:sldId id="268" r:id="rId7"/>
    <p:sldId id="271" r:id="rId8"/>
    <p:sldId id="272" r:id="rId9"/>
    <p:sldId id="273" r:id="rId10"/>
    <p:sldId id="274" r:id="rId11"/>
    <p:sldId id="267" r:id="rId12"/>
    <p:sldId id="263" r:id="rId13"/>
    <p:sldId id="264" r:id="rId14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P Inc." initials="HI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109" autoAdjust="0"/>
  </p:normalViewPr>
  <p:slideViewPr>
    <p:cSldViewPr>
      <p:cViewPr>
        <p:scale>
          <a:sx n="100" d="100"/>
          <a:sy n="100" d="100"/>
        </p:scale>
        <p:origin x="-1944" y="-2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hyperlink" Target="TEIXEIRA_Allison_2_fichier_csv_102025.csv" TargetMode="Externa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hyperlink" Target="TEIXEIRA_Allison_2_fichier_csv_102025.csv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7472619-B4CF-4F5F-B5CD-2C460212461B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</dgm:pt>
    <dgm:pt modelId="{84C9240C-5549-4CA5-95CF-53BE47CDAF1B}">
      <dgm:prSet phldrT="[Text]" custT="1"/>
      <dgm:spPr/>
      <dgm:t>
        <a:bodyPr/>
        <a:lstStyle/>
        <a:p>
          <a:pPr algn="ctr">
            <a:spcAft>
              <a:spcPts val="0"/>
            </a:spcAft>
          </a:pPr>
          <a:r>
            <a:rPr lang="fr-FR" sz="16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des données SIRH</a:t>
          </a:r>
          <a:r>
            <a:rPr lang="fr-FR" sz="1400" i="1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600" i="0" u="sng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ctr">
            <a:spcAft>
              <a:spcPts val="0"/>
            </a:spcAft>
          </a:pPr>
          <a:r>
            <a:rPr lang="fr-FR" sz="1600" i="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algn="ctr">
            <a:spcAft>
              <a:spcPct val="35000"/>
            </a:spcAft>
          </a:pPr>
          <a:r>
            <a:rPr lang="fr-FR" sz="1600" i="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Importation</a:t>
          </a:r>
        </a:p>
        <a:p>
          <a:pPr algn="ctr">
            <a:spcAft>
              <a:spcPct val="35000"/>
            </a:spcAft>
          </a:pPr>
          <a:endParaRPr lang="fr-FR" sz="1600" i="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algn="ctr">
            <a:spcAft>
              <a:spcPct val="35000"/>
            </a:spcAft>
          </a:pPr>
          <a:endParaRPr lang="fr-FR" sz="2000" i="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ACC7429-C73F-46B4-8EDF-81254A19FBE3}" type="parTrans" cxnId="{988AEDFE-A003-4CE1-83A3-EACB64A6ECC5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57285FA-BBC1-4BB5-9089-D23532A96DE4}" type="sibTrans" cxnId="{988AEDFE-A003-4CE1-83A3-EACB64A6ECC5}">
      <dgm:prSet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877CEF0-A4D1-4D23-B308-F477353B853B}">
      <dgm:prSet phldrT="[Text]" custT="1"/>
      <dgm:spPr/>
      <dgm:t>
        <a:bodyPr/>
        <a:lstStyle/>
        <a:p>
          <a:pPr algn="ctr">
            <a:spcAft>
              <a:spcPts val="600"/>
            </a:spcAft>
          </a:pPr>
          <a:r>
            <a:rPr lang="fr-FR" sz="16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Nettoyage des données</a:t>
          </a:r>
          <a:endParaRPr lang="fr-FR" sz="1600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21202B5-5AA8-43BE-8DCC-D5CEDF949409}" type="parTrans" cxnId="{29EC83A5-F932-4FF6-B545-1E951CE8E099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E9A1603-D8B2-4436-9034-B3F08E426A55}" type="sibTrans" cxnId="{29EC83A5-F932-4FF6-B545-1E951CE8E099}">
      <dgm:prSet custT="1"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1B8BAB1-85B6-4CD7-ABF2-ECC8665691DA}">
      <dgm:prSet phldrT="[Text]" custT="1"/>
      <dgm:spPr/>
      <dgm:t>
        <a:bodyPr/>
        <a:lstStyle/>
        <a:p>
          <a:pPr algn="ctr">
            <a:spcAft>
              <a:spcPts val="600"/>
            </a:spcAft>
          </a:pPr>
          <a:r>
            <a:rPr lang="fr-FR" sz="16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Préparation  des données</a:t>
          </a:r>
          <a:endParaRPr lang="fr-FR" sz="1600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9CD4D98-AFDB-4935-BF74-62B991CE07B7}" type="parTrans" cxnId="{B113D84D-AB0D-4811-9619-107A6668A39C}">
      <dgm:prSet/>
      <dgm:spPr/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23BA74E-9860-45D4-A8DF-6C1E2E869D9F}" type="sibTrans" cxnId="{B113D84D-AB0D-4811-9619-107A6668A39C}">
      <dgm:prSet/>
      <dgm:spPr>
        <a:solidFill>
          <a:schemeClr val="tx2"/>
        </a:solidFill>
        <a:ln>
          <a:solidFill>
            <a:schemeClr val="tx2"/>
          </a:solidFill>
        </a:ln>
      </dgm:spPr>
      <dgm:t>
        <a:bodyPr/>
        <a:lstStyle/>
        <a:p>
          <a:endParaRPr lang="fr-FR" sz="18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41D957A-8D01-4F09-B910-7771A896C02A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100" i="1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Info_Pro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721B489-E743-4FC9-BD45-6F74978D07D8}" type="parTrans" cxnId="{D0A556AD-2CE0-4620-8A85-80D809F3491E}">
      <dgm:prSet/>
      <dgm:spPr/>
      <dgm:t>
        <a:bodyPr/>
        <a:lstStyle/>
        <a:p>
          <a:endParaRPr lang="fr-FR"/>
        </a:p>
      </dgm:t>
    </dgm:pt>
    <dgm:pt modelId="{D3CF57A9-E9F6-4B63-BE70-2D15786DDD8B}" type="sibTrans" cxnId="{D0A556AD-2CE0-4620-8A85-80D809F3491E}">
      <dgm:prSet/>
      <dgm:spPr/>
      <dgm:t>
        <a:bodyPr/>
        <a:lstStyle/>
        <a:p>
          <a:endParaRPr lang="fr-FR"/>
        </a:p>
      </dgm:t>
    </dgm:pt>
    <dgm:pt modelId="{D5ECF1AC-F607-401E-83DA-88FA2C2874B1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Rémunération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E083E7B-6082-48C8-B3CC-CAF7E7E15991}" type="parTrans" cxnId="{40B38B2C-81F9-4AFD-A097-5A4253719CD5}">
      <dgm:prSet/>
      <dgm:spPr/>
      <dgm:t>
        <a:bodyPr/>
        <a:lstStyle/>
        <a:p>
          <a:endParaRPr lang="fr-FR"/>
        </a:p>
      </dgm:t>
    </dgm:pt>
    <dgm:pt modelId="{7D0A841F-1839-46BA-9512-0AFD2CE0E7A9}" type="sibTrans" cxnId="{40B38B2C-81F9-4AFD-A097-5A4253719CD5}">
      <dgm:prSet/>
      <dgm:spPr/>
      <dgm:t>
        <a:bodyPr/>
        <a:lstStyle/>
        <a:p>
          <a:endParaRPr lang="fr-FR"/>
        </a:p>
      </dgm:t>
    </dgm:pt>
    <dgm:pt modelId="{92E55753-3259-4099-ABA7-8B0FD5EAF8E3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Salarié</a:t>
          </a:r>
          <a:endParaRPr lang="fr-FR" sz="1100" i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EED40A4-CB1E-49A7-BAF5-76B96E3A42D7}" type="parTrans" cxnId="{998AC5B6-B5DE-4472-86C3-5E3EB8A7CCD5}">
      <dgm:prSet/>
      <dgm:spPr/>
      <dgm:t>
        <a:bodyPr/>
        <a:lstStyle/>
        <a:p>
          <a:endParaRPr lang="fr-FR"/>
        </a:p>
      </dgm:t>
    </dgm:pt>
    <dgm:pt modelId="{B8553666-61DA-4529-9409-E1DCBB44F629}" type="sibTrans" cxnId="{998AC5B6-B5DE-4472-86C3-5E3EB8A7CCD5}">
      <dgm:prSet/>
      <dgm:spPr/>
      <dgm:t>
        <a:bodyPr/>
        <a:lstStyle/>
        <a:p>
          <a:endParaRPr lang="fr-FR"/>
        </a:p>
      </dgm:t>
    </dgm:pt>
    <dgm:pt modelId="{2CE20F62-19EB-4288-9525-DE28644AAC6A}">
      <dgm:prSet phldrT="[Text]" custT="1"/>
      <dgm:spPr/>
      <dgm:t>
        <a:bodyPr/>
        <a:lstStyle/>
        <a:p>
          <a:pPr algn="ctr">
            <a:spcAft>
              <a:spcPts val="0"/>
            </a:spcAft>
          </a:pPr>
          <a:r>
            <a:rPr lang="fr-FR" sz="1600" i="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Agrégation</a:t>
          </a:r>
        </a:p>
        <a:p>
          <a:pPr algn="ctr">
            <a:spcAft>
              <a:spcPts val="0"/>
            </a:spcAft>
          </a:pPr>
          <a:r>
            <a:rPr lang="fr-FR" sz="16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algn="ctr">
            <a:spcAft>
              <a:spcPts val="0"/>
            </a:spcAft>
          </a:pPr>
          <a:r>
            <a:rPr lang="fr-FR" sz="16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du fichier CSV</a:t>
          </a:r>
          <a:r>
            <a:rPr lang="fr-FR" sz="1400" i="1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600" i="1" u="sng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44E4B72-CFFF-42BA-9D41-A3990BD29ACA}" type="parTrans" cxnId="{E919F5D5-3906-4471-8938-07E6CA5380B0}">
      <dgm:prSet/>
      <dgm:spPr/>
      <dgm:t>
        <a:bodyPr/>
        <a:lstStyle/>
        <a:p>
          <a:endParaRPr lang="fr-FR"/>
        </a:p>
      </dgm:t>
    </dgm:pt>
    <dgm:pt modelId="{196B90ED-DC77-41CE-A9C7-F48A6DC0BE07}" type="sibTrans" cxnId="{E919F5D5-3906-4471-8938-07E6CA5380B0}">
      <dgm:prSet/>
      <dgm:spPr/>
      <dgm:t>
        <a:bodyPr/>
        <a:lstStyle/>
        <a:p>
          <a:endParaRPr lang="fr-FR"/>
        </a:p>
      </dgm:t>
    </dgm:pt>
    <dgm:pt modelId="{46F78372-9B4C-42DA-B7D0-F99AD9754471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Création données manquantes utiles (taux de travail, salaire EQTP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tranches d’âge/ancienneté)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A568D0A-5682-4067-ACE0-FDA35A5B98F3}" type="parTrans" cxnId="{510BA167-F14F-420B-BEF5-866BB6776386}">
      <dgm:prSet/>
      <dgm:spPr/>
      <dgm:t>
        <a:bodyPr/>
        <a:lstStyle/>
        <a:p>
          <a:endParaRPr lang="fr-FR"/>
        </a:p>
      </dgm:t>
    </dgm:pt>
    <dgm:pt modelId="{5AE94AE6-61D2-4E33-AE06-33E6B18F9465}" type="sibTrans" cxnId="{510BA167-F14F-420B-BEF5-866BB6776386}">
      <dgm:prSet/>
      <dgm:spPr/>
      <dgm:t>
        <a:bodyPr/>
        <a:lstStyle/>
        <a:p>
          <a:endParaRPr lang="fr-FR"/>
        </a:p>
      </dgm:t>
    </dgm:pt>
    <dgm:pt modelId="{9129C108-B320-4755-AA4D-D2E3FFC53897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5BE42F3-4F11-4918-871D-E3C2515004A5}" type="parTrans" cxnId="{225F6F29-E429-4594-812D-144BB6911C2D}">
      <dgm:prSet/>
      <dgm:spPr/>
      <dgm:t>
        <a:bodyPr/>
        <a:lstStyle/>
        <a:p>
          <a:endParaRPr lang="fr-FR"/>
        </a:p>
      </dgm:t>
    </dgm:pt>
    <dgm:pt modelId="{9650BBDB-1CD2-4CCD-AE14-9BFA971DE120}" type="sibTrans" cxnId="{225F6F29-E429-4594-812D-144BB6911C2D}">
      <dgm:prSet/>
      <dgm:spPr/>
      <dgm:t>
        <a:bodyPr/>
        <a:lstStyle/>
        <a:p>
          <a:endParaRPr lang="fr-FR"/>
        </a:p>
      </dgm:t>
    </dgm:pt>
    <dgm:pt modelId="{5475822E-A8EA-46AA-8369-48948A407317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endParaRPr lang="fr-FR" sz="14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AF66799-8895-40E1-861B-F27CBDF3B2ED}" type="parTrans" cxnId="{A7A31815-CEA4-4897-95C2-C0ADE02C851D}">
      <dgm:prSet/>
      <dgm:spPr/>
      <dgm:t>
        <a:bodyPr/>
        <a:lstStyle/>
        <a:p>
          <a:endParaRPr lang="fr-FR"/>
        </a:p>
      </dgm:t>
    </dgm:pt>
    <dgm:pt modelId="{A419E3B0-84A7-4305-AFE9-551BFAC18527}" type="sibTrans" cxnId="{A7A31815-CEA4-4897-95C2-C0ADE02C851D}">
      <dgm:prSet/>
      <dgm:spPr/>
      <dgm:t>
        <a:bodyPr/>
        <a:lstStyle/>
        <a:p>
          <a:endParaRPr lang="fr-FR"/>
        </a:p>
      </dgm:t>
    </dgm:pt>
    <dgm:pt modelId="{88B1FB14-2636-41A4-8CFB-39D1163EBDDF}">
      <dgm:prSet phldrT="[Text]" custT="1"/>
      <dgm:spPr/>
      <dgm:t>
        <a:bodyPr/>
        <a:lstStyle/>
        <a:p>
          <a:pPr algn="l">
            <a:spcAft>
              <a:spcPts val="6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Double jointure externe id_salarié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B83C3FD-7ADC-44BA-95EC-14026264319C}" type="parTrans" cxnId="{03AB7D16-B01E-432A-96F5-61E1CB81CE59}">
      <dgm:prSet/>
      <dgm:spPr/>
      <dgm:t>
        <a:bodyPr/>
        <a:lstStyle/>
        <a:p>
          <a:endParaRPr lang="fr-FR"/>
        </a:p>
      </dgm:t>
    </dgm:pt>
    <dgm:pt modelId="{FFB5B3AD-0164-4B49-8FA4-558A4EF76CC3}" type="sibTrans" cxnId="{03AB7D16-B01E-432A-96F5-61E1CB81CE59}">
      <dgm:prSet/>
      <dgm:spPr/>
      <dgm:t>
        <a:bodyPr/>
        <a:lstStyle/>
        <a:p>
          <a:endParaRPr lang="fr-FR"/>
        </a:p>
      </dgm:t>
    </dgm:pt>
    <dgm:pt modelId="{3B491C05-59B1-40BE-8A1B-4CE57D854E1F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xmlns:r="http://schemas.openxmlformats.org/officeDocument/2006/relationships" r:id="rId1" action="ppaction://hlinkfile"/>
            </a:rPr>
            <a:t>TEIXEIRA_Allison_2_fichier_csv_102025.csv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1089895-6C9D-4E49-B3A0-E4BF906A7366}" type="parTrans" cxnId="{7A86B3A4-B518-4A86-A7CE-A22B7960D880}">
      <dgm:prSet/>
      <dgm:spPr/>
      <dgm:t>
        <a:bodyPr/>
        <a:lstStyle/>
        <a:p>
          <a:endParaRPr lang="fr-FR"/>
        </a:p>
      </dgm:t>
    </dgm:pt>
    <dgm:pt modelId="{7DE69FD6-42FC-4F5C-96DA-601A3D329A23}" type="sibTrans" cxnId="{7A86B3A4-B518-4A86-A7CE-A22B7960D880}">
      <dgm:prSet/>
      <dgm:spPr/>
      <dgm:t>
        <a:bodyPr/>
        <a:lstStyle/>
        <a:p>
          <a:endParaRPr lang="fr-FR"/>
        </a:p>
      </dgm:t>
    </dgm:pt>
    <dgm:pt modelId="{C3BCF858-9FE2-49ED-AC3D-0B791AB22DF4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D94A2F0-5DDF-46B4-9E1E-8F9265A63AF0}" type="parTrans" cxnId="{D504AD0C-690A-4929-B7FE-97E5DDC80F85}">
      <dgm:prSet/>
      <dgm:spPr/>
      <dgm:t>
        <a:bodyPr/>
        <a:lstStyle/>
        <a:p>
          <a:endParaRPr lang="fr-FR"/>
        </a:p>
      </dgm:t>
    </dgm:pt>
    <dgm:pt modelId="{FC7D122D-3A8F-45E8-AF28-6432E440731C}" type="sibTrans" cxnId="{D504AD0C-690A-4929-B7FE-97E5DDC80F85}">
      <dgm:prSet/>
      <dgm:spPr/>
      <dgm:t>
        <a:bodyPr/>
        <a:lstStyle/>
        <a:p>
          <a:endParaRPr lang="fr-FR"/>
        </a:p>
      </dgm:t>
    </dgm:pt>
    <dgm:pt modelId="{BC91722B-6151-48FB-BDE0-F4816A9C642B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Anonymisation ID</a:t>
          </a:r>
          <a:r>
            <a: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endParaRPr lang="fr-FR" sz="10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D719BB0-86C4-4AAD-B9B7-8B03751E4AB6}" type="parTrans" cxnId="{0CBA5EDC-A2EE-4312-A7C1-E5272E800B6B}">
      <dgm:prSet/>
      <dgm:spPr/>
      <dgm:t>
        <a:bodyPr/>
        <a:lstStyle/>
        <a:p>
          <a:endParaRPr lang="fr-FR"/>
        </a:p>
      </dgm:t>
    </dgm:pt>
    <dgm:pt modelId="{126CDCEE-46D1-4E08-8EE1-085CFE70FB14}" type="sibTrans" cxnId="{0CBA5EDC-A2EE-4312-A7C1-E5272E800B6B}">
      <dgm:prSet/>
      <dgm:spPr/>
      <dgm:t>
        <a:bodyPr/>
        <a:lstStyle/>
        <a:p>
          <a:endParaRPr lang="fr-FR"/>
        </a:p>
      </dgm:t>
    </dgm:pt>
    <dgm:pt modelId="{A5AF53D2-8E30-4AF6-A0AC-9B643E72062A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des colonnes inutiles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3100922-B770-4C5D-A6EF-873869AD80E9}" type="parTrans" cxnId="{4543CEC7-67F4-442B-BF4E-D9B57110D8CF}">
      <dgm:prSet/>
      <dgm:spPr/>
      <dgm:t>
        <a:bodyPr/>
        <a:lstStyle/>
        <a:p>
          <a:endParaRPr lang="fr-FR"/>
        </a:p>
      </dgm:t>
    </dgm:pt>
    <dgm:pt modelId="{8295C64D-0D32-4BDB-8A36-29511EAD2A84}" type="sibTrans" cxnId="{4543CEC7-67F4-442B-BF4E-D9B57110D8CF}">
      <dgm:prSet/>
      <dgm:spPr/>
      <dgm:t>
        <a:bodyPr/>
        <a:lstStyle/>
        <a:p>
          <a:endParaRPr lang="fr-FR"/>
        </a:p>
      </dgm:t>
    </dgm:pt>
    <dgm:pt modelId="{2D17C5EB-949D-418E-A160-225AE71B3D99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Correction types des données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44C39C0-580F-428D-88B1-7B75A0BED2F5}" type="parTrans" cxnId="{9BE657A6-5E17-4B2C-B9E2-81208354805E}">
      <dgm:prSet/>
      <dgm:spPr/>
      <dgm:t>
        <a:bodyPr/>
        <a:lstStyle/>
        <a:p>
          <a:endParaRPr lang="fr-FR"/>
        </a:p>
      </dgm:t>
    </dgm:pt>
    <dgm:pt modelId="{6590C967-0DC1-44CF-9862-1D9B80F2EE8B}" type="sibTrans" cxnId="{9BE657A6-5E17-4B2C-B9E2-81208354805E}">
      <dgm:prSet/>
      <dgm:spPr/>
      <dgm:t>
        <a:bodyPr/>
        <a:lstStyle/>
        <a:p>
          <a:endParaRPr lang="fr-FR"/>
        </a:p>
      </dgm:t>
    </dgm:pt>
    <dgm:pt modelId="{67529C50-86B6-4BE1-BF87-8204F89E39D2}">
      <dgm:prSet phldrT="[Text]" custT="1"/>
      <dgm:spPr/>
      <dgm:t>
        <a:bodyPr/>
        <a:lstStyle/>
        <a:p>
          <a:pPr algn="l">
            <a:spcAft>
              <a:spcPct val="15000"/>
            </a:spcAft>
          </a:pPr>
          <a:r>
            <a: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Traitement valeurs aberrantes, manquantes, doublons…</a:t>
          </a:r>
          <a:endParaRPr lang="fr-FR" sz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8E42737-B656-49E1-82FA-F88F764C14B5}" type="parTrans" cxnId="{D60062C5-482D-4B37-B56D-21877077D3FE}">
      <dgm:prSet/>
      <dgm:spPr/>
      <dgm:t>
        <a:bodyPr/>
        <a:lstStyle/>
        <a:p>
          <a:endParaRPr lang="fr-FR"/>
        </a:p>
      </dgm:t>
    </dgm:pt>
    <dgm:pt modelId="{D11C0CC0-FB9C-4892-8C56-C2C7B6C183FC}" type="sibTrans" cxnId="{D60062C5-482D-4B37-B56D-21877077D3FE}">
      <dgm:prSet/>
      <dgm:spPr/>
      <dgm:t>
        <a:bodyPr/>
        <a:lstStyle/>
        <a:p>
          <a:endParaRPr lang="fr-FR"/>
        </a:p>
      </dgm:t>
    </dgm:pt>
    <dgm:pt modelId="{AA392096-63C9-4BA0-8C98-03BEB8EDC448}" type="pres">
      <dgm:prSet presAssocID="{D7472619-B4CF-4F5F-B5CD-2C460212461B}" presName="Name0" presStyleCnt="0">
        <dgm:presLayoutVars>
          <dgm:dir/>
          <dgm:resizeHandles val="exact"/>
        </dgm:presLayoutVars>
      </dgm:prSet>
      <dgm:spPr/>
    </dgm:pt>
    <dgm:pt modelId="{2F045C80-E267-4A74-86B7-5801F3C002C0}" type="pres">
      <dgm:prSet presAssocID="{84C9240C-5549-4CA5-95CF-53BE47CDAF1B}" presName="node" presStyleLbl="node1" presStyleIdx="0" presStyleCnt="4" custScaleY="256772" custLinFactNeighborY="-7810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B0C5DCFF-0B64-4406-9216-210C505BA04B}" type="pres">
      <dgm:prSet presAssocID="{C57285FA-BBC1-4BB5-9089-D23532A96DE4}" presName="sibTrans" presStyleLbl="sibTrans2D1" presStyleIdx="0" presStyleCnt="3"/>
      <dgm:spPr/>
      <dgm:t>
        <a:bodyPr/>
        <a:lstStyle/>
        <a:p>
          <a:endParaRPr lang="fr-FR"/>
        </a:p>
      </dgm:t>
    </dgm:pt>
    <dgm:pt modelId="{799A56FF-F9D2-4D32-99B1-02628FAB5E37}" type="pres">
      <dgm:prSet presAssocID="{C57285FA-BBC1-4BB5-9089-D23532A96DE4}" presName="connectorText" presStyleLbl="sibTrans2D1" presStyleIdx="0" presStyleCnt="3"/>
      <dgm:spPr/>
      <dgm:t>
        <a:bodyPr/>
        <a:lstStyle/>
        <a:p>
          <a:endParaRPr lang="fr-FR"/>
        </a:p>
      </dgm:t>
    </dgm:pt>
    <dgm:pt modelId="{9EB622EB-578C-4145-A911-192930FB844F}" type="pres">
      <dgm:prSet presAssocID="{A877CEF0-A4D1-4D23-B308-F477353B853B}" presName="node" presStyleLbl="node1" presStyleIdx="1" presStyleCnt="4" custScaleX="105117" custScaleY="256772" custLinFactNeighborY="713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2F8022DC-3C8B-4B8C-9677-A7155ED0D85B}" type="pres">
      <dgm:prSet presAssocID="{2E9A1603-D8B2-4436-9034-B3F08E426A55}" presName="sibTrans" presStyleLbl="sibTrans2D1" presStyleIdx="1" presStyleCnt="3"/>
      <dgm:spPr/>
      <dgm:t>
        <a:bodyPr/>
        <a:lstStyle/>
        <a:p>
          <a:endParaRPr lang="fr-FR"/>
        </a:p>
      </dgm:t>
    </dgm:pt>
    <dgm:pt modelId="{4A5E3875-6184-48A1-9C09-2368CDF70272}" type="pres">
      <dgm:prSet presAssocID="{2E9A1603-D8B2-4436-9034-B3F08E426A55}" presName="connectorText" presStyleLbl="sibTrans2D1" presStyleIdx="1" presStyleCnt="3"/>
      <dgm:spPr/>
      <dgm:t>
        <a:bodyPr/>
        <a:lstStyle/>
        <a:p>
          <a:endParaRPr lang="fr-FR"/>
        </a:p>
      </dgm:t>
    </dgm:pt>
    <dgm:pt modelId="{E162309F-38E1-4302-A903-5810781D3487}" type="pres">
      <dgm:prSet presAssocID="{A1B8BAB1-85B6-4CD7-ABF2-ECC8665691DA}" presName="node" presStyleLbl="node1" presStyleIdx="2" presStyleCnt="4" custScaleY="256772" custLinFactNeighborY="-3202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  <dgm:pt modelId="{0AA5DF8A-59DE-4521-9C0F-EE02E6AFEC87}" type="pres">
      <dgm:prSet presAssocID="{C23BA74E-9860-45D4-A8DF-6C1E2E869D9F}" presName="sibTrans" presStyleLbl="sibTrans2D1" presStyleIdx="2" presStyleCnt="3"/>
      <dgm:spPr/>
      <dgm:t>
        <a:bodyPr/>
        <a:lstStyle/>
        <a:p>
          <a:endParaRPr lang="fr-FR"/>
        </a:p>
      </dgm:t>
    </dgm:pt>
    <dgm:pt modelId="{CE9492A7-95D7-441A-87A0-6143EF231D0D}" type="pres">
      <dgm:prSet presAssocID="{C23BA74E-9860-45D4-A8DF-6C1E2E869D9F}" presName="connectorText" presStyleLbl="sibTrans2D1" presStyleIdx="2" presStyleCnt="3"/>
      <dgm:spPr/>
      <dgm:t>
        <a:bodyPr/>
        <a:lstStyle/>
        <a:p>
          <a:endParaRPr lang="fr-FR"/>
        </a:p>
      </dgm:t>
    </dgm:pt>
    <dgm:pt modelId="{5DFF3DC6-C6FD-4C9C-AD72-B577208768B0}" type="pres">
      <dgm:prSet presAssocID="{2CE20F62-19EB-4288-9525-DE28644AAC6A}" presName="node" presStyleLbl="node1" presStyleIdx="3" presStyleCnt="4" custScaleY="256743">
        <dgm:presLayoutVars>
          <dgm:bulletEnabled val="1"/>
        </dgm:presLayoutVars>
      </dgm:prSet>
      <dgm:spPr/>
      <dgm:t>
        <a:bodyPr/>
        <a:lstStyle/>
        <a:p>
          <a:endParaRPr lang="fr-FR"/>
        </a:p>
      </dgm:t>
    </dgm:pt>
  </dgm:ptLst>
  <dgm:cxnLst>
    <dgm:cxn modelId="{933C51EE-8898-45DF-96A4-F3FF7E7EBEB6}" type="presOf" srcId="{84C9240C-5549-4CA5-95CF-53BE47CDAF1B}" destId="{2F045C80-E267-4A74-86B7-5801F3C002C0}" srcOrd="0" destOrd="0" presId="urn:microsoft.com/office/officeart/2005/8/layout/process1"/>
    <dgm:cxn modelId="{7A86B3A4-B518-4A86-A7CE-A22B7960D880}" srcId="{2CE20F62-19EB-4288-9525-DE28644AAC6A}" destId="{3B491C05-59B1-40BE-8A1B-4CE57D854E1F}" srcOrd="4" destOrd="0" parTransId="{11089895-6C9D-4E49-B3A0-E4BF906A7366}" sibTransId="{7DE69FD6-42FC-4F5C-96DA-601A3D329A23}"/>
    <dgm:cxn modelId="{988AEDFE-A003-4CE1-83A3-EACB64A6ECC5}" srcId="{D7472619-B4CF-4F5F-B5CD-2C460212461B}" destId="{84C9240C-5549-4CA5-95CF-53BE47CDAF1B}" srcOrd="0" destOrd="0" parTransId="{2ACC7429-C73F-46B4-8EDF-81254A19FBE3}" sibTransId="{C57285FA-BBC1-4BB5-9089-D23532A96DE4}"/>
    <dgm:cxn modelId="{D504AD0C-690A-4929-B7FE-97E5DDC80F85}" srcId="{2CE20F62-19EB-4288-9525-DE28644AAC6A}" destId="{C3BCF858-9FE2-49ED-AC3D-0B791AB22DF4}" srcOrd="0" destOrd="0" parTransId="{5D94A2F0-5DDF-46B4-9E1E-8F9265A63AF0}" sibTransId="{FC7D122D-3A8F-45E8-AF28-6432E440731C}"/>
    <dgm:cxn modelId="{29EC83A5-F932-4FF6-B545-1E951CE8E099}" srcId="{D7472619-B4CF-4F5F-B5CD-2C460212461B}" destId="{A877CEF0-A4D1-4D23-B308-F477353B853B}" srcOrd="1" destOrd="0" parTransId="{E21202B5-5AA8-43BE-8DCC-D5CEDF949409}" sibTransId="{2E9A1603-D8B2-4436-9034-B3F08E426A55}"/>
    <dgm:cxn modelId="{A7A31815-CEA4-4897-95C2-C0ADE02C851D}" srcId="{2CE20F62-19EB-4288-9525-DE28644AAC6A}" destId="{5475822E-A8EA-46AA-8369-48948A407317}" srcOrd="2" destOrd="0" parTransId="{EAF66799-8895-40E1-861B-F27CBDF3B2ED}" sibTransId="{A419E3B0-84A7-4305-AFE9-551BFAC18527}"/>
    <dgm:cxn modelId="{F2CDD801-DD14-4363-9539-20CFD36EBB60}" type="presOf" srcId="{D5ECF1AC-F607-401E-83DA-88FA2C2874B1}" destId="{2F045C80-E267-4A74-86B7-5801F3C002C0}" srcOrd="0" destOrd="2" presId="urn:microsoft.com/office/officeart/2005/8/layout/process1"/>
    <dgm:cxn modelId="{F2283EED-A339-40C2-A2A0-10EC66A19595}" type="presOf" srcId="{A5AF53D2-8E30-4AF6-A0AC-9B643E72062A}" destId="{9EB622EB-578C-4145-A911-192930FB844F}" srcOrd="0" destOrd="2" presId="urn:microsoft.com/office/officeart/2005/8/layout/process1"/>
    <dgm:cxn modelId="{AE256AA9-CEFF-41CA-87A4-C4866B70918C}" type="presOf" srcId="{2E9A1603-D8B2-4436-9034-B3F08E426A55}" destId="{2F8022DC-3C8B-4B8C-9677-A7155ED0D85B}" srcOrd="0" destOrd="0" presId="urn:microsoft.com/office/officeart/2005/8/layout/process1"/>
    <dgm:cxn modelId="{B113D84D-AB0D-4811-9619-107A6668A39C}" srcId="{D7472619-B4CF-4F5F-B5CD-2C460212461B}" destId="{A1B8BAB1-85B6-4CD7-ABF2-ECC8665691DA}" srcOrd="2" destOrd="0" parTransId="{E9CD4D98-AFDB-4935-BF74-62B991CE07B7}" sibTransId="{C23BA74E-9860-45D4-A8DF-6C1E2E869D9F}"/>
    <dgm:cxn modelId="{9BE657A6-5E17-4B2C-B9E2-81208354805E}" srcId="{A877CEF0-A4D1-4D23-B308-F477353B853B}" destId="{2D17C5EB-949D-418E-A160-225AE71B3D99}" srcOrd="2" destOrd="0" parTransId="{F44C39C0-580F-428D-88B1-7B75A0BED2F5}" sibTransId="{6590C967-0DC1-44CF-9862-1D9B80F2EE8B}"/>
    <dgm:cxn modelId="{FC549843-D5D2-4835-9B65-0B8EFF05A550}" type="presOf" srcId="{3B491C05-59B1-40BE-8A1B-4CE57D854E1F}" destId="{5DFF3DC6-C6FD-4C9C-AD72-B577208768B0}" srcOrd="0" destOrd="5" presId="urn:microsoft.com/office/officeart/2005/8/layout/process1"/>
    <dgm:cxn modelId="{D0A556AD-2CE0-4620-8A85-80D809F3491E}" srcId="{84C9240C-5549-4CA5-95CF-53BE47CDAF1B}" destId="{741D957A-8D01-4F09-B910-7771A896C02A}" srcOrd="0" destOrd="0" parTransId="{C721B489-E743-4FC9-BD45-6F74978D07D8}" sibTransId="{D3CF57A9-E9F6-4B63-BE70-2D15786DDD8B}"/>
    <dgm:cxn modelId="{7B077FC7-3047-49BD-9AD7-40F702CCE033}" type="presOf" srcId="{9129C108-B320-4755-AA4D-D2E3FFC53897}" destId="{5DFF3DC6-C6FD-4C9C-AD72-B577208768B0}" srcOrd="0" destOrd="2" presId="urn:microsoft.com/office/officeart/2005/8/layout/process1"/>
    <dgm:cxn modelId="{C7CD2C73-9D30-425A-BE53-E2B7F2D2FDEB}" type="presOf" srcId="{88B1FB14-2636-41A4-8CFB-39D1163EBDDF}" destId="{5DFF3DC6-C6FD-4C9C-AD72-B577208768B0}" srcOrd="0" destOrd="4" presId="urn:microsoft.com/office/officeart/2005/8/layout/process1"/>
    <dgm:cxn modelId="{2382A7EA-EE81-422E-BBD4-727A754C7D44}" type="presOf" srcId="{C23BA74E-9860-45D4-A8DF-6C1E2E869D9F}" destId="{CE9492A7-95D7-441A-87A0-6143EF231D0D}" srcOrd="1" destOrd="0" presId="urn:microsoft.com/office/officeart/2005/8/layout/process1"/>
    <dgm:cxn modelId="{52C33938-547F-4703-93DF-E755A6C7BCB7}" type="presOf" srcId="{5475822E-A8EA-46AA-8369-48948A407317}" destId="{5DFF3DC6-C6FD-4C9C-AD72-B577208768B0}" srcOrd="0" destOrd="3" presId="urn:microsoft.com/office/officeart/2005/8/layout/process1"/>
    <dgm:cxn modelId="{B34C849A-FA95-4FEE-8B69-F0DE10FF2D2C}" type="presOf" srcId="{2D17C5EB-949D-418E-A160-225AE71B3D99}" destId="{9EB622EB-578C-4145-A911-192930FB844F}" srcOrd="0" destOrd="3" presId="urn:microsoft.com/office/officeart/2005/8/layout/process1"/>
    <dgm:cxn modelId="{82B3D88C-7082-45F1-B368-084BA1DE68A3}" type="presOf" srcId="{67529C50-86B6-4BE1-BF87-8204F89E39D2}" destId="{9EB622EB-578C-4145-A911-192930FB844F}" srcOrd="0" destOrd="4" presId="urn:microsoft.com/office/officeart/2005/8/layout/process1"/>
    <dgm:cxn modelId="{31C5D365-4A46-4E4D-82A5-B005E9093406}" type="presOf" srcId="{A877CEF0-A4D1-4D23-B308-F477353B853B}" destId="{9EB622EB-578C-4145-A911-192930FB844F}" srcOrd="0" destOrd="0" presId="urn:microsoft.com/office/officeart/2005/8/layout/process1"/>
    <dgm:cxn modelId="{6ECC11C7-9E1E-422D-8CC8-F1B71D8FD18A}" type="presOf" srcId="{D7472619-B4CF-4F5F-B5CD-2C460212461B}" destId="{AA392096-63C9-4BA0-8C98-03BEB8EDC448}" srcOrd="0" destOrd="0" presId="urn:microsoft.com/office/officeart/2005/8/layout/process1"/>
    <dgm:cxn modelId="{225F6F29-E429-4594-812D-144BB6911C2D}" srcId="{2CE20F62-19EB-4288-9525-DE28644AAC6A}" destId="{9129C108-B320-4755-AA4D-D2E3FFC53897}" srcOrd="1" destOrd="0" parTransId="{55BE42F3-4F11-4918-871D-E3C2515004A5}" sibTransId="{9650BBDB-1CD2-4CCD-AE14-9BFA971DE120}"/>
    <dgm:cxn modelId="{510BA167-F14F-420B-BEF5-866BB6776386}" srcId="{A1B8BAB1-85B6-4CD7-ABF2-ECC8665691DA}" destId="{46F78372-9B4C-42DA-B7D0-F99AD9754471}" srcOrd="0" destOrd="0" parTransId="{AA568D0A-5682-4067-ACE0-FDA35A5B98F3}" sibTransId="{5AE94AE6-61D2-4E33-AE06-33E6B18F9465}"/>
    <dgm:cxn modelId="{31C0A18C-95C9-4DD1-A49F-B7D1A95D7DB7}" type="presOf" srcId="{BC91722B-6151-48FB-BDE0-F4816A9C642B}" destId="{9EB622EB-578C-4145-A911-192930FB844F}" srcOrd="0" destOrd="1" presId="urn:microsoft.com/office/officeart/2005/8/layout/process1"/>
    <dgm:cxn modelId="{40B38B2C-81F9-4AFD-A097-5A4253719CD5}" srcId="{84C9240C-5549-4CA5-95CF-53BE47CDAF1B}" destId="{D5ECF1AC-F607-401E-83DA-88FA2C2874B1}" srcOrd="1" destOrd="0" parTransId="{3E083E7B-6082-48C8-B3CC-CAF7E7E15991}" sibTransId="{7D0A841F-1839-46BA-9512-0AFD2CE0E7A9}"/>
    <dgm:cxn modelId="{0CDD7C1E-88A7-4244-A7F1-601D127165A1}" type="presOf" srcId="{2E9A1603-D8B2-4436-9034-B3F08E426A55}" destId="{4A5E3875-6184-48A1-9C09-2368CDF70272}" srcOrd="1" destOrd="0" presId="urn:microsoft.com/office/officeart/2005/8/layout/process1"/>
    <dgm:cxn modelId="{793E291B-ED75-4F55-80D4-1F8475A97818}" type="presOf" srcId="{C57285FA-BBC1-4BB5-9089-D23532A96DE4}" destId="{B0C5DCFF-0B64-4406-9216-210C505BA04B}" srcOrd="0" destOrd="0" presId="urn:microsoft.com/office/officeart/2005/8/layout/process1"/>
    <dgm:cxn modelId="{03AB7D16-B01E-432A-96F5-61E1CB81CE59}" srcId="{2CE20F62-19EB-4288-9525-DE28644AAC6A}" destId="{88B1FB14-2636-41A4-8CFB-39D1163EBDDF}" srcOrd="3" destOrd="0" parTransId="{9B83C3FD-7ADC-44BA-95EC-14026264319C}" sibTransId="{FFB5B3AD-0164-4B49-8FA4-558A4EF76CC3}"/>
    <dgm:cxn modelId="{0CBA5EDC-A2EE-4312-A7C1-E5272E800B6B}" srcId="{A877CEF0-A4D1-4D23-B308-F477353B853B}" destId="{BC91722B-6151-48FB-BDE0-F4816A9C642B}" srcOrd="0" destOrd="0" parTransId="{1D719BB0-86C4-4AAD-B9B7-8B03751E4AB6}" sibTransId="{126CDCEE-46D1-4E08-8EE1-085CFE70FB14}"/>
    <dgm:cxn modelId="{998AC5B6-B5DE-4472-86C3-5E3EB8A7CCD5}" srcId="{84C9240C-5549-4CA5-95CF-53BE47CDAF1B}" destId="{92E55753-3259-4099-ABA7-8B0FD5EAF8E3}" srcOrd="2" destOrd="0" parTransId="{BEED40A4-CB1E-49A7-BAF5-76B96E3A42D7}" sibTransId="{B8553666-61DA-4529-9409-E1DCBB44F629}"/>
    <dgm:cxn modelId="{3E25D687-FACE-4B9D-8023-ED9C8996E882}" type="presOf" srcId="{C3BCF858-9FE2-49ED-AC3D-0B791AB22DF4}" destId="{5DFF3DC6-C6FD-4C9C-AD72-B577208768B0}" srcOrd="0" destOrd="1" presId="urn:microsoft.com/office/officeart/2005/8/layout/process1"/>
    <dgm:cxn modelId="{CB84F1EE-99A6-4724-BB2D-1505D9C7C131}" type="presOf" srcId="{92E55753-3259-4099-ABA7-8B0FD5EAF8E3}" destId="{2F045C80-E267-4A74-86B7-5801F3C002C0}" srcOrd="0" destOrd="3" presId="urn:microsoft.com/office/officeart/2005/8/layout/process1"/>
    <dgm:cxn modelId="{C23A022B-2D68-43F6-9F29-DD53EEF3E677}" type="presOf" srcId="{741D957A-8D01-4F09-B910-7771A896C02A}" destId="{2F045C80-E267-4A74-86B7-5801F3C002C0}" srcOrd="0" destOrd="1" presId="urn:microsoft.com/office/officeart/2005/8/layout/process1"/>
    <dgm:cxn modelId="{4543CEC7-67F4-442B-BF4E-D9B57110D8CF}" srcId="{A877CEF0-A4D1-4D23-B308-F477353B853B}" destId="{A5AF53D2-8E30-4AF6-A0AC-9B643E72062A}" srcOrd="1" destOrd="0" parTransId="{93100922-B770-4C5D-A6EF-873869AD80E9}" sibTransId="{8295C64D-0D32-4BDB-8A36-29511EAD2A84}"/>
    <dgm:cxn modelId="{71F8747B-AD01-41DD-A973-6633E692C12B}" type="presOf" srcId="{C23BA74E-9860-45D4-A8DF-6C1E2E869D9F}" destId="{0AA5DF8A-59DE-4521-9C0F-EE02E6AFEC87}" srcOrd="0" destOrd="0" presId="urn:microsoft.com/office/officeart/2005/8/layout/process1"/>
    <dgm:cxn modelId="{2D6AC12E-4181-4668-9CF8-28982994DEA4}" type="presOf" srcId="{2CE20F62-19EB-4288-9525-DE28644AAC6A}" destId="{5DFF3DC6-C6FD-4C9C-AD72-B577208768B0}" srcOrd="0" destOrd="0" presId="urn:microsoft.com/office/officeart/2005/8/layout/process1"/>
    <dgm:cxn modelId="{E919F5D5-3906-4471-8938-07E6CA5380B0}" srcId="{D7472619-B4CF-4F5F-B5CD-2C460212461B}" destId="{2CE20F62-19EB-4288-9525-DE28644AAC6A}" srcOrd="3" destOrd="0" parTransId="{C44E4B72-CFFF-42BA-9D41-A3990BD29ACA}" sibTransId="{196B90ED-DC77-41CE-A9C7-F48A6DC0BE07}"/>
    <dgm:cxn modelId="{FE1558E1-EF31-455F-B335-FE1E3259D7FA}" type="presOf" srcId="{C57285FA-BBC1-4BB5-9089-D23532A96DE4}" destId="{799A56FF-F9D2-4D32-99B1-02628FAB5E37}" srcOrd="1" destOrd="0" presId="urn:microsoft.com/office/officeart/2005/8/layout/process1"/>
    <dgm:cxn modelId="{4688882B-A681-4180-953B-34DA478FE54B}" type="presOf" srcId="{A1B8BAB1-85B6-4CD7-ABF2-ECC8665691DA}" destId="{E162309F-38E1-4302-A903-5810781D3487}" srcOrd="0" destOrd="0" presId="urn:microsoft.com/office/officeart/2005/8/layout/process1"/>
    <dgm:cxn modelId="{D60062C5-482D-4B37-B56D-21877077D3FE}" srcId="{A877CEF0-A4D1-4D23-B308-F477353B853B}" destId="{67529C50-86B6-4BE1-BF87-8204F89E39D2}" srcOrd="3" destOrd="0" parTransId="{A8E42737-B656-49E1-82FA-F88F764C14B5}" sibTransId="{D11C0CC0-FB9C-4892-8C56-C2C7B6C183FC}"/>
    <dgm:cxn modelId="{D3836232-C5B7-494F-B30C-712C27E3784D}" type="presOf" srcId="{46F78372-9B4C-42DA-B7D0-F99AD9754471}" destId="{E162309F-38E1-4302-A903-5810781D3487}" srcOrd="0" destOrd="1" presId="urn:microsoft.com/office/officeart/2005/8/layout/process1"/>
    <dgm:cxn modelId="{56C41F02-CA34-4204-B5D2-C5A6BFDE2035}" type="presParOf" srcId="{AA392096-63C9-4BA0-8C98-03BEB8EDC448}" destId="{2F045C80-E267-4A74-86B7-5801F3C002C0}" srcOrd="0" destOrd="0" presId="urn:microsoft.com/office/officeart/2005/8/layout/process1"/>
    <dgm:cxn modelId="{5359C75D-29CE-4201-9185-759C5D662A80}" type="presParOf" srcId="{AA392096-63C9-4BA0-8C98-03BEB8EDC448}" destId="{B0C5DCFF-0B64-4406-9216-210C505BA04B}" srcOrd="1" destOrd="0" presId="urn:microsoft.com/office/officeart/2005/8/layout/process1"/>
    <dgm:cxn modelId="{E16DA426-278A-4B6F-9563-651D32A2E5F3}" type="presParOf" srcId="{B0C5DCFF-0B64-4406-9216-210C505BA04B}" destId="{799A56FF-F9D2-4D32-99B1-02628FAB5E37}" srcOrd="0" destOrd="0" presId="urn:microsoft.com/office/officeart/2005/8/layout/process1"/>
    <dgm:cxn modelId="{FEB2DDE7-7FF9-43F8-9AC2-4FF2AC697AB6}" type="presParOf" srcId="{AA392096-63C9-4BA0-8C98-03BEB8EDC448}" destId="{9EB622EB-578C-4145-A911-192930FB844F}" srcOrd="2" destOrd="0" presId="urn:microsoft.com/office/officeart/2005/8/layout/process1"/>
    <dgm:cxn modelId="{BB5AE927-2FB4-44E3-A645-B6D591C9503E}" type="presParOf" srcId="{AA392096-63C9-4BA0-8C98-03BEB8EDC448}" destId="{2F8022DC-3C8B-4B8C-9677-A7155ED0D85B}" srcOrd="3" destOrd="0" presId="urn:microsoft.com/office/officeart/2005/8/layout/process1"/>
    <dgm:cxn modelId="{4BC29C88-4EBB-4107-AF69-C13625AD54A6}" type="presParOf" srcId="{2F8022DC-3C8B-4B8C-9677-A7155ED0D85B}" destId="{4A5E3875-6184-48A1-9C09-2368CDF70272}" srcOrd="0" destOrd="0" presId="urn:microsoft.com/office/officeart/2005/8/layout/process1"/>
    <dgm:cxn modelId="{AEA50B16-2509-4DFE-A8C5-F18669FCE1CE}" type="presParOf" srcId="{AA392096-63C9-4BA0-8C98-03BEB8EDC448}" destId="{E162309F-38E1-4302-A903-5810781D3487}" srcOrd="4" destOrd="0" presId="urn:microsoft.com/office/officeart/2005/8/layout/process1"/>
    <dgm:cxn modelId="{583ABBF1-7230-4D58-B31F-6645C77D8C34}" type="presParOf" srcId="{AA392096-63C9-4BA0-8C98-03BEB8EDC448}" destId="{0AA5DF8A-59DE-4521-9C0F-EE02E6AFEC87}" srcOrd="5" destOrd="0" presId="urn:microsoft.com/office/officeart/2005/8/layout/process1"/>
    <dgm:cxn modelId="{5DA3FB2A-8220-4449-92D8-9A5D8F8E9831}" type="presParOf" srcId="{0AA5DF8A-59DE-4521-9C0F-EE02E6AFEC87}" destId="{CE9492A7-95D7-441A-87A0-6143EF231D0D}" srcOrd="0" destOrd="0" presId="urn:microsoft.com/office/officeart/2005/8/layout/process1"/>
    <dgm:cxn modelId="{036D6891-95EA-45A4-AA34-8E308903F9EB}" type="presParOf" srcId="{AA392096-63C9-4BA0-8C98-03BEB8EDC448}" destId="{5DFF3DC6-C6FD-4C9C-AD72-B577208768B0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045C80-E267-4A74-86B7-5801F3C002C0}">
      <dsp:nvSpPr>
        <dsp:cNvPr id="0" name=""/>
        <dsp:cNvSpPr/>
      </dsp:nvSpPr>
      <dsp:spPr>
        <a:xfrm>
          <a:off x="3772" y="0"/>
          <a:ext cx="1438402" cy="24120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des données SIRH</a:t>
          </a:r>
          <a:r>
            <a:rPr lang="fr-FR" sz="1400" i="1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600" i="0" u="sng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i="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fr-FR" sz="1600" i="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Importation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600" i="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2000" i="0" kern="1200" dirty="0" smtClean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i="1" kern="1200" dirty="0" err="1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Info_Pro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Rémunération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Salarié</a:t>
          </a:r>
          <a:endParaRPr lang="fr-FR" sz="1100" i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5901" y="42129"/>
        <a:ext cx="1354144" cy="2327742"/>
      </dsp:txXfrm>
    </dsp:sp>
    <dsp:sp modelId="{B0C5DCFF-0B64-4406-9216-210C505BA04B}">
      <dsp:nvSpPr>
        <dsp:cNvPr id="0" name=""/>
        <dsp:cNvSpPr/>
      </dsp:nvSpPr>
      <dsp:spPr>
        <a:xfrm>
          <a:off x="1586014" y="1027638"/>
          <a:ext cx="304941" cy="35672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solidFill>
            <a:schemeClr val="tx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586014" y="1098983"/>
        <a:ext cx="213459" cy="214033"/>
      </dsp:txXfrm>
    </dsp:sp>
    <dsp:sp modelId="{9EB622EB-578C-4145-A911-192930FB844F}">
      <dsp:nvSpPr>
        <dsp:cNvPr id="0" name=""/>
        <dsp:cNvSpPr/>
      </dsp:nvSpPr>
      <dsp:spPr>
        <a:xfrm>
          <a:off x="2017535" y="0"/>
          <a:ext cx="1512005" cy="24120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6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Nettoyage des données</a:t>
          </a:r>
          <a:endParaRPr lang="fr-FR" sz="16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Anonymisation ID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Suppression des colonnes inutiles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Correction types des données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Traitement valeurs aberrantes, manquantes, doublons…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061820" y="44285"/>
        <a:ext cx="1423435" cy="2323430"/>
      </dsp:txXfrm>
    </dsp:sp>
    <dsp:sp modelId="{2F8022DC-3C8B-4B8C-9677-A7155ED0D85B}">
      <dsp:nvSpPr>
        <dsp:cNvPr id="0" name=""/>
        <dsp:cNvSpPr/>
      </dsp:nvSpPr>
      <dsp:spPr>
        <a:xfrm>
          <a:off x="3673381" y="1027638"/>
          <a:ext cx="304941" cy="35672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solidFill>
            <a:schemeClr val="tx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8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673381" y="1098983"/>
        <a:ext cx="213459" cy="214033"/>
      </dsp:txXfrm>
    </dsp:sp>
    <dsp:sp modelId="{E162309F-38E1-4302-A903-5810781D3487}">
      <dsp:nvSpPr>
        <dsp:cNvPr id="0" name=""/>
        <dsp:cNvSpPr/>
      </dsp:nvSpPr>
      <dsp:spPr>
        <a:xfrm>
          <a:off x="4104901" y="0"/>
          <a:ext cx="1438402" cy="241200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600"/>
            </a:spcAft>
          </a:pPr>
          <a:r>
            <a:rPr lang="fr-FR" sz="16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Préparation  des données</a:t>
          </a:r>
          <a:endParaRPr lang="fr-FR" sz="1600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Création données manquantes utiles (taux de travail, salaire EQTP</a:t>
          </a:r>
          <a:r>
            <a:rPr lang="fr-FR" sz="1100" i="1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, tranches d’âge/ancienneté)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147030" y="42129"/>
        <a:ext cx="1354144" cy="2327742"/>
      </dsp:txXfrm>
    </dsp:sp>
    <dsp:sp modelId="{0AA5DF8A-59DE-4521-9C0F-EE02E6AFEC87}">
      <dsp:nvSpPr>
        <dsp:cNvPr id="0" name=""/>
        <dsp:cNvSpPr/>
      </dsp:nvSpPr>
      <dsp:spPr>
        <a:xfrm>
          <a:off x="5687144" y="1027638"/>
          <a:ext cx="304941" cy="35672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solidFill>
            <a:schemeClr val="tx2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fr-FR" sz="1500" kern="120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687144" y="1098983"/>
        <a:ext cx="213459" cy="214033"/>
      </dsp:txXfrm>
    </dsp:sp>
    <dsp:sp modelId="{5DFF3DC6-C6FD-4C9C-AD72-B577208768B0}">
      <dsp:nvSpPr>
        <dsp:cNvPr id="0" name=""/>
        <dsp:cNvSpPr/>
      </dsp:nvSpPr>
      <dsp:spPr>
        <a:xfrm>
          <a:off x="6118665" y="136"/>
          <a:ext cx="1438402" cy="241172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i="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Agrégation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+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ts val="0"/>
            </a:spcAft>
          </a:pPr>
          <a:r>
            <a:rPr lang="fr-FR" sz="1600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Extraction du fichier CSV</a:t>
          </a:r>
          <a:r>
            <a:rPr lang="fr-FR" sz="1400" i="1" u="sng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*</a:t>
          </a:r>
          <a:endParaRPr lang="fr-FR" sz="1600" i="1" u="sng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endParaRPr lang="fr-FR" sz="14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ts val="600"/>
            </a:spcAft>
            <a:buChar char="••"/>
          </a:pPr>
          <a:r>
            <a:rPr lang="fr-FR" sz="12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Double jointure externe id_salarié</a:t>
          </a:r>
          <a:endParaRPr lang="fr-FR" sz="12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fr-FR" sz="1000" kern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xmlns:r="http://schemas.openxmlformats.org/officeDocument/2006/relationships" r:id="rId1" action="ppaction://hlinkfile"/>
            </a:rPr>
            <a:t>TEIXEIRA_Allison_2_fichier_csv_102025.csv</a:t>
          </a:r>
          <a:endParaRPr lang="fr-FR" sz="1000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160794" y="42265"/>
        <a:ext cx="1354144" cy="23274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DB57A5-A297-434D-B1D9-87BED02343ED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BD1117-A048-499D-A42C-82ED20CC2E62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1301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/>
              <a:t>-&gt;</a:t>
            </a:r>
            <a:r>
              <a:rPr lang="fr-FR" sz="1200" baseline="0" dirty="0" smtClean="0"/>
              <a:t> </a:t>
            </a:r>
            <a:r>
              <a:rPr lang="fr-FR" sz="1200" dirty="0" smtClean="0"/>
              <a:t>Présentation méthode d’anonymisation et respect RGPD dans fichier CSV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D1117-A048-499D-A42C-82ED20CC2E62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3883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u="sng" dirty="0" smtClean="0"/>
              <a:t>Exemple </a:t>
            </a:r>
            <a:r>
              <a:rPr lang="fr-FR" u="sng" dirty="0" err="1" smtClean="0"/>
              <a:t>Missing</a:t>
            </a:r>
            <a:r>
              <a:rPr lang="fr-FR" u="sng" baseline="0" dirty="0" smtClean="0"/>
              <a:t> Value :</a:t>
            </a:r>
          </a:p>
          <a:p>
            <a:r>
              <a:rPr lang="fr-FR" baseline="0" dirty="0" smtClean="0"/>
              <a:t>	- suppression des lignes si valeur manquante pour Rémunération, Service, Sexe</a:t>
            </a:r>
          </a:p>
          <a:p>
            <a:r>
              <a:rPr lang="fr-FR" baseline="0" dirty="0" smtClean="0"/>
              <a:t>	- remplacer par 0 ou Non pour Augmentation, Promotion, </a:t>
            </a:r>
            <a:r>
              <a:rPr lang="fr-FR" baseline="0" dirty="0" err="1" smtClean="0"/>
              <a:t>Working_accident</a:t>
            </a:r>
            <a:r>
              <a:rPr lang="fr-FR" baseline="0" dirty="0" smtClean="0"/>
              <a:t> 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D1117-A048-499D-A42C-82ED20CC2E6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66460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Temps Partiel 70% privilégié</a:t>
            </a:r>
            <a:r>
              <a:rPr lang="fr-FR" baseline="0" dirty="0" smtClean="0"/>
              <a:t> car Standard dans les conventions collectives et seuil minimum permettant l’équilibre vie pro / vie perso en conservant les avantages sociaux (chômage, retraite, mutuelle…)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D1117-A048-499D-A42C-82ED20CC2E62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6975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Parité F/H également respectée</a:t>
            </a:r>
            <a:r>
              <a:rPr lang="fr-FR" baseline="0" dirty="0" smtClean="0"/>
              <a:t> : 125 ♀ / 131 ♂ =&gt; pas de biais de recrutement (ex : stéréotype de sexe)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BD1117-A048-499D-A42C-82ED20CC2E62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29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429064" y="3337560"/>
            <a:ext cx="6480048" cy="2301240"/>
          </a:xfrm>
        </p:spPr>
        <p:txBody>
          <a:bodyPr rIns="45720" anchor="t"/>
          <a:lstStyle>
            <a:lvl1pPr algn="r">
              <a:defRPr lang="en-US" b="1" cap="all" baseline="0" dirty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433050" y="1544812"/>
            <a:ext cx="6480048" cy="1752600"/>
          </a:xfrm>
        </p:spPr>
        <p:txBody>
          <a:bodyPr tIns="0" rIns="45720" bIns="0" anchor="b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4B8A53-3CD9-4001-BA32-A1E099F1D107}" type="datetime1">
              <a:rPr lang="fr-FR" smtClean="0"/>
              <a:t>12/11/2025</a:t>
            </a:fld>
            <a:endParaRPr lang="fr-FR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6105525" y="0"/>
            <a:ext cx="3038475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1608" y="1590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83837"/>
            <a:ext cx="6629400" cy="1826363"/>
          </a:xfrm>
        </p:spPr>
        <p:txBody>
          <a:bodyPr tIns="0" bIns="0" anchor="t"/>
          <a:lstStyle>
            <a:lvl1pPr algn="l">
              <a:buNone/>
              <a:defRPr sz="4200" b="1" cap="none" baseline="0">
                <a:ln w="5000" cmpd="sng">
                  <a:solidFill>
                    <a:schemeClr val="accent1">
                      <a:tint val="80000"/>
                      <a:shade val="99000"/>
                      <a:satMod val="50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63000"/>
                        <a:satMod val="255000"/>
                      </a:schemeClr>
                    </a:gs>
                    <a:gs pos="9000">
                      <a:schemeClr val="accent1">
                        <a:tint val="63000"/>
                        <a:satMod val="255000"/>
                      </a:schemeClr>
                    </a:gs>
                    <a:gs pos="53000">
                      <a:schemeClr val="accent1">
                        <a:shade val="60000"/>
                        <a:satMod val="100000"/>
                      </a:schemeClr>
                    </a:gs>
                    <a:gs pos="90000">
                      <a:schemeClr val="accent1">
                        <a:tint val="63000"/>
                        <a:satMod val="255000"/>
                      </a:schemeClr>
                    </a:gs>
                    <a:gs pos="100000">
                      <a:schemeClr val="accent1">
                        <a:tint val="63000"/>
                        <a:satMod val="255000"/>
                      </a:schemeClr>
                    </a:gs>
                  </a:gsLst>
                  <a:lin ang="5400000"/>
                </a:gradFill>
                <a:effectLst>
                  <a:outerShdw blurRad="50800" dist="38100" dir="5400000" algn="t" rotWithShape="0">
                    <a:prstClr val="black">
                      <a:alpha val="50000"/>
                    </a:prst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485800"/>
            <a:ext cx="6629400" cy="1066688"/>
          </a:xfrm>
        </p:spPr>
        <p:txBody>
          <a:bodyPr lIns="45720" tIns="0" rIns="45720" bIns="0" anchor="b"/>
          <a:lstStyle>
            <a:lvl1pPr marL="0" indent="0" algn="l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782E6-A986-487D-969E-59E80F6DF9FC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0" y="1600200"/>
            <a:ext cx="3657600" cy="45259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B96FC-05FB-4BBE-86AA-B7F90211A50F}" type="datetime1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86400"/>
            <a:ext cx="4040188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5486400"/>
            <a:ext cx="4041775" cy="838200"/>
          </a:xfrm>
        </p:spPr>
        <p:txBody>
          <a:bodyPr anchor="t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516912"/>
            <a:ext cx="4040188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516912"/>
            <a:ext cx="4041775" cy="39417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8A3F1F-5CA2-4C13-A409-324657ED15BD}" type="datetime1">
              <a:rPr lang="fr-FR" smtClean="0"/>
              <a:t>12/11/2025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7470648" cy="1143000"/>
          </a:xfrm>
        </p:spPr>
        <p:txBody>
          <a:bodyPr anchor="ctr"/>
          <a:lstStyle>
            <a:lvl1pPr algn="l">
              <a:defRPr sz="46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DA48D1-F259-42D1-B885-34611A617806}" type="datetime1">
              <a:rPr lang="fr-FR" smtClean="0"/>
              <a:t>12/11/2025</a:t>
            </a:fld>
            <a:endParaRPr lang="fr-FR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AEDD6-F890-47C8-BE17-EAAA2EF33F64}" type="datetime1">
              <a:rPr lang="fr-FR" smtClean="0"/>
              <a:t>12/11/2025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85528"/>
            <a:ext cx="3200400" cy="730250"/>
          </a:xfrm>
        </p:spPr>
        <p:txBody>
          <a:bodyPr tIns="0" bIns="0" anchor="t"/>
          <a:lstStyle>
            <a:lvl1pPr algn="l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214424"/>
            <a:ext cx="2743200" cy="914400"/>
          </a:xfrm>
        </p:spPr>
        <p:txBody>
          <a:bodyPr lIns="45720" tIns="0" rIns="45720" bIns="0" anchor="b"/>
          <a:lstStyle>
            <a:lvl1pPr marL="0" indent="0" algn="l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7086600" cy="3810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720E8-B799-4D37-8AE5-5244A0025BC2}" type="datetime1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56448" y="6422064"/>
            <a:ext cx="762000" cy="365125"/>
          </a:xfrm>
        </p:spPr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56732" y="1705709"/>
            <a:ext cx="3053868" cy="1253808"/>
          </a:xfrm>
        </p:spPr>
        <p:txBody>
          <a:bodyPr anchor="b"/>
          <a:lstStyle>
            <a:lvl1pPr algn="l">
              <a:buNone/>
              <a:defRPr sz="2200" b="1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65628" y="1019907"/>
            <a:ext cx="4114800" cy="4114800"/>
          </a:xfrm>
          <a:prstGeom prst="ellipse">
            <a:avLst/>
          </a:prstGeom>
          <a:solidFill>
            <a:schemeClr val="bg2">
              <a:shade val="50000"/>
            </a:schemeClr>
          </a:solidFill>
          <a:ln w="50800" cap="flat">
            <a:solidFill>
              <a:schemeClr val="bg2"/>
            </a:solidFill>
            <a:miter lim="800000"/>
          </a:ln>
          <a:effectLst>
            <a:outerShdw blurRad="152000" dist="345000" dir="5400000" sx="-80000" sy="-18000" rotWithShape="0">
              <a:srgbClr val="000000">
                <a:alpha val="25000"/>
              </a:srgbClr>
            </a:outerShdw>
          </a:effectLst>
          <a:scene3d>
            <a:camera prst="orthographicFront"/>
            <a:lightRig rig="contrasting" dir="t">
              <a:rot lat="0" lon="0" rev="2400000"/>
            </a:lightRig>
          </a:scene3d>
          <a:sp3d contourW="7620">
            <a:bevelT w="63500" h="63500"/>
            <a:contourClr>
              <a:schemeClr val="bg2">
                <a:shade val="50000"/>
              </a:schemeClr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56734" y="2998765"/>
            <a:ext cx="3053866" cy="2663482"/>
          </a:xfrm>
        </p:spPr>
        <p:txBody>
          <a:bodyPr lIns="45720" rIns="45720"/>
          <a:lstStyle>
            <a:lvl1pPr marL="0" indent="0">
              <a:buFontTx/>
              <a:buNone/>
              <a:defRPr sz="12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422064"/>
            <a:ext cx="2133600" cy="365125"/>
          </a:xfrm>
        </p:spPr>
        <p:txBody>
          <a:bodyPr/>
          <a:lstStyle/>
          <a:p>
            <a:fld id="{D897AEA1-0D50-4CF5-AC11-F00D21A2EBE6}" type="datetime1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5B8A6-383F-4114-A706-133E070D2272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7F504-B3F8-412F-B698-E2A083A0BE9B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/>
          <p:cNvSpPr>
            <a:spLocks/>
          </p:cNvSpPr>
          <p:nvPr/>
        </p:nvSpPr>
        <p:spPr bwMode="auto">
          <a:xfrm>
            <a:off x="0" y="4752126"/>
            <a:ext cx="9144000" cy="2112962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1066"/>
              </a:cxn>
              <a:cxn ang="0">
                <a:pos x="0" y="1331"/>
              </a:cxn>
              <a:cxn ang="0">
                <a:pos x="5760" y="1331"/>
              </a:cxn>
              <a:cxn ang="0">
                <a:pos x="5760" y="0"/>
              </a:cxn>
              <a:cxn ang="0">
                <a:pos x="0" y="1066"/>
              </a:cxn>
            </a:cxnLst>
            <a:rect l="0" t="0" r="0" b="0"/>
            <a:pathLst>
              <a:path w="5760" h="1331">
                <a:moveTo>
                  <a:pt x="0" y="1066"/>
                </a:moveTo>
                <a:lnTo>
                  <a:pt x="0" y="1331"/>
                </a:lnTo>
                <a:lnTo>
                  <a:pt x="5760" y="1331"/>
                </a:lnTo>
                <a:lnTo>
                  <a:pt x="5760" y="0"/>
                </a:lnTo>
                <a:cubicBezTo>
                  <a:pt x="3220" y="1206"/>
                  <a:pt x="2250" y="1146"/>
                  <a:pt x="0" y="1066"/>
                </a:cubicBezTo>
                <a:close/>
              </a:path>
            </a:pathLst>
          </a:custGeom>
          <a:solidFill>
            <a:schemeClr val="bg1">
              <a:tint val="80000"/>
              <a:satMod val="200000"/>
              <a:alpha val="4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44450" dir="16200000" algn="ctr" rotWithShape="0">
              <a:prstClr val="black">
                <a:alpha val="3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Freeform 15"/>
          <p:cNvSpPr>
            <a:spLocks/>
          </p:cNvSpPr>
          <p:nvPr/>
        </p:nvSpPr>
        <p:spPr bwMode="auto">
          <a:xfrm>
            <a:off x="7315200" y="0"/>
            <a:ext cx="1828800" cy="6858000"/>
          </a:xfrm>
          <a:custGeom>
            <a:avLst/>
            <a:gdLst>
              <a:gd name="connsiteX0" fmla="*/ 1914 w 1914"/>
              <a:gd name="connsiteY0" fmla="*/ 9 h 4329"/>
              <a:gd name="connsiteX1" fmla="*/ 1914 w 1914"/>
              <a:gd name="connsiteY1" fmla="*/ 4329 h 4329"/>
              <a:gd name="connsiteX2" fmla="*/ 204 w 1914"/>
              <a:gd name="connsiteY2" fmla="*/ 4327 h 4329"/>
              <a:gd name="connsiteX3" fmla="*/ 0 w 1914"/>
              <a:gd name="connsiteY3" fmla="*/ 0 h 4329"/>
              <a:gd name="connsiteX4" fmla="*/ 1914 w 1914"/>
              <a:gd name="connsiteY4" fmla="*/ 9 h 43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4" h="4329">
                <a:moveTo>
                  <a:pt x="1914" y="9"/>
                </a:moveTo>
                <a:lnTo>
                  <a:pt x="1914" y="4329"/>
                </a:lnTo>
                <a:lnTo>
                  <a:pt x="204" y="4327"/>
                </a:lnTo>
                <a:cubicBezTo>
                  <a:pt x="1288" y="3574"/>
                  <a:pt x="2082" y="1734"/>
                  <a:pt x="0" y="0"/>
                </a:cubicBezTo>
                <a:lnTo>
                  <a:pt x="1914" y="9"/>
                </a:lnTo>
                <a:close/>
              </a:path>
            </a:pathLst>
          </a:custGeom>
          <a:solidFill>
            <a:schemeClr val="bg1">
              <a:tint val="90000"/>
              <a:satMod val="350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50800" dir="10800000" algn="ctr" rotWithShape="0">
              <a:prstClr val="black">
                <a:alpha val="45000"/>
              </a:prstClr>
            </a:outerShdw>
          </a:effectLst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422064"/>
            <a:ext cx="2133600" cy="365125"/>
          </a:xfrm>
          <a:prstGeom prst="rect">
            <a:avLst/>
          </a:prstGeom>
        </p:spPr>
        <p:txBody>
          <a:bodyPr vert="horz" bIns="0" anchor="b"/>
          <a:lstStyle>
            <a:lvl1pPr algn="l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6658DFB8-F92D-4563-B6EA-94F40EB2487C}" type="datetime1">
              <a:rPr lang="fr-FR" smtClean="0"/>
              <a:t>12/11/2025</a:t>
            </a:fld>
            <a:endParaRPr lang="fr-FR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3124200" y="6422064"/>
            <a:ext cx="2895600" cy="365125"/>
          </a:xfrm>
          <a:prstGeom prst="rect">
            <a:avLst/>
          </a:prstGeom>
        </p:spPr>
        <p:txBody>
          <a:bodyPr vert="horz" lIns="0" rIns="0" bIns="0" anchor="b"/>
          <a:lstStyle>
            <a:lvl1pPr algn="ct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153400" y="6422064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000">
                <a:solidFill>
                  <a:schemeClr val="tx2">
                    <a:shade val="50000"/>
                  </a:schemeClr>
                </a:solidFill>
              </a:defRPr>
            </a:lvl1pPr>
          </a:lstStyle>
          <a:p>
            <a:fld id="{393C5D52-B121-4FC2-BB18-CD589AFC99A8}" type="slidenum">
              <a:rPr lang="fr-FR" smtClean="0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77" r:id="rId1"/>
    <p:sldLayoutId id="2147484178" r:id="rId2"/>
    <p:sldLayoutId id="2147484179" r:id="rId3"/>
    <p:sldLayoutId id="2147484180" r:id="rId4"/>
    <p:sldLayoutId id="2147484181" r:id="rId5"/>
    <p:sldLayoutId id="2147484182" r:id="rId6"/>
    <p:sldLayoutId id="2147484183" r:id="rId7"/>
    <p:sldLayoutId id="2147484184" r:id="rId8"/>
    <p:sldLayoutId id="2147484185" r:id="rId9"/>
    <p:sldLayoutId id="2147484186" r:id="rId10"/>
    <p:sldLayoutId id="214748418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20624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22376" indent="-274320" algn="l" rtl="0" eaLnBrk="1" latinLnBrk="0" hangingPunct="1">
        <a:spcBef>
          <a:spcPct val="20000"/>
        </a:spcBef>
        <a:buClr>
          <a:schemeClr val="accent1"/>
        </a:buClr>
        <a:buSzPct val="90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56032" algn="l" rtl="0" eaLnBrk="1" latinLnBrk="0" hangingPunct="1">
        <a:spcBef>
          <a:spcPct val="20000"/>
        </a:spcBef>
        <a:buClr>
          <a:schemeClr val="accent2"/>
        </a:buClr>
        <a:buSzPct val="85000"/>
        <a:buFont typeface="Arial"/>
        <a:buChar char="○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37744" algn="l" rtl="0" eaLnBrk="1" latinLnBrk="0" hangingPunct="1">
        <a:spcBef>
          <a:spcPct val="20000"/>
        </a:spcBef>
        <a:buClr>
          <a:schemeClr val="accent3"/>
        </a:buClr>
        <a:buSzPct val="9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90472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Arial"/>
        <a:buChar char="-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0784" indent="-182880" algn="l" rtl="0" eaLnBrk="1" latinLnBrk="0" hangingPunct="1">
        <a:spcBef>
          <a:spcPct val="20000"/>
        </a:spcBef>
        <a:buClr>
          <a:schemeClr val="accent5"/>
        </a:buClr>
        <a:buFont typeface="Arial"/>
        <a:buChar char="-"/>
        <a:defRPr kumimoji="0" sz="20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Arial"/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39696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▪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31720" indent="-182880" algn="l" rtl="0" eaLnBrk="1" latinLnBrk="0" hangingPunct="1">
        <a:spcBef>
          <a:spcPct val="20000"/>
        </a:spcBef>
        <a:buClr>
          <a:schemeClr val="accent6"/>
        </a:buClr>
        <a:buFont typeface="Arial"/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image" Target="../media/image6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pn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1919848"/>
            <a:ext cx="6984776" cy="2301240"/>
          </a:xfrm>
        </p:spPr>
        <p:txBody>
          <a:bodyPr anchor="ctr">
            <a:noAutofit/>
          </a:bodyPr>
          <a:lstStyle/>
          <a:p>
            <a:pPr algn="ctr"/>
            <a:r>
              <a:rPr lang="fr-FR" sz="4000" b="0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Présentation du Diagnostic de l’égalité F/H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3050" y="3212976"/>
            <a:ext cx="6480048" cy="1752600"/>
          </a:xfrm>
        </p:spPr>
        <p:txBody>
          <a:bodyPr>
            <a:normAutofit/>
          </a:bodyPr>
          <a:lstStyle/>
          <a:p>
            <a:r>
              <a:rPr lang="fr-FR" sz="2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TEIXEIRA Allison</a:t>
            </a:r>
          </a:p>
          <a:p>
            <a:fld id="{5AD2C0A2-2AC0-4713-B72C-4C19AFD5B8FE}" type="datetime2">
              <a:rPr lang="fr-FR" sz="240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mercredi 12 novembre 2025</a:t>
            </a:fld>
            <a:endParaRPr lang="fr-F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2622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45720" rIns="45720" anchor="ctr"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Contexte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525963"/>
          </a:xfrm>
          <a:noFill/>
        </p:spPr>
        <p:txBody>
          <a:bodyPr>
            <a:noAutofit/>
          </a:bodyPr>
          <a:lstStyle/>
          <a:p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Cabinet en fort développement avec actuellement </a:t>
            </a:r>
            <a:r>
              <a:rPr lang="fr-FR" sz="20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256 salariés</a:t>
            </a:r>
            <a:r>
              <a:rPr lang="fr-FR" sz="20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 développement encore en cours</a:t>
            </a:r>
          </a:p>
          <a:p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>
                <a:srgbClr val="FF0000"/>
              </a:buClr>
              <a:buSzPct val="120000"/>
              <a:buFont typeface="Symbol" panose="05050102010706020507" pitchFamily="18" charset="2"/>
              <a:buChar char="Þ"/>
            </a:pP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Obligation de calculer et publier le diagnostic et l’index d’égalité F/H</a:t>
            </a:r>
            <a:r>
              <a:rPr lang="fr-FR" sz="1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avant le 1</a:t>
            </a:r>
            <a:r>
              <a:rPr lang="fr-FR" sz="2000" baseline="30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mars </a:t>
            </a:r>
            <a:r>
              <a:rPr lang="fr-FR" sz="18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(obligatoire pour les entreprises &gt; 50 salariés)</a:t>
            </a:r>
          </a:p>
          <a:p>
            <a:pPr marL="36576" indent="0">
              <a:buNone/>
            </a:pPr>
            <a:endParaRPr lang="fr-FR" sz="20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Objectif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créer un outil permettant d’</a:t>
            </a:r>
            <a:r>
              <a:rPr lang="fr-FR" sz="2000" b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automatiser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le calcul de l’index et éléments nécessaires au diagnostic de l’égalité professionnelle F/H</a:t>
            </a:r>
          </a:p>
          <a:p>
            <a:pPr marL="36576" indent="0">
              <a:buClrTx/>
              <a:buNone/>
            </a:pP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None/>
            </a:pP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None/>
            </a:pP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None/>
            </a:pPr>
            <a:r>
              <a:rPr lang="fr-FR" sz="11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F/H = Femmes / Hommes</a:t>
            </a:r>
            <a:endParaRPr lang="fr-FR" sz="1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8276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7740000" cy="4781128"/>
          </a:xfrm>
          <a:noFill/>
        </p:spPr>
        <p:txBody>
          <a:bodyPr>
            <a:normAutofit/>
          </a:bodyPr>
          <a:lstStyle/>
          <a:p>
            <a:pPr>
              <a:buClrTx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Collecte, Préparation et Agrégation des données</a:t>
            </a:r>
          </a:p>
          <a:p>
            <a:pPr>
              <a:buClrTx/>
            </a:pPr>
            <a:endParaRPr lang="fr-FR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0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endParaRPr lang="fr-FR" sz="2400" u="sng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  <a:buSzPct val="120000"/>
              <a:buFont typeface="Symbol" panose="05050102010706020507" pitchFamily="18" charset="2"/>
              <a:buChar char="Þ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Pour le respect du RGPD* :</a:t>
            </a:r>
          </a:p>
          <a:p>
            <a:pPr marL="36576" indent="0">
              <a:buClrTx/>
              <a:buNone/>
            </a:pP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3</a:t>
            </a:fld>
            <a:endParaRPr lang="fr-FR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270068037"/>
              </p:ext>
            </p:extLst>
          </p:nvPr>
        </p:nvGraphicFramePr>
        <p:xfrm>
          <a:off x="535893" y="1988840"/>
          <a:ext cx="7560840" cy="241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07"/>
          <a:stretch/>
        </p:blipFill>
        <p:spPr bwMode="auto">
          <a:xfrm>
            <a:off x="930790" y="2996952"/>
            <a:ext cx="625417" cy="68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0627" y="3645793"/>
            <a:ext cx="513831" cy="5780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4723" y="3645024"/>
            <a:ext cx="513831" cy="57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91"/>
          <a:stretch/>
        </p:blipFill>
        <p:spPr bwMode="auto">
          <a:xfrm>
            <a:off x="6922252" y="3024059"/>
            <a:ext cx="468000" cy="5280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426"/>
          <a:stretch/>
        </p:blipFill>
        <p:spPr bwMode="auto">
          <a:xfrm>
            <a:off x="7405392" y="2996952"/>
            <a:ext cx="432000" cy="555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922185" y="188639"/>
            <a:ext cx="4000134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6576" indent="0">
              <a:buClrTx/>
              <a:buNone/>
            </a:pPr>
            <a:r>
              <a:rPr lang="fr-FR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SIRH : Système d’Information sur les Ressources Humaines</a:t>
            </a:r>
          </a:p>
          <a:p>
            <a:pPr marL="36576" indent="0">
              <a:buClrTx/>
              <a:buNone/>
            </a:pPr>
            <a:r>
              <a:rPr lang="fr-FR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ID : identifiant</a:t>
            </a:r>
          </a:p>
          <a:p>
            <a:pPr marL="36576" indent="0">
              <a:buClrTx/>
              <a:buNone/>
            </a:pPr>
            <a:r>
              <a:rPr lang="fr-FR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EQTP : Equivalent Temps Plein</a:t>
            </a:r>
          </a:p>
          <a:p>
            <a:pPr marL="36576" indent="0">
              <a:buClrTx/>
              <a:buNone/>
            </a:pPr>
            <a:r>
              <a:rPr lang="fr-FR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CSV : Comma </a:t>
            </a:r>
            <a:r>
              <a:rPr lang="fr-FR" sz="1100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Separated</a:t>
            </a:r>
            <a:r>
              <a:rPr lang="fr-FR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 (valeurs séparées par une virgule)</a:t>
            </a:r>
          </a:p>
          <a:p>
            <a:pPr marL="36576" indent="0">
              <a:buClrTx/>
              <a:buNone/>
            </a:pPr>
            <a:r>
              <a:rPr lang="fr-FR" sz="11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RGPD : Règlement Général de la Protection des </a:t>
            </a:r>
            <a:r>
              <a:rPr lang="fr-FR" sz="11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données</a:t>
            </a:r>
            <a:endParaRPr lang="fr-FR" sz="1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064409"/>
              </p:ext>
            </p:extLst>
          </p:nvPr>
        </p:nvGraphicFramePr>
        <p:xfrm>
          <a:off x="827584" y="4797152"/>
          <a:ext cx="7452314" cy="156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08314"/>
                <a:gridCol w="4644000"/>
              </a:tblGrid>
              <a:tr h="277270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Principe de proportionnalité et pertinence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 Suppression des données non pertinentes (distance domicile/travail…)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77270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Principe de finalité 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 données conservées dans un but précis, légal et légitime (diagnostic)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341840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Principe de sécurité et confidentialité 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 anonymisation id/ancienneté/âge + suppression données personnelles + accès restreint aux</a:t>
                      </a:r>
                      <a:r>
                        <a:rPr lang="fr-FR" sz="12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personnes habilitées (Vincent et moi)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77270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Principe de durée de conservation limitée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 données conservées</a:t>
                      </a:r>
                      <a:r>
                        <a:rPr lang="fr-FR" sz="12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 temps de l’analyse puis archivées 1 an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  <a:tr h="277270"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Principe du droit des personnes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2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= salariés informés de l’utilisation de leurs données</a:t>
                      </a:r>
                      <a:r>
                        <a:rPr lang="fr-FR" sz="1200" baseline="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et droits de recours</a:t>
                      </a:r>
                      <a:endParaRPr lang="fr-FR" sz="12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pic>
        <p:nvPicPr>
          <p:cNvPr id="18" name="Picture 3"/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867" t="8839" r="1261" b="-1"/>
          <a:stretch/>
        </p:blipFill>
        <p:spPr bwMode="auto">
          <a:xfrm>
            <a:off x="3544214" y="3758407"/>
            <a:ext cx="486085" cy="524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159253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Méthodologie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740000" cy="460648"/>
          </a:xfrm>
          <a:noFill/>
        </p:spPr>
        <p:txBody>
          <a:bodyPr>
            <a:normAutofit/>
          </a:bodyPr>
          <a:lstStyle/>
          <a:p>
            <a:pPr>
              <a:spcAft>
                <a:spcPts val="1200"/>
              </a:spcAft>
              <a:buClrTx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Vérification </a:t>
            </a: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la cohérence des données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4</a:t>
            </a:fld>
            <a:endParaRPr lang="fr-FR"/>
          </a:p>
        </p:txBody>
      </p:sp>
      <p:sp>
        <p:nvSpPr>
          <p:cNvPr id="10" name="TextBox 9"/>
          <p:cNvSpPr txBox="1"/>
          <p:nvPr/>
        </p:nvSpPr>
        <p:spPr>
          <a:xfrm>
            <a:off x="6372200" y="332656"/>
            <a:ext cx="1200329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005840" lvl="3" indent="0">
              <a:buClrTx/>
              <a:buSzPct val="100000"/>
              <a:buNone/>
            </a:pP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005840" lvl="3" indent="0">
              <a:buClrTx/>
              <a:buSzPct val="100000"/>
              <a:buNone/>
            </a:pP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/>
          </a:p>
        </p:txBody>
      </p:sp>
      <p:grpSp>
        <p:nvGrpSpPr>
          <p:cNvPr id="22" name="Group 21"/>
          <p:cNvGrpSpPr/>
          <p:nvPr/>
        </p:nvGrpSpPr>
        <p:grpSpPr>
          <a:xfrm>
            <a:off x="755576" y="2018108"/>
            <a:ext cx="7157096" cy="4147196"/>
            <a:chOff x="834624" y="2162124"/>
            <a:chExt cx="7157096" cy="4147196"/>
          </a:xfrm>
        </p:grpSpPr>
        <p:grpSp>
          <p:nvGrpSpPr>
            <p:cNvPr id="21" name="Group 20"/>
            <p:cNvGrpSpPr/>
            <p:nvPr/>
          </p:nvGrpSpPr>
          <p:grpSpPr>
            <a:xfrm>
              <a:off x="834624" y="2162124"/>
              <a:ext cx="7157096" cy="4147196"/>
              <a:chOff x="834624" y="2162124"/>
              <a:chExt cx="7157096" cy="4147196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834624" y="2162124"/>
                <a:ext cx="7157096" cy="4147196"/>
                <a:chOff x="834624" y="2162108"/>
                <a:chExt cx="7157096" cy="4147196"/>
              </a:xfrm>
            </p:grpSpPr>
            <p:grpSp>
              <p:nvGrpSpPr>
                <p:cNvPr id="15" name="Group 14"/>
                <p:cNvGrpSpPr/>
                <p:nvPr/>
              </p:nvGrpSpPr>
              <p:grpSpPr>
                <a:xfrm>
                  <a:off x="834624" y="2162108"/>
                  <a:ext cx="7157096" cy="4147196"/>
                  <a:chOff x="834624" y="2162108"/>
                  <a:chExt cx="7157096" cy="4147196"/>
                </a:xfrm>
              </p:grpSpPr>
              <p:sp>
                <p:nvSpPr>
                  <p:cNvPr id="11" name="Rounded Rectangle 10"/>
                  <p:cNvSpPr/>
                  <p:nvPr/>
                </p:nvSpPr>
                <p:spPr>
                  <a:xfrm>
                    <a:off x="1012472" y="2162108"/>
                    <a:ext cx="6048000" cy="1296000"/>
                  </a:xfrm>
                  <a:prstGeom prst="round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  <p:sp>
                <p:nvSpPr>
                  <p:cNvPr id="12" name="Rounded Rectangle 11"/>
                  <p:cNvSpPr/>
                  <p:nvPr/>
                </p:nvSpPr>
                <p:spPr>
                  <a:xfrm>
                    <a:off x="1576140" y="3573160"/>
                    <a:ext cx="5940000" cy="1296000"/>
                  </a:xfrm>
                  <a:prstGeom prst="round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sp>
                <p:nvSpPr>
                  <p:cNvPr id="9" name="Curved Right Arrow 8"/>
                  <p:cNvSpPr/>
                  <p:nvPr/>
                </p:nvSpPr>
                <p:spPr>
                  <a:xfrm rot="20394056">
                    <a:off x="834624" y="3120802"/>
                    <a:ext cx="673443" cy="1171510"/>
                  </a:xfrm>
                  <a:prstGeom prst="curvedRigh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3" name="Rounded Rectangle 12"/>
                  <p:cNvSpPr/>
                  <p:nvPr/>
                </p:nvSpPr>
                <p:spPr>
                  <a:xfrm>
                    <a:off x="2051720" y="5013304"/>
                    <a:ext cx="5940000" cy="1296000"/>
                  </a:xfrm>
                  <a:prstGeom prst="roundRect">
                    <a:avLst/>
                  </a:prstGeom>
                  <a:solidFill>
                    <a:schemeClr val="bg2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</p:grpSp>
            <p:sp>
              <p:nvSpPr>
                <p:cNvPr id="17" name="Rectangle 16"/>
                <p:cNvSpPr/>
                <p:nvPr/>
              </p:nvSpPr>
              <p:spPr>
                <a:xfrm>
                  <a:off x="1175226" y="2190199"/>
                  <a:ext cx="5629022" cy="123880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42900" indent="-342900">
                    <a:spcAft>
                      <a:spcPts val="600"/>
                    </a:spcAft>
                    <a:buSzPct val="100000"/>
                    <a:buFont typeface="+mj-lt"/>
                    <a:buAutoNum type="arabicPeriod"/>
                  </a:pPr>
                  <a:r>
                    <a:rPr lang="fr-FR" sz="1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Vérification des données en entrée pendant </a:t>
                  </a:r>
                  <a:r>
                    <a:rPr lang="fr-FR" sz="14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le Nettoyage </a:t>
                  </a:r>
                  <a:r>
                    <a:rPr lang="fr-FR" sz="1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des données</a:t>
                  </a:r>
                </a:p>
                <a:p>
                  <a:pPr marL="1348740" lvl="3" indent="-342900">
                    <a:spcAft>
                      <a:spcPts val="300"/>
                    </a:spcAft>
                    <a:buClrTx/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Suppression des données non nécessaires avec « </a:t>
                  </a:r>
                  <a:r>
                    <a:rPr lang="fr-FR" sz="1200" dirty="0" err="1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Column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fr-FR" sz="1200" dirty="0" err="1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Filter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»</a:t>
                  </a:r>
                </a:p>
                <a:p>
                  <a:pPr marL="1348740" lvl="3" indent="-342900">
                    <a:spcAft>
                      <a:spcPts val="300"/>
                    </a:spcAft>
                    <a:buClrTx/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ormats : conversion caractères en majuscules, salaire en nombre</a:t>
                  </a:r>
                  <a:endPara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1348740" lvl="3" indent="-342900">
                    <a:spcAft>
                      <a:spcPts val="300"/>
                    </a:spcAft>
                    <a:buClrTx/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Gestion des valeurs 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manquantes avec « </a:t>
                  </a:r>
                  <a:r>
                    <a:rPr lang="fr-FR" sz="1200" dirty="0" err="1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Missing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Value »</a:t>
                  </a:r>
                </a:p>
                <a:p>
                  <a:pPr marL="1348740" lvl="3" indent="-342900">
                    <a:spcAft>
                      <a:spcPts val="300"/>
                    </a:spcAft>
                    <a:buClrTx/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Gestion des valeurs aberrantes avec « </a:t>
                  </a:r>
                  <a:r>
                    <a:rPr lang="fr-FR" sz="1200" dirty="0" err="1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Rule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Engine »</a:t>
                  </a:r>
                  <a:endPara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8" name="Rectangle 17"/>
                <p:cNvSpPr/>
                <p:nvPr/>
              </p:nvSpPr>
              <p:spPr>
                <a:xfrm>
                  <a:off x="1738894" y="3675945"/>
                  <a:ext cx="5629022" cy="97719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33756" indent="-342900">
                    <a:spcAft>
                      <a:spcPts val="600"/>
                    </a:spcAft>
                    <a:buSzPct val="100000"/>
                    <a:buFont typeface="+mj-lt"/>
                    <a:buAutoNum type="arabicPeriod" startAt="2"/>
                  </a:pPr>
                  <a:r>
                    <a:rPr lang="fr-FR" sz="1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Validation des données utilisées avant le calcul des indicateurs</a:t>
                  </a:r>
                </a:p>
                <a:p>
                  <a:pPr marL="1348740" lvl="3" indent="-342900">
                    <a:spcAft>
                      <a:spcPts val="300"/>
                    </a:spcAft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Question de garder l’intégralité des salariés 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pour l’Index ?</a:t>
                  </a:r>
                  <a:endPara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1348740" lvl="3" indent="-342900">
                    <a:spcAft>
                      <a:spcPts val="300"/>
                    </a:spcAft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Vérification des conditions et validation des groupes de calcul à utiliser pour les indicateurs de l’Index avec « </a:t>
                  </a:r>
                  <a:r>
                    <a:rPr lang="fr-FR" sz="1200" dirty="0" err="1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Row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fr-FR" sz="1200" dirty="0" err="1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Filter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 »</a:t>
                  </a:r>
                  <a:endPara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  <p:sp>
              <p:nvSpPr>
                <p:cNvPr id="19" name="Rectangle 18"/>
                <p:cNvSpPr/>
                <p:nvPr/>
              </p:nvSpPr>
              <p:spPr>
                <a:xfrm>
                  <a:off x="2207209" y="5081472"/>
                  <a:ext cx="5629022" cy="120032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333756" indent="-342900">
                    <a:spcAft>
                      <a:spcPts val="600"/>
                    </a:spcAft>
                    <a:buSzPct val="100000"/>
                    <a:buFont typeface="+mj-lt"/>
                    <a:buAutoNum type="arabicPeriod" startAt="3"/>
                  </a:pPr>
                  <a:r>
                    <a:rPr lang="fr-FR" sz="1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Vérification des résultats obtenus</a:t>
                  </a:r>
                </a:p>
                <a:p>
                  <a:pPr marL="1348740" lvl="3" indent="-342900">
                    <a:spcAft>
                      <a:spcPts val="300"/>
                    </a:spcAft>
                    <a:buClrTx/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Gestion des valeurs 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manquantes après chaque calcul avec « </a:t>
                  </a:r>
                  <a:r>
                    <a:rPr lang="fr-FR" sz="1200" dirty="0" err="1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Missing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Value » </a:t>
                  </a:r>
                  <a:r>
                    <a:rPr lang="fr-FR" sz="1100" i="1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(exemple si résultat = 0 </a:t>
                  </a:r>
                  <a:r>
                    <a:rPr lang="fr-FR" sz="1100" i="1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ou </a:t>
                  </a:r>
                  <a:r>
                    <a:rPr lang="fr-FR" sz="1100" i="1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division par </a:t>
                  </a:r>
                  <a:r>
                    <a:rPr lang="fr-FR" sz="1100" i="1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0</a:t>
                  </a:r>
                  <a:r>
                    <a:rPr lang="fr-FR" sz="1100" i="1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)</a:t>
                  </a:r>
                  <a:endParaRPr lang="fr-FR" sz="1100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1348740" lvl="3" indent="-342900">
                    <a:spcAft>
                      <a:spcPts val="300"/>
                    </a:spcAft>
                    <a:buClrTx/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Contrôle visuel des données avec des Table </a:t>
                  </a:r>
                  <a:r>
                    <a:rPr lang="fr-FR" sz="1200" dirty="0" err="1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View</a:t>
                  </a:r>
                  <a:r>
                    <a:rPr lang="fr-FR" sz="12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et les graphiques</a:t>
                  </a:r>
                  <a:endPara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1348740" lvl="3" indent="-342900">
                    <a:spcAft>
                      <a:spcPts val="300"/>
                    </a:spcAft>
                    <a:buClrTx/>
                    <a:buSzPct val="100000"/>
                    <a:buFont typeface="Symbol" panose="05050102010706020507" pitchFamily="18" charset="2"/>
                    <a:buChar char="®"/>
                  </a:pPr>
                  <a:r>
                    <a:rPr lang="fr-FR" sz="1200" dirty="0" smtClean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Extractions en CSV pour d’éventuels contrôles/analyses externes</a:t>
                  </a:r>
                  <a:endParaRPr lang="fr-FR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pic>
            <p:nvPicPr>
              <p:cNvPr id="1030" name="Picture 6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83768" y="5445224"/>
                <a:ext cx="647700" cy="6953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pic>
            <p:nvPicPr>
              <p:cNvPr id="1031" name="Picture 7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69592" y="2564904"/>
                <a:ext cx="733425" cy="7334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</p:grpSp>
        <p:sp>
          <p:nvSpPr>
            <p:cNvPr id="28" name="Curved Right Arrow 27"/>
            <p:cNvSpPr/>
            <p:nvPr/>
          </p:nvSpPr>
          <p:spPr>
            <a:xfrm rot="20394056">
              <a:off x="1341507" y="4604808"/>
              <a:ext cx="673443" cy="1171510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3622" y="3861048"/>
            <a:ext cx="704850" cy="695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6225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525963"/>
          </a:xfrm>
          <a:noFill/>
        </p:spPr>
        <p:txBody>
          <a:bodyPr>
            <a:normAutofit/>
          </a:bodyPr>
          <a:lstStyle/>
          <a:p>
            <a:pPr>
              <a:buClrTx/>
            </a:pP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indicateurs choisis parmi les différents Domaines proposés et selon leur pertinence dans la représentation de l’égalité F/H :</a:t>
            </a:r>
          </a:p>
          <a:p>
            <a:pPr lvl="2">
              <a:lnSpc>
                <a:spcPct val="150000"/>
              </a:lnSpc>
              <a:buClrTx/>
              <a:buFont typeface="Symbol" panose="05050102010706020507" pitchFamily="18" charset="2"/>
              <a:buChar char=""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Rémunération moyenne mensuelle		</a:t>
            </a:r>
          </a:p>
          <a:p>
            <a:pPr lvl="2">
              <a:lnSpc>
                <a:spcPct val="150000"/>
              </a:lnSpc>
              <a:buClrTx/>
              <a:buFont typeface="Symbol" panose="05050102010706020507" pitchFamily="18" charset="2"/>
              <a:buChar char=""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effectifs par Service		</a:t>
            </a:r>
          </a:p>
          <a:p>
            <a:pPr lvl="2">
              <a:lnSpc>
                <a:spcPct val="150000"/>
              </a:lnSpc>
              <a:buClrTx/>
              <a:buFont typeface="Symbol" panose="05050102010706020507" pitchFamily="18" charset="2"/>
              <a:buChar char=""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effectifs par Type de Contrat	</a:t>
            </a:r>
          </a:p>
          <a:p>
            <a:pPr lvl="2">
              <a:lnSpc>
                <a:spcPct val="150000"/>
              </a:lnSpc>
              <a:buClrTx/>
              <a:buFont typeface="Symbol" panose="05050102010706020507" pitchFamily="18" charset="2"/>
              <a:buChar char=""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effectifs selon la Durée du Travail	</a:t>
            </a:r>
          </a:p>
          <a:p>
            <a:pPr lvl="2">
              <a:lnSpc>
                <a:spcPct val="150000"/>
              </a:lnSpc>
              <a:buClrTx/>
              <a:buFont typeface="Symbol" panose="05050102010706020507" pitchFamily="18" charset="2"/>
              <a:buChar char=""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Promotions internes		</a:t>
            </a:r>
          </a:p>
          <a:p>
            <a:pPr marL="164592" indent="0">
              <a:lnSpc>
                <a:spcPct val="150000"/>
              </a:lnSpc>
              <a:buClrTx/>
              <a:buNone/>
            </a:pPr>
            <a:endParaRPr lang="fr-FR" sz="105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ClrTx/>
            </a:pP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 de l’égalité professionnelle femmes-hommes (score /100)</a:t>
            </a:r>
          </a:p>
          <a:p>
            <a:pPr marL="448056" lvl="1" indent="0">
              <a:buClrTx/>
              <a:buNone/>
            </a:pP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(obligatoire pour les entreprises &gt; 50 salariés)</a:t>
            </a:r>
          </a:p>
          <a:p>
            <a:pPr lvl="2">
              <a:buClrTx/>
              <a:buFont typeface="Symbol" panose="05050102010706020507" pitchFamily="18" charset="2"/>
              <a:buChar char=""/>
            </a:pPr>
            <a:endParaRPr lang="fr-FR" sz="18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5</a:t>
            </a:fld>
            <a:endParaRPr lang="fr-FR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8393511"/>
              </p:ext>
            </p:extLst>
          </p:nvPr>
        </p:nvGraphicFramePr>
        <p:xfrm>
          <a:off x="6300192" y="2328732"/>
          <a:ext cx="1944216" cy="232440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/>
              </a:tblGrid>
              <a:tr h="436321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REMUNERATION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</a:tr>
              <a:tr h="436321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QUALIFICATION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  <a:tr h="436321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EMBAUCHE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  <a:tr h="558970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CONDITIONS DE TRAVAIL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</a:tr>
              <a:tr h="436321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PROMOTION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903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709120"/>
          </a:xfrm>
          <a:noFill/>
        </p:spPr>
        <p:txBody>
          <a:bodyPr>
            <a:normAutofit/>
          </a:bodyPr>
          <a:lstStyle/>
          <a:p>
            <a:pPr marL="493776" indent="-457200">
              <a:buClrTx/>
              <a:buSzPct val="100000"/>
              <a:buFont typeface="+mj-lt"/>
              <a:buAutoNum type="arabicPeriod"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Rémunération moyenne mensuelle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36576" indent="0">
              <a:buClrTx/>
              <a:buSzPct val="100000"/>
              <a:buNone/>
            </a:pP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11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endParaRPr lang="fr-FR" sz="11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6576" indent="0">
              <a:buClrTx/>
              <a:buSzPct val="100000"/>
              <a:buNone/>
            </a:pPr>
            <a:r>
              <a:rPr lang="fr-FR" sz="11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 ♀ : femmes</a:t>
            </a:r>
          </a:p>
          <a:p>
            <a:pPr marL="36576" indent="0">
              <a:buClrTx/>
              <a:buSzPct val="100000"/>
              <a:buNone/>
            </a:pPr>
            <a:r>
              <a:rPr lang="fr-FR" sz="11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♂ : hommes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6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5401" y="2175978"/>
            <a:ext cx="4839047" cy="3629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482055" y="2286352"/>
            <a:ext cx="3225849" cy="3113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92608">
              <a:spcBef>
                <a:spcPts val="24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assez équilibrée</a:t>
            </a:r>
          </a:p>
          <a:p>
            <a:pPr marL="742950" lvl="1" indent="-285750">
              <a:spcBef>
                <a:spcPts val="24"/>
              </a:spcBef>
              <a:buFont typeface="Wingdings" panose="05000000000000000000" pitchFamily="2" charset="2"/>
              <a:buChar char="Ä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écart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 148 € (2,65 %)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</a:t>
            </a: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faveur des hommes</a:t>
            </a:r>
          </a:p>
          <a:p>
            <a:pPr marL="621792" lvl="2" indent="0">
              <a:buClrTx/>
              <a:buNone/>
            </a:pP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indent="-292608">
              <a:spcBef>
                <a:spcPts val="24"/>
              </a:spcBef>
              <a:buFont typeface="Wingdings" panose="05000000000000000000" pitchFamily="2" charset="2"/>
              <a:buChar char="Ø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♀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vs 6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♂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dans le Top10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plus hautes rémunérations</a:t>
            </a:r>
          </a:p>
          <a:p>
            <a:pPr>
              <a:spcBef>
                <a:spcPts val="24"/>
              </a:spcBef>
            </a:pP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24"/>
              </a:spcBef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encore améliorable pour atteindre l’égalité salariale</a:t>
            </a:r>
          </a:p>
          <a:p>
            <a:pPr marL="800100" lvl="1" indent="-342900">
              <a:spcBef>
                <a:spcPts val="24"/>
              </a:spcBef>
              <a:buSzPct val="80000"/>
              <a:buFont typeface="Symbol" panose="05050102010706020507" pitchFamily="18" charset="2"/>
              <a:buChar char="®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combinée avec répartition postes/services</a:t>
            </a:r>
            <a:endParaRPr lang="fr-FR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153129"/>
              </p:ext>
            </p:extLst>
          </p:nvPr>
        </p:nvGraphicFramePr>
        <p:xfrm>
          <a:off x="5580112" y="1556792"/>
          <a:ext cx="1944216" cy="4363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/>
              </a:tblGrid>
              <a:tr h="436321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REMUNERATION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7125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525963"/>
          </a:xfrm>
          <a:noFill/>
        </p:spPr>
        <p:txBody>
          <a:bodyPr>
            <a:normAutofit/>
          </a:bodyPr>
          <a:lstStyle/>
          <a:p>
            <a:pPr marL="493776" indent="-457200">
              <a:buClrTx/>
              <a:buSzPct val="100000"/>
              <a:buFont typeface="+mj-lt"/>
              <a:buAutoNum type="arabicPeriod" startAt="2"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effectifs par Service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7</a:t>
            </a:fld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323528" y="2168564"/>
            <a:ext cx="3456384" cy="39190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92608">
              <a:spcBef>
                <a:spcPts val="24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hétérogène (60/40)</a:t>
            </a:r>
          </a:p>
          <a:p>
            <a:pPr marL="507492" lvl="1" indent="-342900">
              <a:spcBef>
                <a:spcPts val="24"/>
              </a:spcBef>
              <a:spcAft>
                <a:spcPts val="1000"/>
              </a:spcAft>
              <a:buFont typeface="Wingdings" panose="05000000000000000000" pitchFamily="2" charset="2"/>
              <a:buChar char="Ä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faveur des femmes sur les postes dits « féminins » = RH, Compta Finances, Commercial</a:t>
            </a:r>
          </a:p>
          <a:p>
            <a:pPr marL="507492" lvl="1" indent="-342900">
              <a:spcBef>
                <a:spcPts val="24"/>
              </a:spcBef>
              <a:spcAft>
                <a:spcPts val="1200"/>
              </a:spcAft>
              <a:buFont typeface="Wingdings" panose="05000000000000000000" pitchFamily="2" charset="2"/>
              <a:buChar char="Ä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 faveur des hommes sur les postes dits « masculins » = Consultants, Marketing, Informatique (</a:t>
            </a:r>
            <a:r>
              <a:rPr lang="fr-FR" sz="16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80/20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indent="-292608">
              <a:spcBef>
                <a:spcPts val="24"/>
              </a:spcBef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Présence évidente d’un </a:t>
            </a: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biais de stéréotype 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à corriger</a:t>
            </a:r>
          </a:p>
          <a:p>
            <a:pPr lvl="1" indent="-292608">
              <a:spcBef>
                <a:spcPts val="24"/>
              </a:spcBef>
              <a:spcAft>
                <a:spcPts val="1000"/>
              </a:spcAft>
              <a:buFont typeface="Symbol" panose="05050102010706020507" pitchFamily="18" charset="2"/>
              <a:buChar char="®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peut induire une inégalité dans les responsabilités accordées et les rémunérations pour les postes « féminisés »</a:t>
            </a:r>
            <a:endParaRPr lang="fr-FR" sz="16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966678"/>
              </p:ext>
            </p:extLst>
          </p:nvPr>
        </p:nvGraphicFramePr>
        <p:xfrm>
          <a:off x="5580112" y="1552519"/>
          <a:ext cx="1944216" cy="4363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/>
              </a:tblGrid>
              <a:tr h="436321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QUALIFICATION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161430"/>
            <a:ext cx="4858444" cy="36438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14635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525963"/>
          </a:xfrm>
          <a:noFill/>
        </p:spPr>
        <p:txBody>
          <a:bodyPr>
            <a:normAutofit/>
          </a:bodyPr>
          <a:lstStyle/>
          <a:p>
            <a:pPr marL="493776" indent="-457200">
              <a:buClrTx/>
              <a:buSzPct val="100000"/>
              <a:buFont typeface="+mj-lt"/>
              <a:buAutoNum type="arabicPeriod" startAt="3"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effectifs par Type de Contrat 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8</a:t>
            </a:fld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323528" y="2132856"/>
            <a:ext cx="3441873" cy="4193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92608">
              <a:spcBef>
                <a:spcPts val="24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90% des salariés en CDI :</a:t>
            </a:r>
          </a:p>
          <a:p>
            <a:pPr lvl="2" indent="-292608">
              <a:spcBef>
                <a:spcPts val="24"/>
              </a:spcBef>
              <a:buFont typeface="Wingdings" panose="05000000000000000000" pitchFamily="2" charset="2"/>
              <a:buChar char="Ä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91 % des ♀</a:t>
            </a:r>
          </a:p>
          <a:p>
            <a:pPr lvl="2" indent="-292608">
              <a:spcBef>
                <a:spcPts val="24"/>
              </a:spcBef>
              <a:spcAft>
                <a:spcPts val="600"/>
              </a:spcAft>
              <a:buFont typeface="Wingdings" panose="05000000000000000000" pitchFamily="2" charset="2"/>
              <a:buChar char="Ä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96 % des ♂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Bonne nouvelle mais reste une disparité de 5 % en faveur des hommes</a:t>
            </a:r>
          </a:p>
          <a:p>
            <a:endParaRPr lang="fr-FR" sz="12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Wingdings" panose="05000000000000000000" pitchFamily="2" charset="2"/>
              <a:buChar char="Ø"/>
            </a:pPr>
            <a:r>
              <a:rPr lang="fr-F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 de CDD mais concernent 2x plus de femmes que d’hommes</a:t>
            </a:r>
          </a:p>
          <a:p>
            <a:pPr>
              <a:spcAft>
                <a:spcPts val="300"/>
              </a:spcAft>
            </a:pPr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analyser plus en détails pour trouver la/les causes</a:t>
            </a:r>
          </a:p>
          <a:p>
            <a:r>
              <a:rPr lang="fr-FR" sz="1200" i="1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fr-FR" sz="1200" i="1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xemple :</a:t>
            </a:r>
          </a:p>
          <a:p>
            <a:pPr marL="285750" indent="-285750">
              <a:buFont typeface="Symbol" panose="05050102010706020507" pitchFamily="18" charset="2"/>
              <a:buChar char=""/>
            </a:pP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Politiques de recrutement ou promotion plus favorables aux hommes ?</a:t>
            </a:r>
          </a:p>
          <a:p>
            <a:pPr marL="285750" indent="-285750">
              <a:buFont typeface="Symbol" panose="05050102010706020507" pitchFamily="18" charset="2"/>
              <a:buChar char=""/>
            </a:pPr>
            <a:r>
              <a:rPr lang="fr-FR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Postes plus féminins et plus sujets aux contrats ponctuels (ex : consultant) ou avec turnover important ? Remplacements congés maternité ?</a:t>
            </a: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276871"/>
            <a:ext cx="4896544" cy="36724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867844"/>
              </p:ext>
            </p:extLst>
          </p:nvPr>
        </p:nvGraphicFramePr>
        <p:xfrm>
          <a:off x="5940152" y="1556793"/>
          <a:ext cx="1944216" cy="43204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/>
              </a:tblGrid>
              <a:tr h="432048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EMBAUCHE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6007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525963"/>
          </a:xfrm>
          <a:noFill/>
        </p:spPr>
        <p:txBody>
          <a:bodyPr>
            <a:normAutofit/>
          </a:bodyPr>
          <a:lstStyle/>
          <a:p>
            <a:pPr marL="493776" indent="-457200">
              <a:buClrTx/>
              <a:buSzPct val="100000"/>
              <a:buFont typeface="+mj-lt"/>
              <a:buAutoNum type="arabicPeriod" startAt="4"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effectifs selon la Durée du Travail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9</a:t>
            </a:fld>
            <a:endParaRPr lang="fr-FR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136221"/>
              </p:ext>
            </p:extLst>
          </p:nvPr>
        </p:nvGraphicFramePr>
        <p:xfrm>
          <a:off x="6372200" y="1412776"/>
          <a:ext cx="1944216" cy="579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/>
              </a:tblGrid>
              <a:tr h="558970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CONDITIONS DE TRAVAIL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30A0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323528" y="2132856"/>
            <a:ext cx="3441873" cy="414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92608">
              <a:spcBef>
                <a:spcPts val="24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85% des salariés Temps Plein :</a:t>
            </a:r>
          </a:p>
          <a:p>
            <a:pPr lvl="2" indent="-292608">
              <a:spcBef>
                <a:spcPts val="24"/>
              </a:spcBef>
              <a:buFont typeface="Wingdings" panose="05000000000000000000" pitchFamily="2" charset="2"/>
              <a:buChar char="Ä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88,8 % des ♀ (111)</a:t>
            </a:r>
          </a:p>
          <a:p>
            <a:pPr lvl="2" indent="-292608">
              <a:spcBef>
                <a:spcPts val="24"/>
              </a:spcBef>
              <a:spcAft>
                <a:spcPts val="1200"/>
              </a:spcAft>
              <a:buFont typeface="Wingdings" panose="05000000000000000000" pitchFamily="2" charset="2"/>
              <a:buChar char="Ä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87 % des ♂ (114)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Symbol" panose="05050102010706020507" pitchFamily="18" charset="2"/>
              <a:buChar char="®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utant de femmes que d’hommes à Temps Plein</a:t>
            </a:r>
          </a:p>
          <a:p>
            <a:pPr marL="285750" indent="-285750">
              <a:spcAft>
                <a:spcPts val="300"/>
              </a:spcAft>
              <a:buFont typeface="Symbol" panose="05050102010706020507" pitchFamily="18" charset="2"/>
              <a:buChar char="®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Equilibre retrouvé à Temps Partiel 70% (11 ♀ &amp; 11 ♂)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Mais les hommes ont plus recours au Temps Partiel que les femmes.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300"/>
              </a:spcAft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de sexe défavorisé donc pas de modification à apporter, juste maintenir le bon équilibre</a:t>
            </a:r>
          </a:p>
          <a:p>
            <a:pPr marL="742950" lvl="1" indent="-285750">
              <a:spcAft>
                <a:spcPts val="300"/>
              </a:spcAft>
              <a:buFont typeface="Wingdings" panose="05000000000000000000" pitchFamily="2" charset="2"/>
              <a:buChar char="Ä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pourquoi les hommes ont plus recours au Temps Partiel ?  </a:t>
            </a:r>
            <a:r>
              <a:rPr lang="fr-FR" sz="14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(ex : fin de carrière, paternité…)</a:t>
            </a:r>
            <a:endParaRPr lang="fr-FR" sz="1200" i="1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337" y="2161428"/>
            <a:ext cx="4890119" cy="3667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505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525963"/>
          </a:xfrm>
          <a:noFill/>
        </p:spPr>
        <p:txBody>
          <a:bodyPr>
            <a:normAutofit/>
          </a:bodyPr>
          <a:lstStyle/>
          <a:p>
            <a:pPr marL="493776" indent="-457200">
              <a:buClrTx/>
              <a:buSzPct val="100000"/>
              <a:buFont typeface="+mj-lt"/>
              <a:buAutoNum type="arabicPeriod" startAt="5"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des Promotions internes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10</a:t>
            </a:fld>
            <a:endParaRPr lang="fr-FR"/>
          </a:p>
        </p:txBody>
      </p:sp>
      <p:sp>
        <p:nvSpPr>
          <p:cNvPr id="7" name="TextBox 6"/>
          <p:cNvSpPr txBox="1"/>
          <p:nvPr/>
        </p:nvSpPr>
        <p:spPr>
          <a:xfrm>
            <a:off x="482055" y="2348880"/>
            <a:ext cx="3225849" cy="3775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92608">
              <a:spcBef>
                <a:spcPts val="24"/>
              </a:spcBef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équilibrée </a:t>
            </a:r>
          </a:p>
          <a:p>
            <a:pPr lvl="2" indent="-292608">
              <a:spcBef>
                <a:spcPts val="24"/>
              </a:spcBef>
              <a:spcAft>
                <a:spcPts val="1000"/>
              </a:spcAft>
              <a:buFont typeface="Wingdings" panose="05000000000000000000" pitchFamily="2" charset="2"/>
              <a:buChar char="Ä"/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écart de 0,8 % en faveur des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femmes</a:t>
            </a:r>
            <a:endParaRPr lang="fr-FR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24"/>
              </a:spcBef>
              <a:spcAft>
                <a:spcPts val="1000"/>
              </a:spcAft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politique de promotion actuelle a induit un léger biais en faveur des femmes</a:t>
            </a:r>
          </a:p>
          <a:p>
            <a:pPr>
              <a:spcBef>
                <a:spcPts val="24"/>
              </a:spcBef>
              <a:spcAft>
                <a:spcPts val="1000"/>
              </a:spcAft>
            </a:pPr>
            <a:endParaRPr lang="fr-FR" sz="1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Bef>
                <a:spcPts val="24"/>
              </a:spcBef>
              <a:spcAft>
                <a:spcPts val="1000"/>
              </a:spcAft>
              <a:buFont typeface="Symbol"/>
              <a:buChar char="Þ"/>
            </a:pP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Pas de grandes modifications à apporter mais attention à garder l’équilibre et ne pas basculer vers une défaveur envers les hommes</a:t>
            </a:r>
            <a:endParaRPr lang="fr-FR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912" y="2165622"/>
            <a:ext cx="4896544" cy="3672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6851181"/>
              </p:ext>
            </p:extLst>
          </p:nvPr>
        </p:nvGraphicFramePr>
        <p:xfrm>
          <a:off x="5580112" y="1556792"/>
          <a:ext cx="1944216" cy="43632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44216"/>
              </a:tblGrid>
              <a:tr h="436321">
                <a:tc>
                  <a:txBody>
                    <a:bodyPr/>
                    <a:lstStyle/>
                    <a:p>
                      <a:pPr marL="0" marR="0" lvl="2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dirty="0" smtClean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PROMOTION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6381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cap="all" dirty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Diagnostic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740000" cy="4525963"/>
          </a:xfrm>
          <a:noFill/>
        </p:spPr>
        <p:txBody>
          <a:bodyPr>
            <a:normAutofit/>
          </a:bodyPr>
          <a:lstStyle/>
          <a:p>
            <a:pPr marL="493776" indent="-457200">
              <a:buClrTx/>
              <a:buSzPct val="100000"/>
              <a:buFont typeface="+mj-lt"/>
              <a:buAutoNum type="arabicPeriod" startAt="6"/>
            </a:pPr>
            <a:r>
              <a:rPr lang="fr-FR" sz="20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Index de l’Egalité Professionnelle F/H </a:t>
            </a:r>
            <a:r>
              <a:rPr lang="fr-FR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11</a:t>
            </a:fld>
            <a:endParaRPr lang="fr-FR"/>
          </a:p>
        </p:txBody>
      </p:sp>
      <p:pic>
        <p:nvPicPr>
          <p:cNvPr id="6146" name="Picture 2" descr="C:\Users\Administrateur\Documents\Formation_data_analyst\Projets\Projet_8\livrables\illustrations\Notes des indicateurs utilisés pour l'Index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099464"/>
            <a:ext cx="5532510" cy="2212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6017542" y="2079670"/>
            <a:ext cx="2160240" cy="2232248"/>
          </a:xfrm>
          <a:prstGeom prst="roundRect">
            <a:avLst/>
          </a:prstGeom>
          <a:solidFill>
            <a:schemeClr val="bg2"/>
          </a:solidFill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200"/>
              </a:spcAft>
            </a:pPr>
            <a:r>
              <a:rPr lang="fr-FR" sz="2000" b="1" u="sng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 de l’entreprise :</a:t>
            </a:r>
            <a:endParaRPr lang="fr-FR" sz="10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fr-FR" sz="4000" b="1" dirty="0" smtClean="0">
                <a:ln>
                  <a:solidFill>
                    <a:srgbClr val="009900"/>
                  </a:solidFill>
                </a:ln>
                <a:solidFill>
                  <a:srgbClr val="0099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89 %</a:t>
            </a:r>
            <a:endParaRPr lang="fr-FR" sz="4000" b="1" dirty="0">
              <a:ln>
                <a:solidFill>
                  <a:srgbClr val="009900"/>
                </a:solidFill>
              </a:ln>
              <a:solidFill>
                <a:srgbClr val="0099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3631038"/>
            <a:ext cx="1080120" cy="59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323528" y="4383926"/>
            <a:ext cx="7854254" cy="2113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92608">
              <a:spcBef>
                <a:spcPts val="24"/>
              </a:spcBef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Score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excellent</a:t>
            </a:r>
            <a:r>
              <a:rPr lang="fr-FR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(&gt; 75 %)</a:t>
            </a:r>
          </a:p>
          <a:p>
            <a:pPr lvl="1">
              <a:spcBef>
                <a:spcPts val="24"/>
              </a:spcBef>
              <a:spcAft>
                <a:spcPts val="1000"/>
              </a:spcAft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=&gt; Selon réglementation = égalité de rémunération et de situation respectée entre les femmes et les hommes de l’entreprise</a:t>
            </a:r>
          </a:p>
          <a:p>
            <a:pPr indent="-292608">
              <a:spcBef>
                <a:spcPts val="24"/>
              </a:spcBef>
              <a:buFont typeface="Wingdings" panose="05000000000000000000" pitchFamily="2" charset="2"/>
              <a:buChar char="Ø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indicateurs / 5 avec note maximale</a:t>
            </a:r>
          </a:p>
          <a:p>
            <a:pPr>
              <a:spcBef>
                <a:spcPts val="24"/>
              </a:spcBef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+ Indicateurs Rémunérations et </a:t>
            </a:r>
          </a:p>
          <a:p>
            <a:pPr>
              <a:spcBef>
                <a:spcPts val="24"/>
              </a:spcBef>
            </a:pPr>
            <a:r>
              <a:rPr lang="fr-FR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Augmentations à 1 seuil de note maximale</a:t>
            </a:r>
            <a:endParaRPr lang="fr-FR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fr-FR" dirty="0"/>
          </a:p>
        </p:txBody>
      </p:sp>
      <p:sp>
        <p:nvSpPr>
          <p:cNvPr id="11" name="TextBox 10"/>
          <p:cNvSpPr txBox="1"/>
          <p:nvPr/>
        </p:nvSpPr>
        <p:spPr>
          <a:xfrm>
            <a:off x="4427984" y="5334307"/>
            <a:ext cx="3816424" cy="830997"/>
          </a:xfrm>
          <a:prstGeom prst="rect">
            <a:avLst/>
          </a:prstGeom>
          <a:solidFill>
            <a:schemeClr val="bg2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indent="-292608" algn="ctr">
              <a:spcBef>
                <a:spcPts val="24"/>
              </a:spcBef>
              <a:spcAft>
                <a:spcPts val="1000"/>
              </a:spcAft>
              <a:buFont typeface="Symbol" panose="05050102010706020507" pitchFamily="18" charset="2"/>
              <a:buChar char="Þ"/>
            </a:pP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Encore possible de mettre de nouvelles actions en place pour améliorer encore plus le score et l’égalité F/H de l’entreprise</a:t>
            </a:r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3887603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3200" dirty="0" smtClean="0">
                <a:ln>
                  <a:solidFill>
                    <a:schemeClr val="tx2"/>
                  </a:solidFill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 &amp; </a:t>
            </a:r>
            <a:r>
              <a:rPr lang="fr-FR" sz="3200" cap="all" dirty="0" smtClean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Recommandations</a:t>
            </a:r>
            <a:endParaRPr lang="fr-FR" sz="3200" cap="all" dirty="0">
              <a:ln w="5000" cmpd="sng">
                <a:solidFill>
                  <a:schemeClr val="tx2"/>
                </a:solidFill>
                <a:prstDash val="solid"/>
              </a:ln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740000" cy="1756792"/>
          </a:xfrm>
          <a:noFill/>
        </p:spPr>
        <p:txBody>
          <a:bodyPr>
            <a:noAutofit/>
          </a:bodyPr>
          <a:lstStyle/>
          <a:p>
            <a:pPr>
              <a:spcAft>
                <a:spcPts val="600"/>
              </a:spcAft>
              <a:buClrTx/>
            </a:pPr>
            <a:r>
              <a:rPr lang="fr-FR" sz="1800" b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Egalité Professionnelle F/H respectée </a:t>
            </a: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dans l’entreprise</a:t>
            </a:r>
          </a:p>
          <a:p>
            <a:pPr>
              <a:spcAft>
                <a:spcPts val="1200"/>
              </a:spcAft>
              <a:buClrTx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Répartition Rémunérations et Situations </a:t>
            </a:r>
            <a:r>
              <a:rPr lang="fr-FR" sz="16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(service, type de contrat, durée du travail, promotions accordées)</a:t>
            </a: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équilibrée mais encore améliorable</a:t>
            </a:r>
          </a:p>
          <a:p>
            <a:pPr>
              <a:spcAft>
                <a:spcPts val="600"/>
              </a:spcAft>
              <a:buClrTx/>
              <a:buFont typeface="Symbol" panose="05050102010706020507" pitchFamily="18" charset="2"/>
              <a:buChar char="Þ"/>
            </a:pPr>
            <a:r>
              <a:rPr lang="fr-FR" sz="18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Entreprise bonne élève et sur la bonne voie pour l’égalité complète F/H</a:t>
            </a:r>
          </a:p>
          <a:p>
            <a:pPr>
              <a:buClrTx/>
            </a:pPr>
            <a:endParaRPr lang="fr-F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12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500" r="50000"/>
          <a:stretch/>
        </p:blipFill>
        <p:spPr bwMode="auto">
          <a:xfrm>
            <a:off x="251520" y="3212976"/>
            <a:ext cx="190500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544" y="2636912"/>
            <a:ext cx="7344000" cy="504000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/>
          <p:cNvSpPr txBox="1"/>
          <p:nvPr/>
        </p:nvSpPr>
        <p:spPr>
          <a:xfrm>
            <a:off x="2104305" y="3272680"/>
            <a:ext cx="6044456" cy="30777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ClrTx/>
              <a:buFont typeface="Symbol" panose="05050102010706020507" pitchFamily="18" charset="2"/>
              <a:buChar char="®"/>
            </a:pPr>
            <a:r>
              <a:rPr lang="fr-FR" sz="16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fr-FR" sz="16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émunérations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’assurer de l’égalité de rémunération à l’embauche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méliorer la répartition dans les différents Services / types de postes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fr-FR" sz="16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Augmentations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Inciter à dépasser l’autocensure et à demander des augmentations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Sensibiliser les managers aux stéréotypes de sexe </a:t>
            </a:r>
          </a:p>
          <a:p>
            <a:pPr marL="742950" lvl="1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Etablir une grille salariale claire avec des paliers d’augmentation automatique en fonction des critères d’ancienneté / compétences</a:t>
            </a:r>
          </a:p>
          <a:p>
            <a:pPr marL="285750" indent="-285750">
              <a:buFont typeface="Symbol" panose="05050102010706020507" pitchFamily="18" charset="2"/>
              <a:buChar char="®"/>
            </a:pPr>
            <a:r>
              <a:rPr lang="fr-FR" sz="1600" u="sng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Proportion de femmes en CDI </a:t>
            </a:r>
            <a:r>
              <a:rPr lang="fr-FR" sz="16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742950" lvl="1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fr-FR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hercher la cause de cette proportion moins importante</a:t>
            </a: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fr-FR" sz="14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inciter à la formation, postuler/demander la réévaluation en CDI, éviter les stéréotypes de sexe à l’embauche, améliorer les conditions…</a:t>
            </a:r>
            <a:endParaRPr lang="fr-FR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331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1619672" y="1514638"/>
            <a:ext cx="4895872" cy="2301240"/>
          </a:xfrm>
        </p:spPr>
        <p:txBody>
          <a:bodyPr>
            <a:normAutofit/>
          </a:bodyPr>
          <a:lstStyle/>
          <a:p>
            <a:pPr algn="ctr"/>
            <a:r>
              <a:rPr lang="fr-FR" sz="3600" b="0" dirty="0" smtClean="0">
                <a:ln w="5000" cmpd="sng">
                  <a:solidFill>
                    <a:schemeClr val="tx2"/>
                  </a:solidFill>
                  <a:prstDash val="solid"/>
                </a:ln>
                <a:solidFill>
                  <a:schemeClr val="tx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Merci de votre attention !</a:t>
            </a:r>
            <a:endParaRPr lang="fr-FR" sz="3600" b="0" dirty="0">
              <a:ln w="5000" cmpd="sng">
                <a:solidFill>
                  <a:schemeClr val="tx2"/>
                </a:solidFill>
                <a:prstDash val="solid"/>
              </a:ln>
              <a:solidFill>
                <a:schemeClr val="tx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C8EF7-A418-4268-8238-B9F0F1D40477}" type="datetime1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smtClean="0"/>
              <a:t>TEIXEIRA Allison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C5D52-B121-4FC2-BB18-CD589AFC99A8}" type="slidenum">
              <a:rPr lang="fr-FR" smtClean="0"/>
              <a:t>13</a:t>
            </a:fld>
            <a:endParaRPr lang="fr-FR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786" b="92857" l="10000" r="90000">
                        <a14:backgroundMark x1="46923" y1="78571" x2="46923" y2="78571"/>
                        <a14:backgroundMark x1="42051" y1="79286" x2="43333" y2="79286"/>
                      </a14:backgroundRemoval>
                    </a14:imgEffect>
                    <a14:imgEffect>
                      <a14:colorTemperature colorTemp="4700"/>
                    </a14:imgEffect>
                    <a14:imgEffect>
                      <a14:saturation sat="3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2671993"/>
            <a:ext cx="4464496" cy="32052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14433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ic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Technic">
      <a:majorFont>
        <a:latin typeface="Franklin Gothic Book"/>
        <a:ea typeface=""/>
        <a:cs typeface=""/>
        <a:font script="Jpan" typeface="ＭＳ Ｐゴシック"/>
        <a:font script="Hang" typeface="HY견고딕"/>
        <a:font script="Hans" typeface="宋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HGｺﾞｼｯｸM"/>
        <a:font script="Hang" typeface="HY중고딕"/>
        <a:font script="Hans" typeface="黑体"/>
        <a:font script="Hant" typeface="微軟正黑體"/>
        <a:font script="Arab" typeface="Tahoma"/>
        <a:font script="Hebr" typeface="Levenim MT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chnic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</a:schemeClr>
            </a:gs>
            <a:gs pos="68000">
              <a:schemeClr val="phClr">
                <a:tint val="77000"/>
              </a:schemeClr>
            </a:gs>
            <a:gs pos="81000">
              <a:schemeClr val="phClr">
                <a:tint val="79000"/>
              </a:schemeClr>
            </a:gs>
            <a:gs pos="86000">
              <a:schemeClr val="phClr">
                <a:tint val="73000"/>
              </a:schemeClr>
            </a:gs>
            <a:gs pos="100000">
              <a:schemeClr val="phClr">
                <a:tint val="3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3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shade val="57000"/>
                <a:satMod val="120000"/>
              </a:schemeClr>
            </a:gs>
            <a:gs pos="80000">
              <a:schemeClr val="phClr">
                <a:shade val="56000"/>
                <a:satMod val="145000"/>
              </a:schemeClr>
            </a:gs>
            <a:gs pos="88000">
              <a:schemeClr val="phClr">
                <a:shade val="63000"/>
                <a:satMod val="160000"/>
              </a:schemeClr>
            </a:gs>
            <a:gs pos="100000">
              <a:schemeClr val="phClr">
                <a:tint val="99555"/>
                <a:satMod val="155000"/>
              </a:schemeClr>
            </a:gs>
          </a:gsLst>
          <a:lin ang="5400000" scaled="1"/>
        </a:gradFill>
      </a:fillStyleLst>
      <a:lnStyleLst>
        <a:ln w="9525" cap="flat" cmpd="sng" algn="ctr">
          <a:solidFill>
            <a:schemeClr val="phClr">
              <a:shade val="60000"/>
              <a:satMod val="30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00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</a:effectStyle>
        <a:effectStyle>
          <a:effectLst>
            <a:glow rad="76200">
              <a:schemeClr val="phClr">
                <a:tint val="30000"/>
                <a:shade val="95000"/>
                <a:satMod val="300000"/>
                <a:alpha val="50000"/>
              </a:schemeClr>
            </a:glow>
          </a:effectLst>
          <a:scene3d>
            <a:camera prst="orthographicFront" fov="0">
              <a:rot lat="0" lon="0" rev="0"/>
            </a:camera>
            <a:lightRig rig="harsh" dir="t">
              <a:rot lat="6000000" lon="6000000" rev="0"/>
            </a:lightRig>
          </a:scene3d>
          <a:sp3d contourW="10000" prstMaterial="metal">
            <a:bevelT w="20000" h="9000" prst="softRound"/>
            <a:contourClr>
              <a:schemeClr val="phClr">
                <a:shade val="30000"/>
                <a:satMod val="2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50000"/>
              </a:schemeClr>
            </a:gs>
            <a:gs pos="30000">
              <a:schemeClr val="phClr">
                <a:shade val="60000"/>
                <a:satMod val="150000"/>
              </a:schemeClr>
            </a:gs>
            <a:gs pos="100000">
              <a:schemeClr val="phClr">
                <a:tint val="83000"/>
                <a:satMod val="200000"/>
              </a:schemeClr>
            </a:gs>
          </a:gsLst>
          <a:lin ang="13000000" scaled="0"/>
        </a:gra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60000" t="50000" r="4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811</TotalTime>
  <Words>1081</Words>
  <Application>Microsoft Office PowerPoint</Application>
  <PresentationFormat>On-screen Show (4:3)</PresentationFormat>
  <Paragraphs>224</Paragraphs>
  <Slides>13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Technic</vt:lpstr>
      <vt:lpstr>Présentation du Diagnostic de l’égalité F/H 2025</vt:lpstr>
      <vt:lpstr> Contexte</vt:lpstr>
      <vt:lpstr> Méthodologie</vt:lpstr>
      <vt:lpstr> Méthodologie</vt:lpstr>
      <vt:lpstr> Diagnostic</vt:lpstr>
      <vt:lpstr> Diagnostic</vt:lpstr>
      <vt:lpstr> Diagnostic</vt:lpstr>
      <vt:lpstr> Diagnostic</vt:lpstr>
      <vt:lpstr> Diagnostic</vt:lpstr>
      <vt:lpstr> Diagnostic</vt:lpstr>
      <vt:lpstr> Diagnostic</vt:lpstr>
      <vt:lpstr> CONCLUSION &amp; Recommandations</vt:lpstr>
      <vt:lpstr>Merci de votre attention !</vt:lpstr>
    </vt:vector>
  </TitlesOfParts>
  <Company>HP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 Inc.</dc:creator>
  <cp:lastModifiedBy>HP Inc.</cp:lastModifiedBy>
  <cp:revision>96</cp:revision>
  <dcterms:created xsi:type="dcterms:W3CDTF">2025-11-07T14:05:38Z</dcterms:created>
  <dcterms:modified xsi:type="dcterms:W3CDTF">2025-11-12T15:20:59Z</dcterms:modified>
</cp:coreProperties>
</file>