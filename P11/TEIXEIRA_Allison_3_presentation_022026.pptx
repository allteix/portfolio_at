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7" r:id="rId6"/>
    <p:sldId id="262" r:id="rId7"/>
    <p:sldId id="268" r:id="rId8"/>
    <p:sldId id="263" r:id="rId9"/>
    <p:sldId id="270" r:id="rId10"/>
    <p:sldId id="272" r:id="rId11"/>
    <p:sldId id="271" r:id="rId12"/>
    <p:sldId id="265" r:id="rId13"/>
    <p:sldId id="266" r:id="rId14"/>
    <p:sldId id="269" r:id="rId15"/>
    <p:sldId id="264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BB3"/>
    <a:srgbClr val="CFE3C0"/>
    <a:srgbClr val="E0E5D7"/>
    <a:srgbClr val="A3B18A"/>
    <a:srgbClr val="B9D1BE"/>
    <a:srgbClr val="BED4C2"/>
    <a:srgbClr val="C5D9C9"/>
    <a:srgbClr val="D1E1D4"/>
    <a:srgbClr val="86B08D"/>
    <a:srgbClr val="689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27" autoAdjust="0"/>
  </p:normalViewPr>
  <p:slideViewPr>
    <p:cSldViewPr>
      <p:cViewPr>
        <p:scale>
          <a:sx n="80" d="100"/>
          <a:sy n="80" d="100"/>
        </p:scale>
        <p:origin x="-629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80BA78-727C-4FBC-AA07-8A90CEC2A30E}" type="doc">
      <dgm:prSet loTypeId="urn:microsoft.com/office/officeart/2005/8/layout/lProcess3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5FDE0D59-22C5-4FD6-8FF2-40F88D2C83FE}">
      <dgm:prSet phldrT="[Text]" custT="1"/>
      <dgm:spPr/>
      <dgm:t>
        <a:bodyPr/>
        <a:lstStyle/>
        <a:p>
          <a:r>
            <a:rPr lang="fr-FR" sz="2000" smtClean="0"/>
            <a:t>Objectif</a:t>
          </a:r>
          <a:endParaRPr lang="fr-FR" sz="2000" dirty="0"/>
        </a:p>
      </dgm:t>
    </dgm:pt>
    <dgm:pt modelId="{0BD2A1DC-B1D5-48CC-9156-E342B6A4A376}" type="parTrans" cxnId="{D60257BA-2E7F-4AA6-A357-738D18A4DAAC}">
      <dgm:prSet/>
      <dgm:spPr/>
      <dgm:t>
        <a:bodyPr/>
        <a:lstStyle/>
        <a:p>
          <a:endParaRPr lang="fr-FR"/>
        </a:p>
      </dgm:t>
    </dgm:pt>
    <dgm:pt modelId="{E5CA46A1-C7DC-4EC1-B168-9B0759E86E91}" type="sibTrans" cxnId="{D60257BA-2E7F-4AA6-A357-738D18A4DAAC}">
      <dgm:prSet/>
      <dgm:spPr/>
      <dgm:t>
        <a:bodyPr/>
        <a:lstStyle/>
        <a:p>
          <a:endParaRPr lang="fr-FR"/>
        </a:p>
      </dgm:t>
    </dgm:pt>
    <dgm:pt modelId="{42F55D14-0773-499E-86A8-4CAD8E1B3906}">
      <dgm:prSet phldrT="[Text]" custT="1"/>
      <dgm:spPr/>
      <dgm:t>
        <a:bodyPr anchor="ctr"/>
        <a:lstStyle/>
        <a:p>
          <a:r>
            <a:rPr lang="fr-FR" sz="1600" dirty="0" smtClean="0"/>
            <a:t>Faire une étude du marché mondial afin d’identifier des groupements de pays intéressants à cibler pour commencer l’exportation des poulets</a:t>
          </a:r>
          <a:endParaRPr lang="fr-FR" sz="1600" dirty="0"/>
        </a:p>
      </dgm:t>
    </dgm:pt>
    <dgm:pt modelId="{9994206C-B11F-44BD-B570-E8ED25454FEA}" type="parTrans" cxnId="{DC3DCC8C-9CCA-46A3-B77B-76AFD51806BC}">
      <dgm:prSet/>
      <dgm:spPr/>
      <dgm:t>
        <a:bodyPr/>
        <a:lstStyle/>
        <a:p>
          <a:endParaRPr lang="fr-FR"/>
        </a:p>
      </dgm:t>
    </dgm:pt>
    <dgm:pt modelId="{C49803C8-3C01-4120-BC1E-5B14B0254B2B}" type="sibTrans" cxnId="{DC3DCC8C-9CCA-46A3-B77B-76AFD51806BC}">
      <dgm:prSet/>
      <dgm:spPr/>
      <dgm:t>
        <a:bodyPr/>
        <a:lstStyle/>
        <a:p>
          <a:endParaRPr lang="fr-FR"/>
        </a:p>
      </dgm:t>
    </dgm:pt>
    <dgm:pt modelId="{508D2ABF-5657-42C0-B99E-AC84840CFB27}" type="pres">
      <dgm:prSet presAssocID="{ED80BA78-727C-4FBC-AA07-8A90CEC2A30E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83EDBCFA-A9F3-49EB-9E39-0032A30540E4}" type="pres">
      <dgm:prSet presAssocID="{5FDE0D59-22C5-4FD6-8FF2-40F88D2C83FE}" presName="horFlow" presStyleCnt="0"/>
      <dgm:spPr/>
      <dgm:t>
        <a:bodyPr/>
        <a:lstStyle/>
        <a:p>
          <a:endParaRPr lang="fr-FR"/>
        </a:p>
      </dgm:t>
    </dgm:pt>
    <dgm:pt modelId="{D1FA50CA-5B40-44B3-9845-1EE07D1047F6}" type="pres">
      <dgm:prSet presAssocID="{5FDE0D59-22C5-4FD6-8FF2-40F88D2C83FE}" presName="bigChev" presStyleLbl="node1" presStyleIdx="0" presStyleCnt="1" custScaleY="100508"/>
      <dgm:spPr/>
      <dgm:t>
        <a:bodyPr/>
        <a:lstStyle/>
        <a:p>
          <a:endParaRPr lang="fr-FR"/>
        </a:p>
      </dgm:t>
    </dgm:pt>
    <dgm:pt modelId="{E6B78DE5-AA6F-4648-92D5-87000D1919A9}" type="pres">
      <dgm:prSet presAssocID="{9994206C-B11F-44BD-B570-E8ED25454FEA}" presName="parTrans" presStyleCnt="0"/>
      <dgm:spPr/>
      <dgm:t>
        <a:bodyPr/>
        <a:lstStyle/>
        <a:p>
          <a:endParaRPr lang="fr-FR"/>
        </a:p>
      </dgm:t>
    </dgm:pt>
    <dgm:pt modelId="{2F93793F-C52B-40A0-A4C8-F9E99655F9CC}" type="pres">
      <dgm:prSet presAssocID="{42F55D14-0773-499E-86A8-4CAD8E1B3906}" presName="node" presStyleLbl="alignAccFollowNode1" presStyleIdx="0" presStyleCnt="1" custScaleX="364305" custScaleY="12089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FAF93BA-CA4F-4BE4-B79F-FA54F07AD42B}" type="presOf" srcId="{ED80BA78-727C-4FBC-AA07-8A90CEC2A30E}" destId="{508D2ABF-5657-42C0-B99E-AC84840CFB27}" srcOrd="0" destOrd="0" presId="urn:microsoft.com/office/officeart/2005/8/layout/lProcess3"/>
    <dgm:cxn modelId="{C0BF0676-7C46-43AD-96A2-0342F9C11B5E}" type="presOf" srcId="{42F55D14-0773-499E-86A8-4CAD8E1B3906}" destId="{2F93793F-C52B-40A0-A4C8-F9E99655F9CC}" srcOrd="0" destOrd="0" presId="urn:microsoft.com/office/officeart/2005/8/layout/lProcess3"/>
    <dgm:cxn modelId="{DC3DCC8C-9CCA-46A3-B77B-76AFD51806BC}" srcId="{5FDE0D59-22C5-4FD6-8FF2-40F88D2C83FE}" destId="{42F55D14-0773-499E-86A8-4CAD8E1B3906}" srcOrd="0" destOrd="0" parTransId="{9994206C-B11F-44BD-B570-E8ED25454FEA}" sibTransId="{C49803C8-3C01-4120-BC1E-5B14B0254B2B}"/>
    <dgm:cxn modelId="{D60257BA-2E7F-4AA6-A357-738D18A4DAAC}" srcId="{ED80BA78-727C-4FBC-AA07-8A90CEC2A30E}" destId="{5FDE0D59-22C5-4FD6-8FF2-40F88D2C83FE}" srcOrd="0" destOrd="0" parTransId="{0BD2A1DC-B1D5-48CC-9156-E342B6A4A376}" sibTransId="{E5CA46A1-C7DC-4EC1-B168-9B0759E86E91}"/>
    <dgm:cxn modelId="{50C1B6FE-D7FD-4ADA-9F2D-05A3CF5CB97B}" type="presOf" srcId="{5FDE0D59-22C5-4FD6-8FF2-40F88D2C83FE}" destId="{D1FA50CA-5B40-44B3-9845-1EE07D1047F6}" srcOrd="0" destOrd="0" presId="urn:microsoft.com/office/officeart/2005/8/layout/lProcess3"/>
    <dgm:cxn modelId="{11793F31-F5DF-4128-9996-8EA38799C6B7}" type="presParOf" srcId="{508D2ABF-5657-42C0-B99E-AC84840CFB27}" destId="{83EDBCFA-A9F3-49EB-9E39-0032A30540E4}" srcOrd="0" destOrd="0" presId="urn:microsoft.com/office/officeart/2005/8/layout/lProcess3"/>
    <dgm:cxn modelId="{C71BDB3E-D7DA-4E89-A338-0D6F31B059C8}" type="presParOf" srcId="{83EDBCFA-A9F3-49EB-9E39-0032A30540E4}" destId="{D1FA50CA-5B40-44B3-9845-1EE07D1047F6}" srcOrd="0" destOrd="0" presId="urn:microsoft.com/office/officeart/2005/8/layout/lProcess3"/>
    <dgm:cxn modelId="{A7EF7F09-AC89-401C-8F93-958DAD4BB479}" type="presParOf" srcId="{83EDBCFA-A9F3-49EB-9E39-0032A30540E4}" destId="{E6B78DE5-AA6F-4648-92D5-87000D1919A9}" srcOrd="1" destOrd="0" presId="urn:microsoft.com/office/officeart/2005/8/layout/lProcess3"/>
    <dgm:cxn modelId="{D035A210-37B3-451A-B507-A8F866B42EF4}" type="presParOf" srcId="{83EDBCFA-A9F3-49EB-9E39-0032A30540E4}" destId="{2F93793F-C52B-40A0-A4C8-F9E99655F9CC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80BA78-727C-4FBC-AA07-8A90CEC2A30E}" type="doc">
      <dgm:prSet loTypeId="urn:microsoft.com/office/officeart/2005/8/layout/lProcess3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5FDE0D59-22C5-4FD6-8FF2-40F88D2C83FE}">
      <dgm:prSet phldrT="[Text]" custT="1"/>
      <dgm:spPr/>
      <dgm:t>
        <a:bodyPr/>
        <a:lstStyle/>
        <a:p>
          <a:r>
            <a:rPr lang="fr-FR" sz="1800" dirty="0" smtClean="0"/>
            <a:t>Objectif</a:t>
          </a:r>
          <a:endParaRPr lang="fr-FR" sz="1800" dirty="0"/>
        </a:p>
      </dgm:t>
    </dgm:pt>
    <dgm:pt modelId="{0BD2A1DC-B1D5-48CC-9156-E342B6A4A376}" type="parTrans" cxnId="{D60257BA-2E7F-4AA6-A357-738D18A4DAAC}">
      <dgm:prSet/>
      <dgm:spPr/>
      <dgm:t>
        <a:bodyPr/>
        <a:lstStyle/>
        <a:p>
          <a:endParaRPr lang="fr-FR" sz="1600"/>
        </a:p>
      </dgm:t>
    </dgm:pt>
    <dgm:pt modelId="{E5CA46A1-C7DC-4EC1-B168-9B0759E86E91}" type="sibTrans" cxnId="{D60257BA-2E7F-4AA6-A357-738D18A4DAAC}">
      <dgm:prSet/>
      <dgm:spPr/>
      <dgm:t>
        <a:bodyPr/>
        <a:lstStyle/>
        <a:p>
          <a:endParaRPr lang="fr-FR" sz="1600"/>
        </a:p>
      </dgm:t>
    </dgm:pt>
    <dgm:pt modelId="{42F55D14-0773-499E-86A8-4CAD8E1B3906}">
      <dgm:prSet phldrT="[Text]" custT="1"/>
      <dgm:spPr/>
      <dgm:t>
        <a:bodyPr anchor="ctr"/>
        <a:lstStyle/>
        <a:p>
          <a:r>
            <a:rPr lang="fr-FR" sz="1400" dirty="0" smtClean="0"/>
            <a:t>Minimum 100 pays représentant au moins 60 % de la population mondiale    + pas de cases vides </a:t>
          </a:r>
          <a:endParaRPr lang="fr-FR" sz="1400" dirty="0"/>
        </a:p>
      </dgm:t>
    </dgm:pt>
    <dgm:pt modelId="{9994206C-B11F-44BD-B570-E8ED25454FEA}" type="parTrans" cxnId="{DC3DCC8C-9CCA-46A3-B77B-76AFD51806BC}">
      <dgm:prSet/>
      <dgm:spPr/>
      <dgm:t>
        <a:bodyPr/>
        <a:lstStyle/>
        <a:p>
          <a:endParaRPr lang="fr-FR" sz="1600"/>
        </a:p>
      </dgm:t>
    </dgm:pt>
    <dgm:pt modelId="{C49803C8-3C01-4120-BC1E-5B14B0254B2B}" type="sibTrans" cxnId="{DC3DCC8C-9CCA-46A3-B77B-76AFD51806BC}">
      <dgm:prSet/>
      <dgm:spPr/>
      <dgm:t>
        <a:bodyPr/>
        <a:lstStyle/>
        <a:p>
          <a:endParaRPr lang="fr-FR" sz="1600"/>
        </a:p>
      </dgm:t>
    </dgm:pt>
    <dgm:pt modelId="{508D2ABF-5657-42C0-B99E-AC84840CFB27}" type="pres">
      <dgm:prSet presAssocID="{ED80BA78-727C-4FBC-AA07-8A90CEC2A30E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fr-FR"/>
        </a:p>
      </dgm:t>
    </dgm:pt>
    <dgm:pt modelId="{83EDBCFA-A9F3-49EB-9E39-0032A30540E4}" type="pres">
      <dgm:prSet presAssocID="{5FDE0D59-22C5-4FD6-8FF2-40F88D2C83FE}" presName="horFlow" presStyleCnt="0"/>
      <dgm:spPr/>
      <dgm:t>
        <a:bodyPr/>
        <a:lstStyle/>
        <a:p>
          <a:endParaRPr lang="fr-FR"/>
        </a:p>
      </dgm:t>
    </dgm:pt>
    <dgm:pt modelId="{D1FA50CA-5B40-44B3-9845-1EE07D1047F6}" type="pres">
      <dgm:prSet presAssocID="{5FDE0D59-22C5-4FD6-8FF2-40F88D2C83FE}" presName="bigChev" presStyleLbl="node1" presStyleIdx="0" presStyleCnt="1" custScaleY="100508"/>
      <dgm:spPr/>
      <dgm:t>
        <a:bodyPr/>
        <a:lstStyle/>
        <a:p>
          <a:endParaRPr lang="fr-FR"/>
        </a:p>
      </dgm:t>
    </dgm:pt>
    <dgm:pt modelId="{E6B78DE5-AA6F-4648-92D5-87000D1919A9}" type="pres">
      <dgm:prSet presAssocID="{9994206C-B11F-44BD-B570-E8ED25454FEA}" presName="parTrans" presStyleCnt="0"/>
      <dgm:spPr/>
      <dgm:t>
        <a:bodyPr/>
        <a:lstStyle/>
        <a:p>
          <a:endParaRPr lang="fr-FR"/>
        </a:p>
      </dgm:t>
    </dgm:pt>
    <dgm:pt modelId="{2F93793F-C52B-40A0-A4C8-F9E99655F9CC}" type="pres">
      <dgm:prSet presAssocID="{42F55D14-0773-499E-86A8-4CAD8E1B3906}" presName="node" presStyleLbl="alignAccFollowNode1" presStyleIdx="0" presStyleCnt="1" custScaleX="246466" custScaleY="12089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E1A6879D-BC53-44BE-ADA9-0A95AEC783D9}" type="presOf" srcId="{5FDE0D59-22C5-4FD6-8FF2-40F88D2C83FE}" destId="{D1FA50CA-5B40-44B3-9845-1EE07D1047F6}" srcOrd="0" destOrd="0" presId="urn:microsoft.com/office/officeart/2005/8/layout/lProcess3"/>
    <dgm:cxn modelId="{1D52DA24-2E5B-4281-9AA5-470DC802782F}" type="presOf" srcId="{42F55D14-0773-499E-86A8-4CAD8E1B3906}" destId="{2F93793F-C52B-40A0-A4C8-F9E99655F9CC}" srcOrd="0" destOrd="0" presId="urn:microsoft.com/office/officeart/2005/8/layout/lProcess3"/>
    <dgm:cxn modelId="{DC3DCC8C-9CCA-46A3-B77B-76AFD51806BC}" srcId="{5FDE0D59-22C5-4FD6-8FF2-40F88D2C83FE}" destId="{42F55D14-0773-499E-86A8-4CAD8E1B3906}" srcOrd="0" destOrd="0" parTransId="{9994206C-B11F-44BD-B570-E8ED25454FEA}" sibTransId="{C49803C8-3C01-4120-BC1E-5B14B0254B2B}"/>
    <dgm:cxn modelId="{D60257BA-2E7F-4AA6-A357-738D18A4DAAC}" srcId="{ED80BA78-727C-4FBC-AA07-8A90CEC2A30E}" destId="{5FDE0D59-22C5-4FD6-8FF2-40F88D2C83FE}" srcOrd="0" destOrd="0" parTransId="{0BD2A1DC-B1D5-48CC-9156-E342B6A4A376}" sibTransId="{E5CA46A1-C7DC-4EC1-B168-9B0759E86E91}"/>
    <dgm:cxn modelId="{A125B822-70D8-4CBC-837A-3B8A12B1BF89}" type="presOf" srcId="{ED80BA78-727C-4FBC-AA07-8A90CEC2A30E}" destId="{508D2ABF-5657-42C0-B99E-AC84840CFB27}" srcOrd="0" destOrd="0" presId="urn:microsoft.com/office/officeart/2005/8/layout/lProcess3"/>
    <dgm:cxn modelId="{BFF1DE9C-F162-452D-A101-CB4E747FD027}" type="presParOf" srcId="{508D2ABF-5657-42C0-B99E-AC84840CFB27}" destId="{83EDBCFA-A9F3-49EB-9E39-0032A30540E4}" srcOrd="0" destOrd="0" presId="urn:microsoft.com/office/officeart/2005/8/layout/lProcess3"/>
    <dgm:cxn modelId="{4A8F0C58-DFCD-4479-AD10-265FCF3763D4}" type="presParOf" srcId="{83EDBCFA-A9F3-49EB-9E39-0032A30540E4}" destId="{D1FA50CA-5B40-44B3-9845-1EE07D1047F6}" srcOrd="0" destOrd="0" presId="urn:microsoft.com/office/officeart/2005/8/layout/lProcess3"/>
    <dgm:cxn modelId="{E19E2507-429C-4798-8877-070737B20CE8}" type="presParOf" srcId="{83EDBCFA-A9F3-49EB-9E39-0032A30540E4}" destId="{E6B78DE5-AA6F-4648-92D5-87000D1919A9}" srcOrd="1" destOrd="0" presId="urn:microsoft.com/office/officeart/2005/8/layout/lProcess3"/>
    <dgm:cxn modelId="{D7FDA91C-4F70-4D4D-B21C-23DB03E48E19}" type="presParOf" srcId="{83EDBCFA-A9F3-49EB-9E39-0032A30540E4}" destId="{2F93793F-C52B-40A0-A4C8-F9E99655F9CC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3D92E9-307C-4473-B823-8F7D821CDFB5}" type="doc">
      <dgm:prSet loTypeId="urn:microsoft.com/office/officeart/2005/8/layout/chevron1" loCatId="process" qsTypeId="urn:microsoft.com/office/officeart/2005/8/quickstyle/simple1" qsCatId="simple" csTypeId="urn:microsoft.com/office/officeart/2005/8/colors/colorful4" csCatId="colorful" phldr="1"/>
      <dgm:spPr/>
    </dgm:pt>
    <dgm:pt modelId="{AE52DB1E-51C9-40EF-8F2C-4D797D26D0D9}">
      <dgm:prSet phldrT="[Text]" custT="1"/>
      <dgm:spPr/>
      <dgm:t>
        <a:bodyPr/>
        <a:lstStyle/>
        <a:p>
          <a:r>
            <a:rPr lang="fr-FR" sz="1600" dirty="0" smtClean="0">
              <a:solidFill>
                <a:schemeClr val="tx1">
                  <a:lumMod val="65000"/>
                  <a:lumOff val="35000"/>
                </a:schemeClr>
              </a:solidFill>
            </a:rPr>
            <a:t>Importation</a:t>
          </a:r>
          <a:endParaRPr lang="fr-FR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C4FBA4C-7065-41B8-97DA-C782BE85B46F}" type="parTrans" cxnId="{47168B6B-0BE0-47AC-92D0-49AAE0A80C9F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A14E16C-6314-467C-A64D-1C0725FCB0EB}" type="sibTrans" cxnId="{47168B6B-0BE0-47AC-92D0-49AAE0A80C9F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027B2CA1-3819-4392-907F-4E2222335A29}">
      <dgm:prSet phldrT="[Text]" custT="1"/>
      <dgm:spPr/>
      <dgm:t>
        <a:bodyPr/>
        <a:lstStyle/>
        <a:p>
          <a:r>
            <a:rPr lang="fr-FR" sz="1600" dirty="0" smtClean="0">
              <a:solidFill>
                <a:schemeClr val="tx1">
                  <a:lumMod val="65000"/>
                  <a:lumOff val="35000"/>
                </a:schemeClr>
              </a:solidFill>
            </a:rPr>
            <a:t>Préparation Nettoyage</a:t>
          </a:r>
          <a:endParaRPr lang="fr-FR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C00A8F6-A26B-4B74-B366-A8CAB991B219}" type="parTrans" cxnId="{36FCFE02-1B1C-4471-B20D-3E142E567496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F190705-EBB9-4625-A31D-B972C6D9BBF9}" type="sibTrans" cxnId="{36FCFE02-1B1C-4471-B20D-3E142E567496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FCD21B3-E837-41AC-A9E6-3D1DB185305A}">
      <dgm:prSet phldrT="[Text]" custT="1"/>
      <dgm:spPr/>
      <dgm:t>
        <a:bodyPr/>
        <a:lstStyle/>
        <a:p>
          <a:r>
            <a:rPr lang="fr-FR" sz="1600" dirty="0" smtClean="0">
              <a:solidFill>
                <a:schemeClr val="tx1">
                  <a:lumMod val="65000"/>
                  <a:lumOff val="35000"/>
                </a:schemeClr>
              </a:solidFill>
            </a:rPr>
            <a:t>Jonction</a:t>
          </a:r>
          <a:endParaRPr lang="fr-FR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E48B497-9A7C-406F-8AAC-FFD0707776A4}" type="parTrans" cxnId="{C33FEF66-440E-4D3F-8215-93B66B1948F8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B96F5EA-2883-4E6C-9BF0-260A9168136E}" type="sibTrans" cxnId="{C33FEF66-440E-4D3F-8215-93B66B1948F8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3373F02-B050-4A47-9126-15C4D99430D5}">
      <dgm:prSet phldrT="[Text]" custT="1"/>
      <dgm:spPr/>
      <dgm:t>
        <a:bodyPr/>
        <a:lstStyle/>
        <a:p>
          <a:r>
            <a:rPr lang="fr-FR" sz="1600" dirty="0" smtClean="0">
              <a:solidFill>
                <a:schemeClr val="tx1">
                  <a:lumMod val="65000"/>
                  <a:lumOff val="35000"/>
                </a:schemeClr>
              </a:solidFill>
            </a:rPr>
            <a:t>Analyse exploratoire</a:t>
          </a:r>
          <a:endParaRPr lang="fr-FR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C299D65-1E62-46D4-B138-D98CF5F0FB45}" type="parTrans" cxnId="{1AB39A5B-9310-40FA-B30D-39801DF60545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C22CBD9-815A-492C-8D98-C4D2A62DFD92}" type="sibTrans" cxnId="{1AB39A5B-9310-40FA-B30D-39801DF60545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33BEB56-0BEE-4E4E-8FE7-2795567CBD45}">
      <dgm:prSet phldrT="[Text]" custT="1"/>
      <dgm:spPr/>
      <dgm:t>
        <a:bodyPr/>
        <a:lstStyle/>
        <a:p>
          <a:r>
            <a:rPr lang="fr-FR" sz="1600" dirty="0" smtClean="0">
              <a:solidFill>
                <a:schemeClr val="tx1">
                  <a:lumMod val="65000"/>
                  <a:lumOff val="35000"/>
                </a:schemeClr>
              </a:solidFill>
            </a:rPr>
            <a:t>Exportation</a:t>
          </a:r>
          <a:endParaRPr lang="fr-FR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7B5D56F-56FF-42D8-B995-614EA1D80E0C}" type="parTrans" cxnId="{50CA0CAA-BC51-4DC5-BA68-0201EA1897E3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3D9436A-D5F1-4B44-8B13-5CE683B33048}" type="sibTrans" cxnId="{50CA0CAA-BC51-4DC5-BA68-0201EA1897E3}">
      <dgm:prSet/>
      <dgm:spPr/>
      <dgm:t>
        <a:bodyPr/>
        <a:lstStyle/>
        <a:p>
          <a:endParaRPr lang="fr-FR" sz="160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819BFC5-D0FC-464B-B5E7-923E07A7581F}" type="pres">
      <dgm:prSet presAssocID="{543D92E9-307C-4473-B823-8F7D821CDFB5}" presName="Name0" presStyleCnt="0">
        <dgm:presLayoutVars>
          <dgm:dir/>
          <dgm:animLvl val="lvl"/>
          <dgm:resizeHandles val="exact"/>
        </dgm:presLayoutVars>
      </dgm:prSet>
      <dgm:spPr/>
    </dgm:pt>
    <dgm:pt modelId="{5D957E0F-42CE-48B1-9367-F0EEE997C3F5}" type="pres">
      <dgm:prSet presAssocID="{AE52DB1E-51C9-40EF-8F2C-4D797D26D0D9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EF8B8F-186C-4E84-9142-E41AD78794BE}" type="pres">
      <dgm:prSet presAssocID="{2A14E16C-6314-467C-A64D-1C0725FCB0EB}" presName="parTxOnlySpace" presStyleCnt="0"/>
      <dgm:spPr/>
    </dgm:pt>
    <dgm:pt modelId="{0EFB37B3-0F74-46EB-9846-61A3B229067F}" type="pres">
      <dgm:prSet presAssocID="{027B2CA1-3819-4392-907F-4E2222335A29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03B2A71-2B27-4F83-BB02-85251C638AA4}" type="pres">
      <dgm:prSet presAssocID="{CF190705-EBB9-4625-A31D-B972C6D9BBF9}" presName="parTxOnlySpace" presStyleCnt="0"/>
      <dgm:spPr/>
    </dgm:pt>
    <dgm:pt modelId="{50D2E8EC-B3CC-4168-B0F9-9222346264D9}" type="pres">
      <dgm:prSet presAssocID="{4FCD21B3-E837-41AC-A9E6-3D1DB185305A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2722ACE-E324-4B44-94F1-76CDA59D384F}" type="pres">
      <dgm:prSet presAssocID="{7B96F5EA-2883-4E6C-9BF0-260A9168136E}" presName="parTxOnlySpace" presStyleCnt="0"/>
      <dgm:spPr/>
    </dgm:pt>
    <dgm:pt modelId="{A3CCD759-E735-41A4-BEFA-599F220E75D1}" type="pres">
      <dgm:prSet presAssocID="{43373F02-B050-4A47-9126-15C4D99430D5}" presName="parTxOnly" presStyleLbl="node1" presStyleIdx="3" presStyleCnt="5" custScaleX="10173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A74CDB7-83B6-40E0-9B34-CDA4A015C58C}" type="pres">
      <dgm:prSet presAssocID="{7C22CBD9-815A-492C-8D98-C4D2A62DFD92}" presName="parTxOnlySpace" presStyleCnt="0"/>
      <dgm:spPr/>
    </dgm:pt>
    <dgm:pt modelId="{3C7C3AC7-EB7A-4A3E-A795-F07D83EB6FE1}" type="pres">
      <dgm:prSet presAssocID="{733BEB56-0BEE-4E4E-8FE7-2795567CBD45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0F9D5574-326B-43A3-971E-96CA97AA7745}" type="presOf" srcId="{43373F02-B050-4A47-9126-15C4D99430D5}" destId="{A3CCD759-E735-41A4-BEFA-599F220E75D1}" srcOrd="0" destOrd="0" presId="urn:microsoft.com/office/officeart/2005/8/layout/chevron1"/>
    <dgm:cxn modelId="{BA26D3D6-1C96-444F-9818-E86B5C4F07A6}" type="presOf" srcId="{543D92E9-307C-4473-B823-8F7D821CDFB5}" destId="{6819BFC5-D0FC-464B-B5E7-923E07A7581F}" srcOrd="0" destOrd="0" presId="urn:microsoft.com/office/officeart/2005/8/layout/chevron1"/>
    <dgm:cxn modelId="{EB13D422-EE1D-4AE6-A5AB-CFEC7460ABE6}" type="presOf" srcId="{733BEB56-0BEE-4E4E-8FE7-2795567CBD45}" destId="{3C7C3AC7-EB7A-4A3E-A795-F07D83EB6FE1}" srcOrd="0" destOrd="0" presId="urn:microsoft.com/office/officeart/2005/8/layout/chevron1"/>
    <dgm:cxn modelId="{C33FEF66-440E-4D3F-8215-93B66B1948F8}" srcId="{543D92E9-307C-4473-B823-8F7D821CDFB5}" destId="{4FCD21B3-E837-41AC-A9E6-3D1DB185305A}" srcOrd="2" destOrd="0" parTransId="{2E48B497-9A7C-406F-8AAC-FFD0707776A4}" sibTransId="{7B96F5EA-2883-4E6C-9BF0-260A9168136E}"/>
    <dgm:cxn modelId="{50CA0CAA-BC51-4DC5-BA68-0201EA1897E3}" srcId="{543D92E9-307C-4473-B823-8F7D821CDFB5}" destId="{733BEB56-0BEE-4E4E-8FE7-2795567CBD45}" srcOrd="4" destOrd="0" parTransId="{87B5D56F-56FF-42D8-B995-614EA1D80E0C}" sibTransId="{E3D9436A-D5F1-4B44-8B13-5CE683B33048}"/>
    <dgm:cxn modelId="{CE79480F-7F03-4811-B1C6-2FAE5F18AC95}" type="presOf" srcId="{4FCD21B3-E837-41AC-A9E6-3D1DB185305A}" destId="{50D2E8EC-B3CC-4168-B0F9-9222346264D9}" srcOrd="0" destOrd="0" presId="urn:microsoft.com/office/officeart/2005/8/layout/chevron1"/>
    <dgm:cxn modelId="{932C75F5-A59A-4FFD-9B71-CB1329871051}" type="presOf" srcId="{027B2CA1-3819-4392-907F-4E2222335A29}" destId="{0EFB37B3-0F74-46EB-9846-61A3B229067F}" srcOrd="0" destOrd="0" presId="urn:microsoft.com/office/officeart/2005/8/layout/chevron1"/>
    <dgm:cxn modelId="{47168B6B-0BE0-47AC-92D0-49AAE0A80C9F}" srcId="{543D92E9-307C-4473-B823-8F7D821CDFB5}" destId="{AE52DB1E-51C9-40EF-8F2C-4D797D26D0D9}" srcOrd="0" destOrd="0" parTransId="{3C4FBA4C-7065-41B8-97DA-C782BE85B46F}" sibTransId="{2A14E16C-6314-467C-A64D-1C0725FCB0EB}"/>
    <dgm:cxn modelId="{D7ABEE91-8248-4A62-9E35-081E487994BA}" type="presOf" srcId="{AE52DB1E-51C9-40EF-8F2C-4D797D26D0D9}" destId="{5D957E0F-42CE-48B1-9367-F0EEE997C3F5}" srcOrd="0" destOrd="0" presId="urn:microsoft.com/office/officeart/2005/8/layout/chevron1"/>
    <dgm:cxn modelId="{36FCFE02-1B1C-4471-B20D-3E142E567496}" srcId="{543D92E9-307C-4473-B823-8F7D821CDFB5}" destId="{027B2CA1-3819-4392-907F-4E2222335A29}" srcOrd="1" destOrd="0" parTransId="{8C00A8F6-A26B-4B74-B366-A8CAB991B219}" sibTransId="{CF190705-EBB9-4625-A31D-B972C6D9BBF9}"/>
    <dgm:cxn modelId="{1AB39A5B-9310-40FA-B30D-39801DF60545}" srcId="{543D92E9-307C-4473-B823-8F7D821CDFB5}" destId="{43373F02-B050-4A47-9126-15C4D99430D5}" srcOrd="3" destOrd="0" parTransId="{6C299D65-1E62-46D4-B138-D98CF5F0FB45}" sibTransId="{7C22CBD9-815A-492C-8D98-C4D2A62DFD92}"/>
    <dgm:cxn modelId="{7D2AF683-5AAD-4EFB-B60D-F21508CD6059}" type="presParOf" srcId="{6819BFC5-D0FC-464B-B5E7-923E07A7581F}" destId="{5D957E0F-42CE-48B1-9367-F0EEE997C3F5}" srcOrd="0" destOrd="0" presId="urn:microsoft.com/office/officeart/2005/8/layout/chevron1"/>
    <dgm:cxn modelId="{87F3F110-FA38-4053-A537-496BECFA7657}" type="presParOf" srcId="{6819BFC5-D0FC-464B-B5E7-923E07A7581F}" destId="{B8EF8B8F-186C-4E84-9142-E41AD78794BE}" srcOrd="1" destOrd="0" presId="urn:microsoft.com/office/officeart/2005/8/layout/chevron1"/>
    <dgm:cxn modelId="{E9B040BD-C21B-4D7F-A801-17F3504A2487}" type="presParOf" srcId="{6819BFC5-D0FC-464B-B5E7-923E07A7581F}" destId="{0EFB37B3-0F74-46EB-9846-61A3B229067F}" srcOrd="2" destOrd="0" presId="urn:microsoft.com/office/officeart/2005/8/layout/chevron1"/>
    <dgm:cxn modelId="{0B85AA5B-2524-44B6-89B6-93C3292A5DCE}" type="presParOf" srcId="{6819BFC5-D0FC-464B-B5E7-923E07A7581F}" destId="{903B2A71-2B27-4F83-BB02-85251C638AA4}" srcOrd="3" destOrd="0" presId="urn:microsoft.com/office/officeart/2005/8/layout/chevron1"/>
    <dgm:cxn modelId="{4A7A6C8E-844E-4925-ACA2-9BE7F87D8D39}" type="presParOf" srcId="{6819BFC5-D0FC-464B-B5E7-923E07A7581F}" destId="{50D2E8EC-B3CC-4168-B0F9-9222346264D9}" srcOrd="4" destOrd="0" presId="urn:microsoft.com/office/officeart/2005/8/layout/chevron1"/>
    <dgm:cxn modelId="{AEDD21DA-41A0-48E5-94CB-A53F6E21F8C4}" type="presParOf" srcId="{6819BFC5-D0FC-464B-B5E7-923E07A7581F}" destId="{02722ACE-E324-4B44-94F1-76CDA59D384F}" srcOrd="5" destOrd="0" presId="urn:microsoft.com/office/officeart/2005/8/layout/chevron1"/>
    <dgm:cxn modelId="{635A56FD-38D7-4323-9B1B-4BEBB11CFD4A}" type="presParOf" srcId="{6819BFC5-D0FC-464B-B5E7-923E07A7581F}" destId="{A3CCD759-E735-41A4-BEFA-599F220E75D1}" srcOrd="6" destOrd="0" presId="urn:microsoft.com/office/officeart/2005/8/layout/chevron1"/>
    <dgm:cxn modelId="{688C7EF5-3FCF-4ACD-B9E2-42A6B482BC08}" type="presParOf" srcId="{6819BFC5-D0FC-464B-B5E7-923E07A7581F}" destId="{FA74CDB7-83B6-40E0-9B34-CDA4A015C58C}" srcOrd="7" destOrd="0" presId="urn:microsoft.com/office/officeart/2005/8/layout/chevron1"/>
    <dgm:cxn modelId="{504486F0-3744-4BAB-A428-77075F0DBF3B}" type="presParOf" srcId="{6819BFC5-D0FC-464B-B5E7-923E07A7581F}" destId="{3C7C3AC7-EB7A-4A3E-A795-F07D83EB6FE1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88FADA-4292-4953-8D4D-429BCAE36CF0}" type="doc">
      <dgm:prSet loTypeId="urn:microsoft.com/office/officeart/2005/8/layout/h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fr-FR"/>
        </a:p>
      </dgm:t>
    </dgm:pt>
    <dgm:pt modelId="{D8A3B555-63DF-46D8-A3D4-4250B6E9A496}">
      <dgm:prSet phldrT="[Text]" custT="1"/>
      <dgm:spPr/>
      <dgm:t>
        <a:bodyPr/>
        <a:lstStyle/>
        <a:p>
          <a:r>
            <a:rPr lang="fr-FR" sz="1600" dirty="0" smtClean="0">
              <a:solidFill>
                <a:schemeClr val="tx1">
                  <a:lumMod val="85000"/>
                  <a:lumOff val="15000"/>
                </a:schemeClr>
              </a:solidFill>
            </a:rPr>
            <a:t>Classification Ascendante Hiérarchique (CAH)</a:t>
          </a:r>
          <a:endParaRPr lang="fr-FR" sz="1600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CF9C0CE7-3B66-48C8-91AE-1E78AC20D850}" type="parTrans" cxnId="{F7006248-CFA6-4188-8061-349A5DDC897D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2AD2BDC-65E7-4468-BBD1-411CAE944FD9}" type="sibTrans" cxnId="{F7006248-CFA6-4188-8061-349A5DDC897D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7C9A527-5AC4-4057-990D-47FF69F806BA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méthode de partition non supervisée qui regroupe les individus par similitudes.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1C81B81-46C4-43CD-86F3-E9477C794657}" type="parTrans" cxnId="{73AB4392-59DB-426A-990B-7F3CCA8D2DCE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3732D4D-FE01-492E-A812-2D483E10A1A2}" type="sibTrans" cxnId="{73AB4392-59DB-426A-990B-7F3CCA8D2DCE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920DAFEE-0769-44B2-A871-69C9920735EA}">
      <dgm:prSet phldrT="[Text]" custT="1"/>
      <dgm:spPr/>
      <dgm:t>
        <a:bodyPr/>
        <a:lstStyle/>
        <a:p>
          <a:r>
            <a:rPr lang="fr-FR" sz="1600" dirty="0" smtClean="0">
              <a:solidFill>
                <a:schemeClr val="tx1">
                  <a:lumMod val="85000"/>
                  <a:lumOff val="15000"/>
                </a:schemeClr>
              </a:solidFill>
            </a:rPr>
            <a:t>K-</a:t>
          </a:r>
          <a:r>
            <a:rPr lang="fr-FR" sz="1600" dirty="0" err="1" smtClean="0">
              <a:solidFill>
                <a:schemeClr val="tx1">
                  <a:lumMod val="85000"/>
                  <a:lumOff val="15000"/>
                </a:schemeClr>
              </a:solidFill>
            </a:rPr>
            <a:t>Means</a:t>
          </a:r>
          <a:endParaRPr lang="fr-FR" sz="1600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E839C03B-4E4C-47DE-B6C0-0A0977EB3D30}" type="parTrans" cxnId="{D08066FA-0784-4372-A018-1692447E1CAA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9918EDF-08A4-416F-B4A5-9355B23834C4}" type="sibTrans" cxnId="{D08066FA-0784-4372-A018-1692447E1CAA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820CE1A-CBDA-4BF9-9E1F-D54FB0B6CA95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méthode de partition non supervisée qui regroupe les individus selon leur distance avec le </a:t>
          </a:r>
          <a:r>
            <a:rPr lang="fr-FR" sz="14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</a:t>
          </a: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 le plus proche.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98CFDE87-FCCD-4199-9B4D-21A5F51ADE49}" type="parTrans" cxnId="{881838C4-1AA3-4665-837A-DAA52A27196A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5A0BAC1-D50B-44E8-BF35-C98AD9E306DF}" type="sibTrans" cxnId="{881838C4-1AA3-4665-837A-DAA52A27196A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9049F11-DB81-496A-A1FF-18F3C1E792DF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centroïdes</a:t>
          </a: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 placés au hasard parmi les individus, puis les distances entre </a:t>
          </a:r>
          <a:r>
            <a:rPr lang="fr-FR" sz="14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centroïdes</a:t>
          </a: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 et individus les plus proches sont calculées et le </a:t>
          </a:r>
          <a:r>
            <a:rPr lang="fr-FR" sz="14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</a:t>
          </a: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 se déplace jusqu’à obtenir la meilleure position (= distance mini entre centre et individus du cluster  =&gt; inertie </a:t>
          </a:r>
          <a:r>
            <a:rPr lang="fr-FR" sz="14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intraclasse</a:t>
          </a: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 mini =&gt; plus rien ne bouge).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905309F4-DD73-4157-838B-150F3B27E0FA}" type="parTrans" cxnId="{39B74297-2AF3-42F6-B20A-36F6D74631FE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8451A72-27AE-4182-ABB2-5EB1DF20D791}" type="sibTrans" cxnId="{39B74297-2AF3-42F6-B20A-36F6D74631FE}">
      <dgm:prSet/>
      <dgm:spPr/>
      <dgm:t>
        <a:bodyPr/>
        <a:lstStyle/>
        <a:p>
          <a:endParaRPr lang="fr-FR" sz="160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3ACBB3B-5483-45FF-AE06-7F1BA398461C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Inconvénient : nécessite beaucoup de temps et mémoire car recalcule toutes distances entre chaque points à chaque itération     =&gt; mieux adapté pour petits échantillons.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1FD63B1C-3A46-4629-9844-9DADD9C8764C}" type="parTrans" cxnId="{314EFDD2-14F2-43C8-AE17-433DD2696999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96BBA0FD-65E0-49A3-8D8F-B5253104B78D}" type="sibTrans" cxnId="{314EFDD2-14F2-43C8-AE17-433DD2696999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7346CB3D-FF69-4D8E-A2E6-779FDF0DD75A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Avantage : ne nécessite pas de spécifier le nombre de clusters voulus au préalable.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42AB5F77-3885-44FF-9B84-3DAB1A4C2CA8}" type="parTrans" cxnId="{87C11355-52EE-481E-975A-1A897B6DA299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19C0635-8489-4CD2-8759-020B34B081E0}" type="sibTrans" cxnId="{87C11355-52EE-481E-975A-1A897B6DA299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67C79083-403B-4A08-90D6-C90279170D63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considère chaque individu comme une classe séparée puis fusionne au fur et à mesure les plus similaires (= distance proche) jusqu’à ce qu’il ne reste qu’une seule classe finale (= ensemble des données).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CB1D478-9E5D-49CA-9718-F0566676903B}" type="parTrans" cxnId="{31FE580F-E3F4-4E2D-84C6-823B34705454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B16C6452-2FD1-45DB-A4AF-DFF33DCF2E95}" type="sibTrans" cxnId="{31FE580F-E3F4-4E2D-84C6-823B34705454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C8C0BBC-F26E-4B6D-91B3-E801D8FC9EE4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crée structure arborescente hiérarchique qui illustre comment les individus peuvent être regroupés entre eux = dendrogramme.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DB90798-CC13-4AD4-99F9-363BCB0B36AA}" type="parTrans" cxnId="{BF308DD1-65EB-4D48-878A-6FDE7D973F89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0389F90-3B15-4F4F-B7CA-D2C89BE6E875}" type="sibTrans" cxnId="{BF308DD1-65EB-4D48-878A-6FDE7D973F89}">
      <dgm:prSet/>
      <dgm:spPr/>
      <dgm:t>
        <a:bodyPr/>
        <a:lstStyle/>
        <a:p>
          <a:endParaRPr lang="fr-FR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82DAD9A-9C52-49AE-AD8C-DA340FA4CBBB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Avantage : toujours capable de donner un résultat + rapidement (souvent &lt; 10 itérations) même avec beaucoup d’individus.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876BC83-D562-4354-8228-9BF60DBBDCF7}" type="parTrans" cxnId="{4A61FC38-A078-4C71-8DC2-ED2307BE8A02}">
      <dgm:prSet/>
      <dgm:spPr/>
      <dgm:t>
        <a:bodyPr/>
        <a:lstStyle/>
        <a:p>
          <a:endParaRPr lang="fr-FR"/>
        </a:p>
      </dgm:t>
    </dgm:pt>
    <dgm:pt modelId="{7C090AB5-760F-460C-9E72-ADF8052CAF43}" type="sibTrans" cxnId="{4A61FC38-A078-4C71-8DC2-ED2307BE8A02}">
      <dgm:prSet/>
      <dgm:spPr/>
      <dgm:t>
        <a:bodyPr/>
        <a:lstStyle/>
        <a:p>
          <a:endParaRPr lang="fr-FR"/>
        </a:p>
      </dgm:t>
    </dgm:pt>
    <dgm:pt modelId="{DCCE229A-CCBC-448C-9890-BF2E5B6BAB92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Inconvénient : peu donner des résultats différents selon placement </a:t>
          </a:r>
          <a:r>
            <a:rPr lang="fr-FR" sz="1400" smtClean="0">
              <a:solidFill>
                <a:schemeClr val="tx1">
                  <a:lumMod val="75000"/>
                  <a:lumOff val="25000"/>
                </a:schemeClr>
              </a:solidFill>
            </a:rPr>
            <a:t>de départ </a:t>
          </a:r>
          <a:r>
            <a:rPr lang="fr-FR" sz="1400" dirty="0" smtClean="0">
              <a:solidFill>
                <a:schemeClr val="tx1">
                  <a:lumMod val="75000"/>
                  <a:lumOff val="25000"/>
                </a:schemeClr>
              </a:solidFill>
            </a:rPr>
            <a:t>+ nécessite qu’on lui donne le nombre de clusters voulus au préalable.</a:t>
          </a:r>
          <a:endParaRPr lang="fr-FR" sz="14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A0D7F85-3D0F-4E3D-A68F-0BD67DC74D7E}" type="parTrans" cxnId="{9CF53120-CD19-40E2-8E38-FABF0CB57CC8}">
      <dgm:prSet/>
      <dgm:spPr/>
      <dgm:t>
        <a:bodyPr/>
        <a:lstStyle/>
        <a:p>
          <a:endParaRPr lang="fr-FR"/>
        </a:p>
      </dgm:t>
    </dgm:pt>
    <dgm:pt modelId="{8D29A404-E4BF-44BE-ABC7-611645E00AD6}" type="sibTrans" cxnId="{9CF53120-CD19-40E2-8E38-FABF0CB57CC8}">
      <dgm:prSet/>
      <dgm:spPr/>
      <dgm:t>
        <a:bodyPr/>
        <a:lstStyle/>
        <a:p>
          <a:endParaRPr lang="fr-FR"/>
        </a:p>
      </dgm:t>
    </dgm:pt>
    <dgm:pt modelId="{7DB6D6AD-091A-4ABF-9CBD-F4B111CB5C11}" type="pres">
      <dgm:prSet presAssocID="{9688FADA-4292-4953-8D4D-429BCAE36CF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CD70CB0-8AC8-41E5-A7CD-17D8C1E35A59}" type="pres">
      <dgm:prSet presAssocID="{D8A3B555-63DF-46D8-A3D4-4250B6E9A496}" presName="composite" presStyleCnt="0"/>
      <dgm:spPr/>
    </dgm:pt>
    <dgm:pt modelId="{D742E08A-5324-42EF-8F81-8357BB98E9D5}" type="pres">
      <dgm:prSet presAssocID="{D8A3B555-63DF-46D8-A3D4-4250B6E9A496}" presName="parTx" presStyleLbl="alignNode1" presStyleIdx="0" presStyleCnt="2" custScaleX="101578" custScaleY="99928" custLinFactY="-100000" custLinFactNeighborY="-10961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C023DFE-D7B5-47D2-95C6-730A3A99AC3A}" type="pres">
      <dgm:prSet presAssocID="{D8A3B555-63DF-46D8-A3D4-4250B6E9A496}" presName="desTx" presStyleLbl="alignAccFollowNode1" presStyleIdx="0" presStyleCnt="2" custScaleX="101578" custScaleY="99889" custLinFactNeighborY="-331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85F79FC-FE80-4083-BB78-55ADD1C3AD2B}" type="pres">
      <dgm:prSet presAssocID="{F2AD2BDC-65E7-4468-BBD1-411CAE944FD9}" presName="space" presStyleCnt="0"/>
      <dgm:spPr/>
    </dgm:pt>
    <dgm:pt modelId="{385B9CA3-0984-4EB3-891A-F939837AD179}" type="pres">
      <dgm:prSet presAssocID="{920DAFEE-0769-44B2-A871-69C9920735EA}" presName="composite" presStyleCnt="0"/>
      <dgm:spPr/>
    </dgm:pt>
    <dgm:pt modelId="{793E4859-6696-456D-93F7-B13C5A7C48F2}" type="pres">
      <dgm:prSet presAssocID="{920DAFEE-0769-44B2-A871-69C9920735EA}" presName="parTx" presStyleLbl="alignNode1" presStyleIdx="1" presStyleCnt="2" custScaleX="101578" custScaleY="100638" custLinFactY="-96761" custLinFactNeighborX="-4414" custLinFactNeighborY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AC5C32F-648E-40BF-B2A8-606EA39DDD26}" type="pres">
      <dgm:prSet presAssocID="{920DAFEE-0769-44B2-A871-69C9920735EA}" presName="desTx" presStyleLbl="alignAccFollowNode1" presStyleIdx="1" presStyleCnt="2" custScaleX="101578" custScaleY="100062" custLinFactNeighborX="-4414" custLinFactNeighborY="-355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FBD609D-3E5D-4C8B-9313-0FEF2BFC07B1}" type="presOf" srcId="{7346CB3D-FF69-4D8E-A2E6-779FDF0DD75A}" destId="{1C023DFE-D7B5-47D2-95C6-730A3A99AC3A}" srcOrd="0" destOrd="3" presId="urn:microsoft.com/office/officeart/2005/8/layout/hList1"/>
    <dgm:cxn modelId="{3767C2CE-A871-4B49-9B68-C1690E236B87}" type="presOf" srcId="{582DAD9A-9C52-49AE-AD8C-DA340FA4CBBB}" destId="{AAC5C32F-648E-40BF-B2A8-606EA39DDD26}" srcOrd="0" destOrd="2" presId="urn:microsoft.com/office/officeart/2005/8/layout/hList1"/>
    <dgm:cxn modelId="{F7006248-CFA6-4188-8061-349A5DDC897D}" srcId="{9688FADA-4292-4953-8D4D-429BCAE36CF0}" destId="{D8A3B555-63DF-46D8-A3D4-4250B6E9A496}" srcOrd="0" destOrd="0" parTransId="{CF9C0CE7-3B66-48C8-91AE-1E78AC20D850}" sibTransId="{F2AD2BDC-65E7-4468-BBD1-411CAE944FD9}"/>
    <dgm:cxn modelId="{BF308DD1-65EB-4D48-878A-6FDE7D973F89}" srcId="{D8A3B555-63DF-46D8-A3D4-4250B6E9A496}" destId="{2C8C0BBC-F26E-4B6D-91B3-E801D8FC9EE4}" srcOrd="2" destOrd="0" parTransId="{5DB90798-CC13-4AD4-99F9-363BCB0B36AA}" sibTransId="{00389F90-3B15-4F4F-B7CA-D2C89BE6E875}"/>
    <dgm:cxn modelId="{9CF53120-CD19-40E2-8E38-FABF0CB57CC8}" srcId="{920DAFEE-0769-44B2-A871-69C9920735EA}" destId="{DCCE229A-CCBC-448C-9890-BF2E5B6BAB92}" srcOrd="3" destOrd="0" parTransId="{8A0D7F85-3D0F-4E3D-A68F-0BD67DC74D7E}" sibTransId="{8D29A404-E4BF-44BE-ABC7-611645E00AD6}"/>
    <dgm:cxn modelId="{314EFDD2-14F2-43C8-AE17-433DD2696999}" srcId="{D8A3B555-63DF-46D8-A3D4-4250B6E9A496}" destId="{03ACBB3B-5483-45FF-AE06-7F1BA398461C}" srcOrd="4" destOrd="0" parTransId="{1FD63B1C-3A46-4629-9844-9DADD9C8764C}" sibTransId="{96BBA0FD-65E0-49A3-8D8F-B5253104B78D}"/>
    <dgm:cxn modelId="{D08066FA-0784-4372-A018-1692447E1CAA}" srcId="{9688FADA-4292-4953-8D4D-429BCAE36CF0}" destId="{920DAFEE-0769-44B2-A871-69C9920735EA}" srcOrd="1" destOrd="0" parTransId="{E839C03B-4E4C-47DE-B6C0-0A0977EB3D30}" sibTransId="{B9918EDF-08A4-416F-B4A5-9355B23834C4}"/>
    <dgm:cxn modelId="{F9E5ABB8-8CE2-4386-9F23-AB59A0B0918F}" type="presOf" srcId="{D7C9A527-5AC4-4057-990D-47FF69F806BA}" destId="{1C023DFE-D7B5-47D2-95C6-730A3A99AC3A}" srcOrd="0" destOrd="0" presId="urn:microsoft.com/office/officeart/2005/8/layout/hList1"/>
    <dgm:cxn modelId="{B41639BD-9537-4328-952F-8D88FD489076}" type="presOf" srcId="{67C79083-403B-4A08-90D6-C90279170D63}" destId="{1C023DFE-D7B5-47D2-95C6-730A3A99AC3A}" srcOrd="0" destOrd="1" presId="urn:microsoft.com/office/officeart/2005/8/layout/hList1"/>
    <dgm:cxn modelId="{EA1A0E5D-0120-4094-B919-CF1091346358}" type="presOf" srcId="{59049F11-DB81-496A-A1FF-18F3C1E792DF}" destId="{AAC5C32F-648E-40BF-B2A8-606EA39DDD26}" srcOrd="0" destOrd="1" presId="urn:microsoft.com/office/officeart/2005/8/layout/hList1"/>
    <dgm:cxn modelId="{97768D31-36B7-4882-B16E-5EE5646DA346}" type="presOf" srcId="{920DAFEE-0769-44B2-A871-69C9920735EA}" destId="{793E4859-6696-456D-93F7-B13C5A7C48F2}" srcOrd="0" destOrd="0" presId="urn:microsoft.com/office/officeart/2005/8/layout/hList1"/>
    <dgm:cxn modelId="{5FD54776-F4A0-4170-A98D-11835C03F8F7}" type="presOf" srcId="{03ACBB3B-5483-45FF-AE06-7F1BA398461C}" destId="{1C023DFE-D7B5-47D2-95C6-730A3A99AC3A}" srcOrd="0" destOrd="4" presId="urn:microsoft.com/office/officeart/2005/8/layout/hList1"/>
    <dgm:cxn modelId="{B9AAE47C-DC5D-4954-BDA9-2862E748B0B2}" type="presOf" srcId="{9688FADA-4292-4953-8D4D-429BCAE36CF0}" destId="{7DB6D6AD-091A-4ABF-9CBD-F4B111CB5C11}" srcOrd="0" destOrd="0" presId="urn:microsoft.com/office/officeart/2005/8/layout/hList1"/>
    <dgm:cxn modelId="{A7F0E75E-A811-4E5B-83F7-536219B77E80}" type="presOf" srcId="{D820CE1A-CBDA-4BF9-9E1F-D54FB0B6CA95}" destId="{AAC5C32F-648E-40BF-B2A8-606EA39DDD26}" srcOrd="0" destOrd="0" presId="urn:microsoft.com/office/officeart/2005/8/layout/hList1"/>
    <dgm:cxn modelId="{A8E047E9-CB42-4A23-9710-6D1B961FA4F3}" type="presOf" srcId="{2C8C0BBC-F26E-4B6D-91B3-E801D8FC9EE4}" destId="{1C023DFE-D7B5-47D2-95C6-730A3A99AC3A}" srcOrd="0" destOrd="2" presId="urn:microsoft.com/office/officeart/2005/8/layout/hList1"/>
    <dgm:cxn modelId="{31FE580F-E3F4-4E2D-84C6-823B34705454}" srcId="{D8A3B555-63DF-46D8-A3D4-4250B6E9A496}" destId="{67C79083-403B-4A08-90D6-C90279170D63}" srcOrd="1" destOrd="0" parTransId="{8CB1D478-9E5D-49CA-9718-F0566676903B}" sibTransId="{B16C6452-2FD1-45DB-A4AF-DFF33DCF2E95}"/>
    <dgm:cxn modelId="{6FDC070C-1F61-4631-B596-F0CB41B1887F}" type="presOf" srcId="{D8A3B555-63DF-46D8-A3D4-4250B6E9A496}" destId="{D742E08A-5324-42EF-8F81-8357BB98E9D5}" srcOrd="0" destOrd="0" presId="urn:microsoft.com/office/officeart/2005/8/layout/hList1"/>
    <dgm:cxn modelId="{73AB4392-59DB-426A-990B-7F3CCA8D2DCE}" srcId="{D8A3B555-63DF-46D8-A3D4-4250B6E9A496}" destId="{D7C9A527-5AC4-4057-990D-47FF69F806BA}" srcOrd="0" destOrd="0" parTransId="{E1C81B81-46C4-43CD-86F3-E9477C794657}" sibTransId="{B3732D4D-FE01-492E-A812-2D483E10A1A2}"/>
    <dgm:cxn modelId="{4A61FC38-A078-4C71-8DC2-ED2307BE8A02}" srcId="{920DAFEE-0769-44B2-A871-69C9920735EA}" destId="{582DAD9A-9C52-49AE-AD8C-DA340FA4CBBB}" srcOrd="2" destOrd="0" parTransId="{0876BC83-D562-4354-8228-9BF60DBBDCF7}" sibTransId="{7C090AB5-760F-460C-9E72-ADF8052CAF43}"/>
    <dgm:cxn modelId="{39B74297-2AF3-42F6-B20A-36F6D74631FE}" srcId="{920DAFEE-0769-44B2-A871-69C9920735EA}" destId="{59049F11-DB81-496A-A1FF-18F3C1E792DF}" srcOrd="1" destOrd="0" parTransId="{905309F4-DD73-4157-838B-150F3B27E0FA}" sibTransId="{88451A72-27AE-4182-ABB2-5EB1DF20D791}"/>
    <dgm:cxn modelId="{881838C4-1AA3-4665-837A-DAA52A27196A}" srcId="{920DAFEE-0769-44B2-A871-69C9920735EA}" destId="{D820CE1A-CBDA-4BF9-9E1F-D54FB0B6CA95}" srcOrd="0" destOrd="0" parTransId="{98CFDE87-FCCD-4199-9B4D-21A5F51ADE49}" sibTransId="{55A0BAC1-D50B-44E8-BF35-C98AD9E306DF}"/>
    <dgm:cxn modelId="{87C11355-52EE-481E-975A-1A897B6DA299}" srcId="{D8A3B555-63DF-46D8-A3D4-4250B6E9A496}" destId="{7346CB3D-FF69-4D8E-A2E6-779FDF0DD75A}" srcOrd="3" destOrd="0" parTransId="{42AB5F77-3885-44FF-9B84-3DAB1A4C2CA8}" sibTransId="{E19C0635-8489-4CD2-8759-020B34B081E0}"/>
    <dgm:cxn modelId="{3CF5F39D-42E5-4D76-96F3-42B3FDF23789}" type="presOf" srcId="{DCCE229A-CCBC-448C-9890-BF2E5B6BAB92}" destId="{AAC5C32F-648E-40BF-B2A8-606EA39DDD26}" srcOrd="0" destOrd="3" presId="urn:microsoft.com/office/officeart/2005/8/layout/hList1"/>
    <dgm:cxn modelId="{CFE547CA-8E0F-42AB-94FE-3E0FEB8178AD}" type="presParOf" srcId="{7DB6D6AD-091A-4ABF-9CBD-F4B111CB5C11}" destId="{0CD70CB0-8AC8-41E5-A7CD-17D8C1E35A59}" srcOrd="0" destOrd="0" presId="urn:microsoft.com/office/officeart/2005/8/layout/hList1"/>
    <dgm:cxn modelId="{FA4E6356-EA30-4E6D-959D-E71AC6D54C85}" type="presParOf" srcId="{0CD70CB0-8AC8-41E5-A7CD-17D8C1E35A59}" destId="{D742E08A-5324-42EF-8F81-8357BB98E9D5}" srcOrd="0" destOrd="0" presId="urn:microsoft.com/office/officeart/2005/8/layout/hList1"/>
    <dgm:cxn modelId="{C3E85A58-7010-4570-97D0-8FD1F0B6560D}" type="presParOf" srcId="{0CD70CB0-8AC8-41E5-A7CD-17D8C1E35A59}" destId="{1C023DFE-D7B5-47D2-95C6-730A3A99AC3A}" srcOrd="1" destOrd="0" presId="urn:microsoft.com/office/officeart/2005/8/layout/hList1"/>
    <dgm:cxn modelId="{8DEF41B9-01D7-4C84-BC08-263232A6655F}" type="presParOf" srcId="{7DB6D6AD-091A-4ABF-9CBD-F4B111CB5C11}" destId="{685F79FC-FE80-4083-BB78-55ADD1C3AD2B}" srcOrd="1" destOrd="0" presId="urn:microsoft.com/office/officeart/2005/8/layout/hList1"/>
    <dgm:cxn modelId="{9D4827A5-B7A8-4157-A3E7-906E05D99D6E}" type="presParOf" srcId="{7DB6D6AD-091A-4ABF-9CBD-F4B111CB5C11}" destId="{385B9CA3-0984-4EB3-891A-F939837AD179}" srcOrd="2" destOrd="0" presId="urn:microsoft.com/office/officeart/2005/8/layout/hList1"/>
    <dgm:cxn modelId="{E1483B43-F2B6-41A3-8F91-8A85C1C28199}" type="presParOf" srcId="{385B9CA3-0984-4EB3-891A-F939837AD179}" destId="{793E4859-6696-456D-93F7-B13C5A7C48F2}" srcOrd="0" destOrd="0" presId="urn:microsoft.com/office/officeart/2005/8/layout/hList1"/>
    <dgm:cxn modelId="{BE674D2E-3D14-460D-BC54-2447AA1945ED}" type="presParOf" srcId="{385B9CA3-0984-4EB3-891A-F939837AD179}" destId="{AAC5C32F-648E-40BF-B2A8-606EA39DDD2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A50CA-5B40-44B3-9845-1EE07D1047F6}">
      <dsp:nvSpPr>
        <dsp:cNvPr id="0" name=""/>
        <dsp:cNvSpPr/>
      </dsp:nvSpPr>
      <dsp:spPr>
        <a:xfrm>
          <a:off x="288030" y="283"/>
          <a:ext cx="2015185" cy="810169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smtClean="0"/>
            <a:t>Objectif</a:t>
          </a:r>
          <a:endParaRPr lang="fr-FR" sz="2000" kern="1200" dirty="0"/>
        </a:p>
      </dsp:txBody>
      <dsp:txXfrm>
        <a:off x="693115" y="283"/>
        <a:ext cx="1205016" cy="810169"/>
      </dsp:txXfrm>
    </dsp:sp>
    <dsp:sp modelId="{2F93793F-C52B-40A0-A4C8-F9E99655F9CC}">
      <dsp:nvSpPr>
        <dsp:cNvPr id="0" name=""/>
        <dsp:cNvSpPr/>
      </dsp:nvSpPr>
      <dsp:spPr>
        <a:xfrm>
          <a:off x="2041242" y="936"/>
          <a:ext cx="6093379" cy="80886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/>
            <a:t>Faire une étude du marché mondial afin d’identifier des groupements de pays intéressants à cibler pour commencer l’exportation des poulets</a:t>
          </a:r>
          <a:endParaRPr lang="fr-FR" sz="1600" kern="1200" dirty="0"/>
        </a:p>
      </dsp:txBody>
      <dsp:txXfrm>
        <a:off x="2445674" y="936"/>
        <a:ext cx="5284515" cy="8088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A50CA-5B40-44B3-9845-1EE07D1047F6}">
      <dsp:nvSpPr>
        <dsp:cNvPr id="0" name=""/>
        <dsp:cNvSpPr/>
      </dsp:nvSpPr>
      <dsp:spPr>
        <a:xfrm>
          <a:off x="576060" y="339"/>
          <a:ext cx="1835800" cy="738050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/>
            <a:t>Objectif</a:t>
          </a:r>
          <a:endParaRPr lang="fr-FR" sz="1800" kern="1200" dirty="0"/>
        </a:p>
      </dsp:txBody>
      <dsp:txXfrm>
        <a:off x="945085" y="339"/>
        <a:ext cx="1097750" cy="738050"/>
      </dsp:txXfrm>
    </dsp:sp>
    <dsp:sp modelId="{2F93793F-C52B-40A0-A4C8-F9E99655F9CC}">
      <dsp:nvSpPr>
        <dsp:cNvPr id="0" name=""/>
        <dsp:cNvSpPr/>
      </dsp:nvSpPr>
      <dsp:spPr>
        <a:xfrm>
          <a:off x="2173206" y="933"/>
          <a:ext cx="3755438" cy="73686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Minimum 100 pays représentant au moins 60 % de la population mondiale    + pas de cases vides </a:t>
          </a:r>
          <a:endParaRPr lang="fr-FR" sz="1400" kern="1200" dirty="0"/>
        </a:p>
      </dsp:txBody>
      <dsp:txXfrm>
        <a:off x="2541637" y="933"/>
        <a:ext cx="3018576" cy="736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57E0F-42CE-48B1-9367-F0EEE997C3F5}">
      <dsp:nvSpPr>
        <dsp:cNvPr id="0" name=""/>
        <dsp:cNvSpPr/>
      </dsp:nvSpPr>
      <dsp:spPr>
        <a:xfrm>
          <a:off x="407" y="244060"/>
          <a:ext cx="1840036" cy="73601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Importation</a:t>
          </a:r>
          <a:endParaRPr lang="fr-FR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68414" y="244060"/>
        <a:ext cx="1104022" cy="736014"/>
      </dsp:txXfrm>
    </dsp:sp>
    <dsp:sp modelId="{0EFB37B3-0F74-46EB-9846-61A3B229067F}">
      <dsp:nvSpPr>
        <dsp:cNvPr id="0" name=""/>
        <dsp:cNvSpPr/>
      </dsp:nvSpPr>
      <dsp:spPr>
        <a:xfrm>
          <a:off x="1656440" y="244060"/>
          <a:ext cx="1840036" cy="736014"/>
        </a:xfrm>
        <a:prstGeom prst="chevron">
          <a:avLst/>
        </a:prstGeom>
        <a:solidFill>
          <a:schemeClr val="accent4">
            <a:hueOff val="-41384"/>
            <a:satOff val="6015"/>
            <a:lumOff val="-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Préparation Nettoyage</a:t>
          </a:r>
          <a:endParaRPr lang="fr-FR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024447" y="244060"/>
        <a:ext cx="1104022" cy="736014"/>
      </dsp:txXfrm>
    </dsp:sp>
    <dsp:sp modelId="{50D2E8EC-B3CC-4168-B0F9-9222346264D9}">
      <dsp:nvSpPr>
        <dsp:cNvPr id="0" name=""/>
        <dsp:cNvSpPr/>
      </dsp:nvSpPr>
      <dsp:spPr>
        <a:xfrm>
          <a:off x="3312473" y="244060"/>
          <a:ext cx="1840036" cy="736014"/>
        </a:xfrm>
        <a:prstGeom prst="chevron">
          <a:avLst/>
        </a:prstGeom>
        <a:solidFill>
          <a:schemeClr val="accent4">
            <a:hueOff val="-82768"/>
            <a:satOff val="12029"/>
            <a:lumOff val="-9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Jonction</a:t>
          </a:r>
          <a:endParaRPr lang="fr-FR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680480" y="244060"/>
        <a:ext cx="1104022" cy="736014"/>
      </dsp:txXfrm>
    </dsp:sp>
    <dsp:sp modelId="{A3CCD759-E735-41A4-BEFA-599F220E75D1}">
      <dsp:nvSpPr>
        <dsp:cNvPr id="0" name=""/>
        <dsp:cNvSpPr/>
      </dsp:nvSpPr>
      <dsp:spPr>
        <a:xfrm>
          <a:off x="4968505" y="244060"/>
          <a:ext cx="1871997" cy="736014"/>
        </a:xfrm>
        <a:prstGeom prst="chevron">
          <a:avLst/>
        </a:prstGeom>
        <a:solidFill>
          <a:schemeClr val="accent4">
            <a:hueOff val="-124151"/>
            <a:satOff val="18044"/>
            <a:lumOff val="-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Analyse exploratoire</a:t>
          </a:r>
          <a:endParaRPr lang="fr-FR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336512" y="244060"/>
        <a:ext cx="1135983" cy="736014"/>
      </dsp:txXfrm>
    </dsp:sp>
    <dsp:sp modelId="{3C7C3AC7-EB7A-4A3E-A795-F07D83EB6FE1}">
      <dsp:nvSpPr>
        <dsp:cNvPr id="0" name=""/>
        <dsp:cNvSpPr/>
      </dsp:nvSpPr>
      <dsp:spPr>
        <a:xfrm>
          <a:off x="6656500" y="244060"/>
          <a:ext cx="1840036" cy="736014"/>
        </a:xfrm>
        <a:prstGeom prst="chevron">
          <a:avLst/>
        </a:prstGeom>
        <a:solidFill>
          <a:schemeClr val="accent4">
            <a:hueOff val="-165535"/>
            <a:satOff val="24059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>
                  <a:lumMod val="65000"/>
                  <a:lumOff val="35000"/>
                </a:schemeClr>
              </a:solidFill>
            </a:rPr>
            <a:t>Exportation</a:t>
          </a:r>
          <a:endParaRPr lang="fr-FR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7024507" y="244060"/>
        <a:ext cx="1104022" cy="7360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2E08A-5324-42EF-8F81-8357BB98E9D5}">
      <dsp:nvSpPr>
        <dsp:cNvPr id="0" name=""/>
        <dsp:cNvSpPr/>
      </dsp:nvSpPr>
      <dsp:spPr>
        <a:xfrm>
          <a:off x="4075" y="0"/>
          <a:ext cx="3515651" cy="5665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>
                  <a:lumMod val="85000"/>
                  <a:lumOff val="15000"/>
                </a:schemeClr>
              </a:solidFill>
            </a:rPr>
            <a:t>Classification Ascendante Hiérarchique (CAH)</a:t>
          </a:r>
          <a:endParaRPr lang="fr-FR" sz="1600" kern="1200" dirty="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4075" y="0"/>
        <a:ext cx="3515651" cy="566564"/>
      </dsp:txXfrm>
    </dsp:sp>
    <dsp:sp modelId="{1C023DFE-D7B5-47D2-95C6-730A3A99AC3A}">
      <dsp:nvSpPr>
        <dsp:cNvPr id="0" name=""/>
        <dsp:cNvSpPr/>
      </dsp:nvSpPr>
      <dsp:spPr>
        <a:xfrm>
          <a:off x="4075" y="579492"/>
          <a:ext cx="3515651" cy="3903014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méthode de partition non supervisée qui regroupe les individus par similitudes.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considère chaque individu comme une classe séparée puis fusionne au fur et à mesure les plus similaires (= distance proche) jusqu’à ce qu’il ne reste qu’une seule classe finale (= ensemble des données).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crée structure arborescente hiérarchique qui illustre comment les individus peuvent être regroupés entre eux = dendrogramme.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Avantage : ne nécessite pas de spécifier le nombre de clusters voulus au préalable.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Inconvénient : nécessite beaucoup de temps et mémoire car recalcule toutes distances entre chaque points à chaque itération     =&gt; mieux adapté pour petits échantillons.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075" y="579492"/>
        <a:ext cx="3515651" cy="3903014"/>
      </dsp:txXfrm>
    </dsp:sp>
    <dsp:sp modelId="{793E4859-6696-456D-93F7-B13C5A7C48F2}">
      <dsp:nvSpPr>
        <dsp:cNvPr id="0" name=""/>
        <dsp:cNvSpPr/>
      </dsp:nvSpPr>
      <dsp:spPr>
        <a:xfrm>
          <a:off x="3851502" y="0"/>
          <a:ext cx="3515651" cy="5746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>
                  <a:lumMod val="85000"/>
                  <a:lumOff val="15000"/>
                </a:schemeClr>
              </a:solidFill>
            </a:rPr>
            <a:t>K-</a:t>
          </a:r>
          <a:r>
            <a:rPr lang="fr-FR" sz="1600" kern="1200" dirty="0" err="1" smtClean="0">
              <a:solidFill>
                <a:schemeClr val="tx1">
                  <a:lumMod val="85000"/>
                  <a:lumOff val="15000"/>
                </a:schemeClr>
              </a:solidFill>
            </a:rPr>
            <a:t>Means</a:t>
          </a:r>
          <a:endParaRPr lang="fr-FR" sz="1600" kern="1200" dirty="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3851502" y="0"/>
        <a:ext cx="3515651" cy="574643"/>
      </dsp:txXfrm>
    </dsp:sp>
    <dsp:sp modelId="{AAC5C32F-648E-40BF-B2A8-606EA39DDD26}">
      <dsp:nvSpPr>
        <dsp:cNvPr id="0" name=""/>
        <dsp:cNvSpPr/>
      </dsp:nvSpPr>
      <dsp:spPr>
        <a:xfrm>
          <a:off x="3851502" y="564256"/>
          <a:ext cx="3515651" cy="3914118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méthode de partition non supervisée qui regroupe les individus selon leur distance avec le </a:t>
          </a:r>
          <a:r>
            <a:rPr lang="fr-FR" sz="1400" kern="12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</a:t>
          </a: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 le plus proche.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centroïdes</a:t>
          </a: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 placés au hasard parmi les individus, puis les distances entre </a:t>
          </a:r>
          <a:r>
            <a:rPr lang="fr-FR" sz="1400" kern="12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centroïdes</a:t>
          </a: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 et individus les plus proches sont calculées et le </a:t>
          </a:r>
          <a:r>
            <a:rPr lang="fr-FR" sz="1400" kern="12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centroïde</a:t>
          </a: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 se déplace jusqu’à obtenir la meilleure position (= distance mini entre centre et individus du cluster  =&gt; inertie </a:t>
          </a:r>
          <a:r>
            <a:rPr lang="fr-FR" sz="1400" kern="1200" dirty="0" err="1" smtClean="0">
              <a:solidFill>
                <a:schemeClr val="tx1">
                  <a:lumMod val="75000"/>
                  <a:lumOff val="25000"/>
                </a:schemeClr>
              </a:solidFill>
            </a:rPr>
            <a:t>intraclasse</a:t>
          </a: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 mini =&gt; plus rien ne bouge).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Avantage : toujours capable de donner un résultat + rapidement (souvent &lt; 10 itérations) même avec beaucoup d’individus.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Inconvénient : peu donner des résultats différents selon placement </a:t>
          </a:r>
          <a:r>
            <a:rPr lang="fr-FR" sz="1400" kern="1200" smtClean="0">
              <a:solidFill>
                <a:schemeClr val="tx1">
                  <a:lumMod val="75000"/>
                  <a:lumOff val="25000"/>
                </a:schemeClr>
              </a:solidFill>
            </a:rPr>
            <a:t>de départ </a:t>
          </a:r>
          <a:r>
            <a:rPr lang="fr-FR" sz="1400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+ nécessite qu’on lui donne le nombre de clusters voulus au préalable.</a:t>
          </a:r>
          <a:endParaRPr lang="fr-FR" sz="14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851502" y="564256"/>
        <a:ext cx="3515651" cy="3914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F540B-9240-4424-8ACD-B8BF0D087D1D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A311A-A972-4A69-B68C-F87F7FA30A8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987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CSV : comma </a:t>
            </a:r>
            <a:r>
              <a:rPr lang="fr-FR" dirty="0" err="1" smtClean="0"/>
              <a:t>separated</a:t>
            </a:r>
            <a:r>
              <a:rPr lang="fr-FR" baseline="0" dirty="0" smtClean="0"/>
              <a:t> values</a:t>
            </a:r>
          </a:p>
          <a:p>
            <a:r>
              <a:rPr lang="fr-FR" baseline="0" dirty="0" smtClean="0"/>
              <a:t>FAO : agence des Nations Unies (ONU) qui lutte contre la faim dans le monde (Food and Agriculture </a:t>
            </a:r>
            <a:r>
              <a:rPr lang="fr-FR" baseline="0" dirty="0" err="1" smtClean="0"/>
              <a:t>Organization</a:t>
            </a:r>
            <a:r>
              <a:rPr lang="fr-FR" baseline="0" dirty="0" smtClean="0"/>
              <a:t>)</a:t>
            </a:r>
          </a:p>
          <a:p>
            <a:r>
              <a:rPr lang="fr-FR" baseline="0" dirty="0" err="1" smtClean="0"/>
              <a:t>FiBL</a:t>
            </a:r>
            <a:r>
              <a:rPr lang="fr-FR" baseline="0" dirty="0" smtClean="0"/>
              <a:t> : institut de recherche pour l’agriculture biologique (acronyme allemand)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Variance</a:t>
            </a:r>
            <a:r>
              <a:rPr lang="fr-FR" baseline="0" dirty="0" smtClean="0"/>
              <a:t> = inertie = étalement des points dans le nuage, informations apportées</a:t>
            </a:r>
          </a:p>
          <a:p>
            <a:r>
              <a:rPr lang="fr-FR" baseline="0" dirty="0" smtClean="0"/>
              <a:t>Valeur propre = importance de la variance, quantité de variance expliquée (information apportée, étalement des points) par la nouvelle composante (axe)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Þ"/>
              <a:tabLst/>
              <a:defRPr/>
            </a:pPr>
            <a:r>
              <a:rPr lang="fr-FR" sz="1200" dirty="0" smtClean="0"/>
              <a:t>F5 &amp; F6 éliminés car structure difficilement interprétable + info redondante et non nécessaire =&gt; reste 70,3 % d’information représentée (variance) = acceptable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Choix du cluster</a:t>
            </a:r>
            <a:r>
              <a:rPr lang="fr-FR" baseline="0" dirty="0" smtClean="0"/>
              <a:t> 0 (vert) car :</a:t>
            </a:r>
          </a:p>
          <a:p>
            <a:r>
              <a:rPr lang="fr-FR" baseline="0" dirty="0" smtClean="0"/>
              <a:t>       -  interprétation fiable sur F1-F2 (individus bien représentés) mais F3-F4 à modérer</a:t>
            </a:r>
          </a:p>
          <a:p>
            <a:r>
              <a:rPr lang="fr-FR" baseline="0" dirty="0" smtClean="0"/>
              <a:t>       -  pays développés, modernisés (accès à internet) et ouverts au marché international (F1 positif)</a:t>
            </a:r>
          </a:p>
          <a:p>
            <a:r>
              <a:rPr lang="fr-FR" baseline="0" dirty="0" smtClean="0"/>
              <a:t>       -  de taille et richesse moyenne (en capacité d'acheter, F2 centré)</a:t>
            </a:r>
          </a:p>
          <a:p>
            <a:r>
              <a:rPr lang="fr-FR" baseline="0" dirty="0" smtClean="0"/>
              <a:t>       -  consommateurs et importateurs moyens de viande de volaille (F2 centrés mais tend vers négatif et F3 centré mais tend vers positif)</a:t>
            </a:r>
          </a:p>
          <a:p>
            <a:r>
              <a:rPr lang="fr-FR" baseline="0" dirty="0" smtClean="0"/>
              <a:t>       -  pas forcément pratiquants de l'agriculture biologique mais pas contres non plus (F4 centré)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Cluster 0 = F1 positif (pays développés, modernisés et ouverts), F2 neutre (moyennement peuplés et riches, possible importateurs), F3 &amp;</a:t>
            </a:r>
            <a:r>
              <a:rPr lang="fr-FR" baseline="0" dirty="0" smtClean="0"/>
              <a:t> F4 neutres (possibles consommateurs et pratiquant l’agriculture biologique + taux de change neutre/ pas défavorable).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A311A-A972-4A69-B68C-F87F7FA30A8C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50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ED0A4B1-229C-4472-A7E3-2BBB3D598AB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F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652B8-EB92-4EB3-86E4-5A9C4840D381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2D285F9C-FC23-449F-8F3C-DE9B0C6B5F25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7826A-C5C1-4077-9D6A-43E21137D96D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7493-5EBC-4D4D-932F-0B17CF554AC1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0872-746F-46B0-9043-C4EE1A6066B3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1A8C2-B307-423D-9944-180B49C455AC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0515-43ED-4597-8F01-FD3F8DBC546A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C099-1DF9-47E8-9356-4E8C3DF371F3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30CE-1A05-419E-9E6B-D6A70B3A5DCB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9DF64-C121-4AE0-B3B4-85CFA8552CAE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DB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4ACE13-EF5C-4AB9-BF2E-ACEE0EC447CE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3A66399-51D9-47D0-8D4F-13E6B1049C64}" type="slidenum">
              <a:rPr lang="fr-FR" smtClean="0"/>
              <a:t>‹#›</a:t>
            </a:fld>
            <a:endParaRPr lang="fr-F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Relationship Id="rId14" Type="http://schemas.openxmlformats.org/officeDocument/2006/relationships/hyperlink" Target="../datas/ACP/Etude_de_marche_Poule_qui_Chante.csv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19200" y="3806552"/>
            <a:ext cx="68580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Etude de marché </a:t>
            </a:r>
            <a:br>
              <a:rPr lang="fr-FR" dirty="0" smtClean="0"/>
            </a:br>
            <a:r>
              <a:rPr lang="fr-FR" dirty="0" smtClean="0"/>
              <a:t>en vue d’exportation</a:t>
            </a:r>
            <a:endParaRPr lang="fr-FR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TEIXEIRA Allison</a:t>
            </a:r>
          </a:p>
          <a:p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Data </a:t>
            </a:r>
            <a:r>
              <a:rPr lang="fr-FR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Analyst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000" y="1305024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0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Contexte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2</a:t>
            </a:fld>
            <a:endParaRPr lang="fr-FR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152775" y="1965647"/>
            <a:ext cx="5307657" cy="1819275"/>
          </a:xfrm>
        </p:spPr>
        <p:txBody>
          <a:bodyPr anchor="ctr">
            <a:normAutofit/>
          </a:bodyPr>
          <a:lstStyle/>
          <a:p>
            <a:r>
              <a:rPr lang="fr-FR" sz="1800" dirty="0" smtClean="0"/>
              <a:t>Entreprise française, établie en France</a:t>
            </a:r>
          </a:p>
          <a:p>
            <a:r>
              <a:rPr lang="fr-FR" sz="1800" dirty="0" smtClean="0"/>
              <a:t>Élève et vend en France des poulets labélisés « Poulet Agriculture Biologique »</a:t>
            </a:r>
          </a:p>
          <a:p>
            <a:r>
              <a:rPr lang="fr-FR" sz="1800" dirty="0" smtClean="0"/>
              <a:t>Souhaite se développer à l’international via l’exportation de ses poulets</a:t>
            </a:r>
            <a:endParaRPr lang="fr-FR" sz="18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665064"/>
            <a:ext cx="2340000" cy="2340000"/>
          </a:xfrm>
          <a:prstGeom prst="rect">
            <a:avLst/>
          </a:prstGeom>
        </p:spPr>
      </p:pic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3595773804"/>
              </p:ext>
            </p:extLst>
          </p:nvPr>
        </p:nvGraphicFramePr>
        <p:xfrm>
          <a:off x="325810" y="4418463"/>
          <a:ext cx="8422653" cy="81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8" name="Content Placeholder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6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PESTEL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3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2439541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fr-FR" sz="1800" u="sng" dirty="0" smtClean="0"/>
              <a:t>Analyse PESTEL </a:t>
            </a:r>
            <a:r>
              <a:rPr lang="fr-FR" sz="1800" dirty="0" smtClean="0"/>
              <a:t>:</a:t>
            </a:r>
            <a:endParaRPr lang="fr-FR" sz="800" dirty="0" smtClean="0"/>
          </a:p>
          <a:p>
            <a:pPr lvl="1"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Ä"/>
            </a:pPr>
            <a:r>
              <a:rPr lang="fr-FR" sz="1600" dirty="0" smtClean="0">
                <a:solidFill>
                  <a:schemeClr val="tx1"/>
                </a:solidFill>
              </a:rPr>
              <a:t>Outil de diagnostic stratégique</a:t>
            </a:r>
          </a:p>
          <a:p>
            <a:pPr lvl="1">
              <a:spcAft>
                <a:spcPts val="12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Ä"/>
            </a:pPr>
            <a:r>
              <a:rPr lang="fr-FR" sz="1600" dirty="0" smtClean="0">
                <a:solidFill>
                  <a:schemeClr val="tx1"/>
                </a:solidFill>
              </a:rPr>
              <a:t>Comprendre l’influence de facteurs extérieurs pouvant impacter l’activité</a:t>
            </a:r>
          </a:p>
          <a:p>
            <a:pPr lvl="1"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Ä"/>
            </a:pPr>
            <a:r>
              <a:rPr lang="fr-FR" sz="1600" dirty="0" smtClean="0">
                <a:solidFill>
                  <a:schemeClr val="tx1"/>
                </a:solidFill>
              </a:rPr>
              <a:t>Méthode :</a:t>
            </a:r>
            <a:endParaRPr lang="fr-FR" sz="1600" dirty="0">
              <a:solidFill>
                <a:schemeClr val="tx1"/>
              </a:solidFill>
            </a:endParaRPr>
          </a:p>
          <a:p>
            <a:pPr marL="617220" lvl="1" indent="-3429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fr-FR" sz="1400" dirty="0" smtClean="0">
                <a:solidFill>
                  <a:schemeClr val="tx1"/>
                </a:solidFill>
              </a:rPr>
              <a:t>Identification des facteurs</a:t>
            </a:r>
          </a:p>
          <a:p>
            <a:pPr marL="617220" lvl="1" indent="-3429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fr-FR" sz="1400" dirty="0" smtClean="0">
                <a:solidFill>
                  <a:schemeClr val="tx1"/>
                </a:solidFill>
              </a:rPr>
              <a:t>Association avec nature et importance de l’influence (+/-)</a:t>
            </a:r>
          </a:p>
          <a:p>
            <a:pPr marL="617220" lvl="1" indent="-342900">
              <a:buClr>
                <a:schemeClr val="tx1"/>
              </a:buClr>
              <a:buSzPct val="80000"/>
              <a:buFont typeface="+mj-lt"/>
              <a:buAutoNum type="arabicPeriod"/>
            </a:pPr>
            <a:r>
              <a:rPr lang="fr-FR" sz="1400" dirty="0" smtClean="0">
                <a:solidFill>
                  <a:schemeClr val="tx1"/>
                </a:solidFill>
              </a:rPr>
              <a:t>Identification des conséquences et stratégie à appliquer</a:t>
            </a:r>
            <a:endParaRPr lang="fr-FR" sz="1400" dirty="0">
              <a:solidFill>
                <a:schemeClr val="tx1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2935881" y="1290246"/>
            <a:ext cx="6172623" cy="5019074"/>
            <a:chOff x="2807296" y="1290246"/>
            <a:chExt cx="6172623" cy="5019074"/>
          </a:xfrm>
        </p:grpSpPr>
        <p:grpSp>
          <p:nvGrpSpPr>
            <p:cNvPr id="28" name="Group 27"/>
            <p:cNvGrpSpPr/>
            <p:nvPr/>
          </p:nvGrpSpPr>
          <p:grpSpPr>
            <a:xfrm>
              <a:off x="2807296" y="1290246"/>
              <a:ext cx="4156399" cy="5019074"/>
              <a:chOff x="2807296" y="1290246"/>
              <a:chExt cx="4156399" cy="5019074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2807296" y="1290246"/>
                <a:ext cx="4113156" cy="5019074"/>
                <a:chOff x="3383360" y="1218238"/>
                <a:chExt cx="4113156" cy="5019074"/>
              </a:xfrm>
            </p:grpSpPr>
            <p:grpSp>
              <p:nvGrpSpPr>
                <p:cNvPr id="16" name="Group 15"/>
                <p:cNvGrpSpPr/>
                <p:nvPr/>
              </p:nvGrpSpPr>
              <p:grpSpPr>
                <a:xfrm>
                  <a:off x="3383360" y="1236061"/>
                  <a:ext cx="4063034" cy="5001251"/>
                  <a:chOff x="3383360" y="1236061"/>
                  <a:chExt cx="4063034" cy="5001251"/>
                </a:xfrm>
              </p:grpSpPr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3383360" y="1236061"/>
                    <a:ext cx="4063034" cy="5001251"/>
                    <a:chOff x="3383360" y="1236061"/>
                    <a:chExt cx="4063034" cy="5001251"/>
                  </a:xfrm>
                </p:grpSpPr>
                <p:grpSp>
                  <p:nvGrpSpPr>
                    <p:cNvPr id="14" name="Group 13"/>
                    <p:cNvGrpSpPr/>
                    <p:nvPr/>
                  </p:nvGrpSpPr>
                  <p:grpSpPr>
                    <a:xfrm>
                      <a:off x="3383360" y="1236061"/>
                      <a:ext cx="4033860" cy="5001251"/>
                      <a:chOff x="3383360" y="1236061"/>
                      <a:chExt cx="4033860" cy="5001251"/>
                    </a:xfrm>
                  </p:grpSpPr>
                  <p:grpSp>
                    <p:nvGrpSpPr>
                      <p:cNvPr id="13" name="Group 12"/>
                      <p:cNvGrpSpPr/>
                      <p:nvPr/>
                    </p:nvGrpSpPr>
                    <p:grpSpPr>
                      <a:xfrm>
                        <a:off x="3383360" y="1236061"/>
                        <a:ext cx="4033860" cy="5001251"/>
                        <a:chOff x="3383360" y="1236061"/>
                        <a:chExt cx="4033860" cy="5001251"/>
                      </a:xfrm>
                    </p:grpSpPr>
                    <p:grpSp>
                      <p:nvGrpSpPr>
                        <p:cNvPr id="12" name="Group 11"/>
                        <p:cNvGrpSpPr/>
                        <p:nvPr/>
                      </p:nvGrpSpPr>
                      <p:grpSpPr>
                        <a:xfrm>
                          <a:off x="3383360" y="1236061"/>
                          <a:ext cx="4033860" cy="5001251"/>
                          <a:chOff x="3383360" y="1236061"/>
                          <a:chExt cx="4033860" cy="5001251"/>
                        </a:xfrm>
                      </p:grpSpPr>
                      <p:grpSp>
                        <p:nvGrpSpPr>
                          <p:cNvPr id="10" name="Group 9"/>
                          <p:cNvGrpSpPr/>
                          <p:nvPr/>
                        </p:nvGrpSpPr>
                        <p:grpSpPr>
                          <a:xfrm>
                            <a:off x="3383360" y="1236061"/>
                            <a:ext cx="4033860" cy="5001251"/>
                            <a:chOff x="3383360" y="1236061"/>
                            <a:chExt cx="4033860" cy="5001251"/>
                          </a:xfrm>
                        </p:grpSpPr>
                        <p:grpSp>
                          <p:nvGrpSpPr>
                            <p:cNvPr id="8" name="Group 7"/>
                            <p:cNvGrpSpPr/>
                            <p:nvPr/>
                          </p:nvGrpSpPr>
                          <p:grpSpPr>
                            <a:xfrm>
                              <a:off x="3383360" y="1236061"/>
                              <a:ext cx="3663566" cy="5001251"/>
                              <a:chOff x="3383360" y="1236061"/>
                              <a:chExt cx="3663566" cy="5001251"/>
                            </a:xfrm>
                          </p:grpSpPr>
                          <p:pic>
                            <p:nvPicPr>
                              <p:cNvPr id="2054" name="Picture 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 rotWithShape="1"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/>
                            </p:blipFill>
                            <p:spPr bwMode="auto">
                              <a:xfrm>
                                <a:off x="3383360" y="1236061"/>
                                <a:ext cx="2520280" cy="500125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  <p:sp>
                            <p:nvSpPr>
                              <p:cNvPr id="5" name="TextBox 4"/>
                              <p:cNvSpPr txBox="1"/>
                              <p:nvPr/>
                            </p:nvSpPr>
                            <p:spPr>
                              <a:xfrm>
                                <a:off x="5724128" y="1556792"/>
                                <a:ext cx="1322798" cy="30777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 marL="285750" indent="-285750">
                                  <a:buFont typeface="Montserrat"/>
                                  <a:buChar char="→"/>
                                </a:pPr>
                                <a:r>
                                  <a:rPr lang="fr-FR" sz="1400" dirty="0" err="1"/>
                                  <a:t>s</a:t>
                                </a:r>
                                <a:r>
                                  <a:rPr lang="fr-FR" sz="1400" dirty="0" err="1" smtClean="0"/>
                                  <a:t>tabilite_po</a:t>
                                </a:r>
                                <a:endParaRPr lang="fr-FR" sz="1400" dirty="0"/>
                              </a:p>
                            </p:txBody>
                          </p:sp>
                        </p:grpSp>
                        <p:sp>
                          <p:nvSpPr>
                            <p:cNvPr id="17" name="TextBox 16"/>
                            <p:cNvSpPr txBox="1"/>
                            <p:nvPr/>
                          </p:nvSpPr>
                          <p:spPr>
                            <a:xfrm>
                              <a:off x="5724128" y="1890167"/>
                              <a:ext cx="1693092" cy="3077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285750" indent="-285750">
                                <a:buFont typeface="Montserrat"/>
                                <a:buChar char="→"/>
                              </a:pPr>
                              <a:r>
                                <a:rPr lang="fr-FR" sz="1400" dirty="0" smtClean="0"/>
                                <a:t>%</a:t>
                              </a:r>
                              <a:r>
                                <a:rPr lang="fr-FR" sz="1400" dirty="0" err="1" smtClean="0"/>
                                <a:t>import_volaille</a:t>
                              </a:r>
                              <a:endParaRPr lang="fr-FR" sz="1400" dirty="0"/>
                            </a:p>
                          </p:txBody>
                        </p:sp>
                        <p:sp>
                          <p:nvSpPr>
                            <p:cNvPr id="18" name="TextBox 17"/>
                            <p:cNvSpPr txBox="1"/>
                            <p:nvPr/>
                          </p:nvSpPr>
                          <p:spPr>
                            <a:xfrm>
                              <a:off x="5724128" y="2257127"/>
                              <a:ext cx="1386918" cy="3077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285750" indent="-285750">
                                <a:buFont typeface="Montserrat"/>
                                <a:buChar char="→"/>
                              </a:pPr>
                              <a:r>
                                <a:rPr lang="fr-FR" sz="1400" dirty="0" err="1"/>
                                <a:t>t</a:t>
                              </a:r>
                              <a:r>
                                <a:rPr lang="fr-FR" sz="1400" dirty="0" err="1" smtClean="0"/>
                                <a:t>aux_change</a:t>
                              </a:r>
                              <a:endParaRPr lang="fr-FR" sz="1400" dirty="0"/>
                            </a:p>
                          </p:txBody>
                        </p:sp>
                        <p:sp>
                          <p:nvSpPr>
                            <p:cNvPr id="19" name="TextBox 18"/>
                            <p:cNvSpPr txBox="1"/>
                            <p:nvPr/>
                          </p:nvSpPr>
                          <p:spPr>
                            <a:xfrm>
                              <a:off x="5724128" y="2585492"/>
                              <a:ext cx="710451" cy="3077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285750" indent="-285750">
                                <a:buFont typeface="Montserrat"/>
                                <a:buChar char="→"/>
                              </a:pPr>
                              <a:r>
                                <a:rPr lang="fr-FR" sz="1400" dirty="0" smtClean="0"/>
                                <a:t>PIB</a:t>
                              </a:r>
                              <a:endParaRPr lang="fr-FR" sz="1400" dirty="0"/>
                            </a:p>
                          </p:txBody>
                        </p:sp>
                        <p:sp>
                          <p:nvSpPr>
                            <p:cNvPr id="20" name="TextBox 19"/>
                            <p:cNvSpPr txBox="1"/>
                            <p:nvPr/>
                          </p:nvSpPr>
                          <p:spPr>
                            <a:xfrm>
                              <a:off x="5724128" y="2893269"/>
                              <a:ext cx="1517980" cy="3077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 marL="285750" indent="-285750">
                                <a:buFont typeface="Montserrat"/>
                                <a:buChar char="→"/>
                              </a:pPr>
                              <a:r>
                                <a:rPr lang="fr-FR" sz="1400" dirty="0" err="1"/>
                                <a:t>p</a:t>
                              </a:r>
                              <a:r>
                                <a:rPr lang="fr-FR" sz="1400" dirty="0" err="1" smtClean="0"/>
                                <a:t>ouvoir_achat</a:t>
                              </a:r>
                              <a:endParaRPr lang="fr-FR" sz="1400" dirty="0"/>
                            </a:p>
                          </p:txBody>
                        </p:sp>
                      </p:grpSp>
                      <p:sp>
                        <p:nvSpPr>
                          <p:cNvPr id="22" name="TextBox 21"/>
                          <p:cNvSpPr txBox="1"/>
                          <p:nvPr/>
                        </p:nvSpPr>
                        <p:spPr>
                          <a:xfrm>
                            <a:off x="5724128" y="3265239"/>
                            <a:ext cx="1273105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285750" indent="-285750">
                              <a:buFont typeface="Montserrat"/>
                              <a:buChar char="→"/>
                            </a:pPr>
                            <a:r>
                              <a:rPr lang="fr-FR" sz="1400" dirty="0" err="1"/>
                              <a:t>p</a:t>
                            </a:r>
                            <a:r>
                              <a:rPr lang="fr-FR" sz="1400" dirty="0" err="1" smtClean="0"/>
                              <a:t>op_totale</a:t>
                            </a:r>
                            <a:endParaRPr lang="fr-FR" sz="1400" dirty="0"/>
                          </a:p>
                        </p:txBody>
                      </p:sp>
                      <p:sp>
                        <p:nvSpPr>
                          <p:cNvPr id="23" name="TextBox 22"/>
                          <p:cNvSpPr txBox="1"/>
                          <p:nvPr/>
                        </p:nvSpPr>
                        <p:spPr>
                          <a:xfrm>
                            <a:off x="5724128" y="3579564"/>
                            <a:ext cx="1516762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285750" indent="-285750">
                              <a:buFont typeface="Montserrat"/>
                              <a:buChar char="→"/>
                            </a:pPr>
                            <a:r>
                              <a:rPr lang="fr-FR" sz="1400" dirty="0" smtClean="0"/>
                              <a:t>%</a:t>
                            </a:r>
                            <a:r>
                              <a:rPr lang="fr-FR" sz="1400" dirty="0" err="1"/>
                              <a:t>p</a:t>
                            </a:r>
                            <a:r>
                              <a:rPr lang="fr-FR" sz="1400" dirty="0" err="1" smtClean="0"/>
                              <a:t>op_urbaine</a:t>
                            </a:r>
                            <a:endParaRPr lang="fr-FR" sz="1400" dirty="0"/>
                          </a:p>
                        </p:txBody>
                      </p:sp>
                    </p:grpSp>
                    <p:sp>
                      <p:nvSpPr>
                        <p:cNvPr id="25" name="TextBox 24"/>
                        <p:cNvSpPr txBox="1"/>
                        <p:nvPr/>
                      </p:nvSpPr>
                      <p:spPr>
                        <a:xfrm>
                          <a:off x="5724128" y="3918992"/>
                          <a:ext cx="1628587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285750" indent="-285750">
                            <a:buFont typeface="Montserrat"/>
                            <a:buChar char="→"/>
                          </a:pPr>
                          <a:r>
                            <a:rPr lang="fr-FR" sz="1400" dirty="0" smtClean="0"/>
                            <a:t>%</a:t>
                          </a:r>
                          <a:r>
                            <a:rPr lang="fr-FR" sz="1400" dirty="0" err="1" smtClean="0"/>
                            <a:t>conso_volaille</a:t>
                          </a:r>
                          <a:endParaRPr lang="fr-FR" sz="1400" dirty="0"/>
                        </a:p>
                      </p:txBody>
                    </p:sp>
                  </p:grpSp>
                  <p:sp>
                    <p:nvSpPr>
                      <p:cNvPr id="27" name="TextBox 26"/>
                      <p:cNvSpPr txBox="1"/>
                      <p:nvPr/>
                    </p:nvSpPr>
                    <p:spPr>
                      <a:xfrm>
                        <a:off x="5724128" y="4423817"/>
                        <a:ext cx="1665841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marL="285750" indent="-285750">
                          <a:buFont typeface="Montserrat"/>
                          <a:buChar char="→"/>
                        </a:pPr>
                        <a:r>
                          <a:rPr lang="fr-FR" sz="1400" dirty="0" smtClean="0"/>
                          <a:t>%</a:t>
                        </a:r>
                        <a:r>
                          <a:rPr lang="fr-FR" sz="1400" dirty="0" err="1" smtClean="0"/>
                          <a:t>accès_internet</a:t>
                        </a:r>
                        <a:endParaRPr lang="fr-FR" sz="1400" dirty="0"/>
                      </a:p>
                    </p:txBody>
                  </p:sp>
                </p:grpSp>
                <p:sp>
                  <p:nvSpPr>
                    <p:cNvPr id="29" name="TextBox 28"/>
                    <p:cNvSpPr txBox="1"/>
                    <p:nvPr/>
                  </p:nvSpPr>
                  <p:spPr>
                    <a:xfrm>
                      <a:off x="5724128" y="5919242"/>
                      <a:ext cx="1722266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285750" indent="-285750">
                        <a:buFont typeface="Montserrat"/>
                        <a:buChar char="→"/>
                      </a:pPr>
                      <a:r>
                        <a:rPr lang="fr-FR" sz="1400" dirty="0" smtClean="0"/>
                        <a:t>%</a:t>
                      </a:r>
                      <a:r>
                        <a:rPr lang="fr-FR" sz="1400" dirty="0" err="1" smtClean="0"/>
                        <a:t>droits_douanes</a:t>
                      </a:r>
                      <a:endParaRPr lang="fr-FR" sz="1400" dirty="0"/>
                    </a:p>
                  </p:txBody>
                </p:sp>
              </p:grpSp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5724128" y="4852442"/>
                    <a:ext cx="169911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285750" indent="-285750">
                      <a:buFont typeface="Montserrat"/>
                      <a:buChar char="→"/>
                    </a:pPr>
                    <a:r>
                      <a:rPr lang="fr-FR" sz="1400" dirty="0" smtClean="0"/>
                      <a:t>%</a:t>
                    </a:r>
                    <a:r>
                      <a:rPr lang="fr-FR" sz="1400" dirty="0" err="1" smtClean="0"/>
                      <a:t>agriculture_bio</a:t>
                    </a:r>
                    <a:endParaRPr lang="fr-FR" sz="1400" dirty="0"/>
                  </a:p>
                </p:txBody>
              </p:sp>
            </p:grpSp>
            <p:sp>
              <p:nvSpPr>
                <p:cNvPr id="21" name="TextBox 20"/>
                <p:cNvSpPr txBox="1"/>
                <p:nvPr/>
              </p:nvSpPr>
              <p:spPr>
                <a:xfrm>
                  <a:off x="5883575" y="1218238"/>
                  <a:ext cx="161294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 algn="ctr">
                    <a:buFont typeface="Symbol"/>
                    <a:buChar char="Þ"/>
                  </a:pPr>
                  <a:r>
                    <a:rPr lang="fr-FR" sz="1600" dirty="0" smtClean="0"/>
                    <a:t>11 variables :</a:t>
                  </a:r>
                  <a:endParaRPr lang="fr-FR" sz="1600" dirty="0"/>
                </a:p>
              </p:txBody>
            </p:sp>
          </p:grpSp>
          <p:sp>
            <p:nvSpPr>
              <p:cNvPr id="26" name="Right Bracket 25"/>
              <p:cNvSpPr/>
              <p:nvPr/>
            </p:nvSpPr>
            <p:spPr>
              <a:xfrm>
                <a:off x="6860479" y="1700808"/>
                <a:ext cx="103216" cy="4533900"/>
              </a:xfrm>
              <a:prstGeom prst="rightBracke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6963696" y="2628201"/>
              <a:ext cx="201622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Symbol"/>
                <a:buChar char="Þ"/>
              </a:pPr>
              <a:r>
                <a:rPr lang="fr-FR" sz="1600" dirty="0" smtClean="0"/>
                <a:t>Création à partir données fournies</a:t>
              </a:r>
            </a:p>
            <a:p>
              <a:pPr marL="285750" indent="-285750">
                <a:buFont typeface="Symbol"/>
                <a:buChar char="Þ"/>
              </a:pPr>
              <a:endParaRPr lang="fr-FR" sz="1600" dirty="0" smtClean="0"/>
            </a:p>
            <a:p>
              <a:pPr marL="285750" indent="-285750">
                <a:buFont typeface="Symbol"/>
                <a:buChar char="Þ"/>
              </a:pPr>
              <a:endParaRPr lang="fr-FR" sz="1600" dirty="0"/>
            </a:p>
            <a:p>
              <a:pPr lvl="1"/>
              <a:r>
                <a:rPr lang="fr-FR" sz="1600" dirty="0"/>
                <a:t> </a:t>
              </a:r>
              <a:r>
                <a:rPr lang="fr-FR" sz="1600" dirty="0" smtClean="0"/>
                <a:t>    Ou</a:t>
              </a:r>
            </a:p>
            <a:p>
              <a:pPr lvl="1"/>
              <a:endParaRPr lang="fr-FR" sz="1600" dirty="0"/>
            </a:p>
            <a:p>
              <a:pPr lvl="1"/>
              <a:endParaRPr lang="fr-FR" sz="1600" dirty="0" smtClean="0"/>
            </a:p>
            <a:p>
              <a:pPr marL="285750" indent="-285750">
                <a:buFont typeface="Symbol"/>
                <a:buChar char="Þ"/>
              </a:pPr>
              <a:r>
                <a:rPr lang="fr-FR" sz="1600" dirty="0" smtClean="0"/>
                <a:t>Récolte sites FAO, Banque Mondiale</a:t>
              </a:r>
              <a:endParaRPr lang="fr-F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685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Préparation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4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u="sng" dirty="0" smtClean="0"/>
              <a:t>Préparation et Nettoyage des données </a:t>
            </a:r>
            <a:r>
              <a:rPr lang="fr-FR" sz="1800" dirty="0" smtClean="0"/>
              <a:t>:</a:t>
            </a:r>
            <a:endParaRPr lang="fr-FR" sz="18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107504" y="5229200"/>
            <a:ext cx="9042055" cy="892552"/>
            <a:chOff x="251520" y="5157192"/>
            <a:chExt cx="9042055" cy="892552"/>
          </a:xfrm>
        </p:grpSpPr>
        <p:graphicFrame>
          <p:nvGraphicFramePr>
            <p:cNvPr id="33" name="Diagram 32"/>
            <p:cNvGraphicFramePr/>
            <p:nvPr>
              <p:extLst>
                <p:ext uri="{D42A27DB-BD31-4B8C-83A1-F6EECF244321}">
                  <p14:modId xmlns:p14="http://schemas.microsoft.com/office/powerpoint/2010/main" val="2559951524"/>
                </p:ext>
              </p:extLst>
            </p:nvPr>
          </p:nvGraphicFramePr>
          <p:xfrm>
            <a:off x="251520" y="5229200"/>
            <a:ext cx="6504705" cy="73872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32" name="TextBox 31"/>
            <p:cNvSpPr txBox="1"/>
            <p:nvPr/>
          </p:nvSpPr>
          <p:spPr>
            <a:xfrm>
              <a:off x="6228184" y="5157192"/>
              <a:ext cx="3065391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spcAft>
                  <a:spcPts val="600"/>
                </a:spcAft>
                <a:buClr>
                  <a:srgbClr val="00B050"/>
                </a:buClr>
                <a:buSzPct val="150000"/>
                <a:buFont typeface="Wingdings" panose="05000000000000000000" pitchFamily="2" charset="2"/>
                <a:buChar char="ü"/>
              </a:pPr>
              <a:r>
                <a:rPr lang="fr-FR" sz="1400" dirty="0" smtClean="0"/>
                <a:t>101 pays</a:t>
              </a:r>
            </a:p>
            <a:p>
              <a:pPr marL="342900" indent="-342900">
                <a:spcAft>
                  <a:spcPts val="600"/>
                </a:spcAft>
                <a:buClr>
                  <a:srgbClr val="00B050"/>
                </a:buClr>
                <a:buSzPct val="150000"/>
                <a:buFont typeface="Wingdings" panose="05000000000000000000" pitchFamily="2" charset="2"/>
                <a:buChar char="ü"/>
              </a:pPr>
              <a:r>
                <a:rPr lang="fr-FR" sz="1400" dirty="0" smtClean="0"/>
                <a:t>76 % population</a:t>
              </a:r>
            </a:p>
            <a:p>
              <a:pPr marL="342900" indent="-342900">
                <a:spcAft>
                  <a:spcPts val="1200"/>
                </a:spcAft>
                <a:buClr>
                  <a:srgbClr val="00B050"/>
                </a:buClr>
                <a:buSzPct val="150000"/>
                <a:buFont typeface="Wingdings" panose="05000000000000000000" pitchFamily="2" charset="2"/>
                <a:buChar char="ü"/>
              </a:pPr>
              <a:r>
                <a:rPr lang="fr-FR" sz="1400" dirty="0"/>
                <a:t>p</a:t>
              </a:r>
              <a:r>
                <a:rPr lang="fr-FR" sz="1400" dirty="0" smtClean="0"/>
                <a:t>as de cases vides </a:t>
              </a:r>
              <a:r>
                <a:rPr lang="fr-FR" sz="1100" i="1" dirty="0" smtClean="0"/>
                <a:t>(* infos manquantes)</a:t>
              </a:r>
              <a:endParaRPr lang="fr-FR" sz="1100" i="1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23529" y="1556792"/>
            <a:ext cx="8496944" cy="3522294"/>
            <a:chOff x="323529" y="1556792"/>
            <a:chExt cx="8496944" cy="3522294"/>
          </a:xfrm>
        </p:grpSpPr>
        <p:grpSp>
          <p:nvGrpSpPr>
            <p:cNvPr id="47" name="Group 46"/>
            <p:cNvGrpSpPr/>
            <p:nvPr/>
          </p:nvGrpSpPr>
          <p:grpSpPr>
            <a:xfrm>
              <a:off x="323529" y="1556792"/>
              <a:ext cx="8496944" cy="3522294"/>
              <a:chOff x="323529" y="1803306"/>
              <a:chExt cx="8496944" cy="3522294"/>
            </a:xfrm>
          </p:grpSpPr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:p14="http://schemas.microsoft.com/office/powerpoint/2010/main" val="1709671999"/>
                  </p:ext>
                </p:extLst>
              </p:nvPr>
            </p:nvGraphicFramePr>
            <p:xfrm>
              <a:off x="323529" y="1803306"/>
              <a:ext cx="8496944" cy="122413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  <p:sp>
            <p:nvSpPr>
              <p:cNvPr id="36" name="TextBox 35"/>
              <p:cNvSpPr txBox="1"/>
              <p:nvPr/>
            </p:nvSpPr>
            <p:spPr>
              <a:xfrm>
                <a:off x="467544" y="2924943"/>
                <a:ext cx="1548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11 fichiers CSV :</a:t>
                </a:r>
              </a:p>
              <a:p>
                <a:r>
                  <a:rPr lang="fr-FR" sz="1200" dirty="0" smtClean="0"/>
                  <a:t>  - 2 fournis</a:t>
                </a:r>
              </a:p>
              <a:p>
                <a:r>
                  <a:rPr lang="fr-FR" sz="1200" dirty="0" smtClean="0"/>
                  <a:t>  - 5 FAO</a:t>
                </a:r>
              </a:p>
              <a:p>
                <a:r>
                  <a:rPr lang="fr-FR" sz="1200" dirty="0" smtClean="0"/>
                  <a:t>  - 3 Banque Mondiale</a:t>
                </a:r>
              </a:p>
              <a:p>
                <a:r>
                  <a:rPr lang="fr-FR" sz="1200" dirty="0" smtClean="0"/>
                  <a:t>  - 1 </a:t>
                </a:r>
                <a:r>
                  <a:rPr lang="fr-FR" sz="1200" dirty="0" err="1" smtClean="0"/>
                  <a:t>FiBL</a:t>
                </a:r>
                <a:endParaRPr lang="fr-FR" sz="1200" dirty="0" smtClean="0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fr-FR" sz="1200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2055076" y="2924943"/>
                <a:ext cx="1652828" cy="2400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Structure table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Nombre lignes/colonnes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Types des données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Valeurs manquantes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Doublons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Erreurs (unités, orthographes pays)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Valeurs aberrantes (min/max étranges)</a:t>
                </a:r>
                <a:endParaRPr lang="fr-FR" sz="1200" dirty="0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364088" y="2924943"/>
                <a:ext cx="1656183" cy="1538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Visualisation distribution données</a:t>
                </a:r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Détection et justification </a:t>
                </a:r>
                <a:r>
                  <a:rPr lang="fr-FR" sz="1200" dirty="0" err="1" smtClean="0"/>
                  <a:t>outliers</a:t>
                </a:r>
                <a:r>
                  <a:rPr lang="fr-FR" sz="1200" dirty="0" smtClean="0"/>
                  <a:t> (valeurs extrêmes)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1</a:t>
                </a:r>
                <a:r>
                  <a:rPr lang="fr-FR" sz="1200" baseline="30000" dirty="0" smtClean="0"/>
                  <a:t>ère</a:t>
                </a:r>
                <a:r>
                  <a:rPr lang="fr-FR" sz="1200" dirty="0" smtClean="0"/>
                  <a:t> analyse des corrélations</a:t>
                </a:r>
                <a:endParaRPr lang="fr-FR" sz="1200" dirty="0"/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1979712" y="2924943"/>
                <a:ext cx="5040560" cy="2340000"/>
                <a:chOff x="2051720" y="2837680"/>
                <a:chExt cx="5040560" cy="2340000"/>
              </a:xfrm>
            </p:grpSpPr>
            <p:cxnSp>
              <p:nvCxnSpPr>
                <p:cNvPr id="40" name="Straight Connector 39"/>
                <p:cNvCxnSpPr/>
                <p:nvPr/>
              </p:nvCxnSpPr>
              <p:spPr>
                <a:xfrm flipV="1">
                  <a:off x="2051720" y="2837680"/>
                  <a:ext cx="0" cy="2340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flipV="1">
                  <a:off x="3779912" y="2837680"/>
                  <a:ext cx="0" cy="2340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5436076" y="2837680"/>
                  <a:ext cx="0" cy="2340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V="1">
                  <a:off x="7092280" y="2837680"/>
                  <a:ext cx="0" cy="234000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TextBox 48"/>
              <p:cNvSpPr txBox="1"/>
              <p:nvPr/>
            </p:nvSpPr>
            <p:spPr>
              <a:xfrm>
                <a:off x="7108901" y="2924943"/>
                <a:ext cx="1548000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1200" dirty="0" smtClean="0"/>
                  <a:t>1 fichier CSV contenant données pour analyse :</a:t>
                </a:r>
              </a:p>
              <a:p>
                <a:r>
                  <a:rPr lang="fr-FR" sz="1200" dirty="0" smtClean="0">
                    <a:hlinkClick r:id="rId14" action="ppaction://hlinkfile"/>
                  </a:rPr>
                  <a:t>Etude_de_marche_Poule_qui_Chante.csv</a:t>
                </a:r>
                <a:endParaRPr lang="fr-FR" sz="1200" dirty="0" smtClean="0"/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3712798" y="2678429"/>
              <a:ext cx="1652828" cy="22006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fr-FR" sz="1200" dirty="0" smtClean="0"/>
                <a:t>Création du </a:t>
              </a:r>
              <a:r>
                <a:rPr lang="fr-FR" sz="1200" dirty="0" err="1" smtClean="0"/>
                <a:t>Code_pays</a:t>
              </a:r>
              <a:r>
                <a:rPr lang="fr-FR" sz="1200" dirty="0" smtClean="0"/>
                <a:t> pour identification unique 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fr-FR" sz="1200" dirty="0" smtClean="0"/>
                <a:t>Jointures internes (</a:t>
              </a:r>
              <a:r>
                <a:rPr lang="fr-FR" sz="1200" dirty="0" err="1" smtClean="0"/>
                <a:t>inner</a:t>
              </a:r>
              <a:r>
                <a:rPr lang="fr-FR" sz="1200" dirty="0" smtClean="0"/>
                <a:t>) fichiers 2 à 2 sur Code _pays pour ne conserver que les pays communs à tous les fichiers (= pas d’infos manquantes)  </a:t>
              </a:r>
              <a:endParaRPr lang="fr-F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246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ACP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5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800" u="sng" dirty="0" smtClean="0"/>
              <a:t>Analyse en Composantes Principales </a:t>
            </a:r>
            <a:r>
              <a:rPr lang="fr-FR" sz="1800" dirty="0" smtClean="0"/>
              <a:t>:</a:t>
            </a:r>
          </a:p>
          <a:p>
            <a:pPr lvl="1"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Ä"/>
            </a:pPr>
            <a:r>
              <a:rPr lang="fr-FR" sz="1600" dirty="0" smtClean="0">
                <a:solidFill>
                  <a:schemeClr val="tx1"/>
                </a:solidFill>
              </a:rPr>
              <a:t>permet de réduire le nombre de variables (colonnes) en les associant selon les corrélations</a:t>
            </a:r>
            <a:endParaRPr lang="fr-FR" sz="1600" dirty="0">
              <a:solidFill>
                <a:schemeClr val="tx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11720" y="2241048"/>
            <a:ext cx="6624576" cy="1620000"/>
            <a:chOff x="899592" y="2398789"/>
            <a:chExt cx="6624576" cy="1620000"/>
          </a:xfrm>
        </p:grpSpPr>
        <p:grpSp>
          <p:nvGrpSpPr>
            <p:cNvPr id="19" name="Group 18"/>
            <p:cNvGrpSpPr/>
            <p:nvPr/>
          </p:nvGrpSpPr>
          <p:grpSpPr>
            <a:xfrm>
              <a:off x="899592" y="2398789"/>
              <a:ext cx="6624576" cy="1620000"/>
              <a:chOff x="683568" y="2398789"/>
              <a:chExt cx="6624576" cy="162000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683568" y="2398789"/>
                <a:ext cx="6624576" cy="1620000"/>
                <a:chOff x="611560" y="2451747"/>
                <a:chExt cx="6624576" cy="1620000"/>
              </a:xfrm>
            </p:grpSpPr>
            <p:grpSp>
              <p:nvGrpSpPr>
                <p:cNvPr id="8" name="Group 7"/>
                <p:cNvGrpSpPr/>
                <p:nvPr/>
              </p:nvGrpSpPr>
              <p:grpSpPr>
                <a:xfrm>
                  <a:off x="611560" y="2451747"/>
                  <a:ext cx="1620000" cy="1620000"/>
                  <a:chOff x="827583" y="2708920"/>
                  <a:chExt cx="1620000" cy="1620000"/>
                </a:xfrm>
              </p:grpSpPr>
              <p:sp>
                <p:nvSpPr>
                  <p:cNvPr id="4" name="Oval 3"/>
                  <p:cNvSpPr/>
                  <p:nvPr/>
                </p:nvSpPr>
                <p:spPr>
                  <a:xfrm>
                    <a:off x="827583" y="2708920"/>
                    <a:ext cx="1620000" cy="1620000"/>
                  </a:xfrm>
                  <a:prstGeom prst="ellipse">
                    <a:avLst/>
                  </a:prstGeom>
                  <a:effectLst/>
                </p:spPr>
                <p:style>
                  <a:lnRef idx="3">
                    <a:schemeClr val="lt1"/>
                  </a:lnRef>
                  <a:fillRef idx="1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4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Centrer et réduire les données</a:t>
                    </a:r>
                    <a:endParaRPr lang="fr-F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5" name="Oval 4"/>
                  <p:cNvSpPr/>
                  <p:nvPr/>
                </p:nvSpPr>
                <p:spPr>
                  <a:xfrm>
                    <a:off x="899591" y="2744744"/>
                    <a:ext cx="360000" cy="360000"/>
                  </a:xfrm>
                  <a:prstGeom prst="ellipse">
                    <a:avLst/>
                  </a:prstGeom>
                  <a:effectLst/>
                </p:spPr>
                <p:style>
                  <a:lnRef idx="3">
                    <a:schemeClr val="lt1"/>
                  </a:lnRef>
                  <a:fillRef idx="1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4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1</a:t>
                    </a:r>
                    <a:endParaRPr lang="fr-F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2" name="Group 11"/>
                <p:cNvGrpSpPr/>
                <p:nvPr/>
              </p:nvGrpSpPr>
              <p:grpSpPr>
                <a:xfrm>
                  <a:off x="3095856" y="2451747"/>
                  <a:ext cx="1620000" cy="1620000"/>
                  <a:chOff x="835379" y="2708920"/>
                  <a:chExt cx="1620000" cy="1620000"/>
                </a:xfrm>
              </p:grpSpPr>
              <p:sp>
                <p:nvSpPr>
                  <p:cNvPr id="13" name="Oval 12"/>
                  <p:cNvSpPr/>
                  <p:nvPr/>
                </p:nvSpPr>
                <p:spPr>
                  <a:xfrm>
                    <a:off x="835379" y="2708920"/>
                    <a:ext cx="1620000" cy="1620000"/>
                  </a:xfrm>
                  <a:prstGeom prst="ellipse">
                    <a:avLst/>
                  </a:prstGeom>
                  <a:effectLst/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4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Appliquer l’ACP sur les données normalisées</a:t>
                    </a:r>
                    <a:endParaRPr lang="fr-F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4" name="Oval 13"/>
                  <p:cNvSpPr/>
                  <p:nvPr/>
                </p:nvSpPr>
                <p:spPr>
                  <a:xfrm>
                    <a:off x="907387" y="2744744"/>
                    <a:ext cx="360000" cy="360000"/>
                  </a:xfrm>
                  <a:prstGeom prst="ellipse">
                    <a:avLst/>
                  </a:prstGeom>
                  <a:effectLst/>
                </p:spPr>
                <p:style>
                  <a:lnRef idx="3">
                    <a:schemeClr val="lt1"/>
                  </a:lnRef>
                  <a:fillRef idx="1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2</a:t>
                    </a:r>
                  </a:p>
                </p:txBody>
              </p: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5616136" y="2451747"/>
                  <a:ext cx="1620000" cy="1620000"/>
                  <a:chOff x="879159" y="2708920"/>
                  <a:chExt cx="1620000" cy="1620000"/>
                </a:xfrm>
              </p:grpSpPr>
              <p:sp>
                <p:nvSpPr>
                  <p:cNvPr id="16" name="Oval 15"/>
                  <p:cNvSpPr/>
                  <p:nvPr/>
                </p:nvSpPr>
                <p:spPr>
                  <a:xfrm>
                    <a:off x="879159" y="2708920"/>
                    <a:ext cx="1620000" cy="1620000"/>
                  </a:xfrm>
                  <a:prstGeom prst="ellipse">
                    <a:avLst/>
                  </a:prstGeom>
                  <a:effectLst/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4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Choisir le nombre de composantes à conserver</a:t>
                    </a:r>
                    <a:endParaRPr lang="fr-FR" sz="1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  <p:sp>
                <p:nvSpPr>
                  <p:cNvPr id="17" name="Oval 16"/>
                  <p:cNvSpPr/>
                  <p:nvPr/>
                </p:nvSpPr>
                <p:spPr>
                  <a:xfrm>
                    <a:off x="951167" y="2744744"/>
                    <a:ext cx="360000" cy="360000"/>
                  </a:xfrm>
                  <a:prstGeom prst="ellipse">
                    <a:avLst/>
                  </a:prstGeom>
                  <a:effectLst/>
                </p:spPr>
                <p:style>
                  <a:lnRef idx="3">
                    <a:schemeClr val="lt1"/>
                  </a:lnRef>
                  <a:fillRef idx="1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8" name="Right Arrow 17"/>
              <p:cNvSpPr/>
              <p:nvPr/>
            </p:nvSpPr>
            <p:spPr>
              <a:xfrm>
                <a:off x="2519792" y="3010677"/>
                <a:ext cx="468000" cy="468000"/>
              </a:xfrm>
              <a:prstGeom prst="rightArrow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0" name="Right Arrow 19"/>
            <p:cNvSpPr/>
            <p:nvPr/>
          </p:nvSpPr>
          <p:spPr>
            <a:xfrm>
              <a:off x="5184088" y="3010677"/>
              <a:ext cx="468000" cy="468000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67544" y="4005064"/>
            <a:ext cx="207645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dirty="0" smtClean="0"/>
              <a:t>Normaliser données pour les rendre comparables :</a:t>
            </a:r>
          </a:p>
          <a:p>
            <a:r>
              <a:rPr lang="fr-FR" sz="1200" dirty="0" smtClean="0"/>
              <a:t>          - moyennes = 0 </a:t>
            </a:r>
          </a:p>
          <a:p>
            <a:pPr marL="171450" indent="-171450">
              <a:spcAft>
                <a:spcPts val="600"/>
              </a:spcAft>
              <a:buFont typeface="Symbol"/>
              <a:buChar char="Þ"/>
            </a:pPr>
            <a:r>
              <a:rPr lang="fr-FR" sz="1100" dirty="0" smtClean="0"/>
              <a:t>centrer sur graphique pour comparer distances </a:t>
            </a:r>
          </a:p>
          <a:p>
            <a:r>
              <a:rPr lang="fr-FR" sz="1200" dirty="0" smtClean="0"/>
              <a:t>          - écarts-types = 1</a:t>
            </a:r>
          </a:p>
          <a:p>
            <a:pPr marL="171450" indent="-171450">
              <a:buFont typeface="Symbol"/>
              <a:buChar char="Þ"/>
            </a:pPr>
            <a:r>
              <a:rPr lang="fr-FR" sz="1100" dirty="0"/>
              <a:t>r</a:t>
            </a:r>
            <a:r>
              <a:rPr lang="fr-FR" sz="1100" dirty="0" smtClean="0"/>
              <a:t>amener à même unité pour comparer longueurs</a:t>
            </a:r>
            <a:endParaRPr lang="fr-FR" sz="1100" dirty="0"/>
          </a:p>
          <a:p>
            <a:endParaRPr lang="fr-FR" sz="1200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2782068" y="4077072"/>
            <a:ext cx="2365996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dirty="0" smtClean="0"/>
              <a:t>Calcule covariance entre variables puis combine en nouveaux axes (= composantes) selon degrés de corrélation et afin de conserver le maximum d’infos (max variance/inertie)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/>
              <a:t>Calcule nouvelles coordonnées de chaque individu sur ces axes</a:t>
            </a:r>
            <a:endParaRPr lang="fr-FR" sz="1200" dirty="0"/>
          </a:p>
          <a:p>
            <a:endParaRPr lang="fr-FR" sz="1200" dirty="0" smtClean="0"/>
          </a:p>
        </p:txBody>
      </p:sp>
      <p:grpSp>
        <p:nvGrpSpPr>
          <p:cNvPr id="27" name="Group 26"/>
          <p:cNvGrpSpPr/>
          <p:nvPr/>
        </p:nvGrpSpPr>
        <p:grpSpPr>
          <a:xfrm>
            <a:off x="3219331" y="3555244"/>
            <a:ext cx="5495830" cy="2701813"/>
            <a:chOff x="3219331" y="3555244"/>
            <a:chExt cx="5495830" cy="2701813"/>
          </a:xfrm>
        </p:grpSpPr>
        <p:grpSp>
          <p:nvGrpSpPr>
            <p:cNvPr id="25" name="Group 24"/>
            <p:cNvGrpSpPr/>
            <p:nvPr/>
          </p:nvGrpSpPr>
          <p:grpSpPr>
            <a:xfrm>
              <a:off x="3219331" y="3555244"/>
              <a:ext cx="5495830" cy="2701813"/>
              <a:chOff x="3219331" y="3555244"/>
              <a:chExt cx="5495830" cy="2701813"/>
            </a:xfrm>
          </p:grpSpPr>
          <p:grpSp>
            <p:nvGrpSpPr>
              <p:cNvPr id="1037" name="Group 1036"/>
              <p:cNvGrpSpPr/>
              <p:nvPr/>
            </p:nvGrpSpPr>
            <p:grpSpPr>
              <a:xfrm>
                <a:off x="5292080" y="3555244"/>
                <a:ext cx="3423081" cy="2682068"/>
                <a:chOff x="5292080" y="3555244"/>
                <a:chExt cx="3423081" cy="2682068"/>
              </a:xfrm>
            </p:grpSpPr>
            <p:grpSp>
              <p:nvGrpSpPr>
                <p:cNvPr id="1036" name="Group 1035"/>
                <p:cNvGrpSpPr/>
                <p:nvPr/>
              </p:nvGrpSpPr>
              <p:grpSpPr>
                <a:xfrm>
                  <a:off x="5292080" y="3555244"/>
                  <a:ext cx="3423081" cy="2682068"/>
                  <a:chOff x="5292080" y="3555244"/>
                  <a:chExt cx="3423081" cy="2682068"/>
                </a:xfrm>
              </p:grpSpPr>
              <p:grpSp>
                <p:nvGrpSpPr>
                  <p:cNvPr id="1034" name="Group 1033"/>
                  <p:cNvGrpSpPr/>
                  <p:nvPr/>
                </p:nvGrpSpPr>
                <p:grpSpPr>
                  <a:xfrm>
                    <a:off x="5292080" y="3555244"/>
                    <a:ext cx="3423081" cy="2682068"/>
                    <a:chOff x="5292080" y="3555244"/>
                    <a:chExt cx="3423081" cy="2682068"/>
                  </a:xfrm>
                </p:grpSpPr>
                <p:grpSp>
                  <p:nvGrpSpPr>
                    <p:cNvPr id="1033" name="Group 1032"/>
                    <p:cNvGrpSpPr/>
                    <p:nvPr/>
                  </p:nvGrpSpPr>
                  <p:grpSpPr>
                    <a:xfrm>
                      <a:off x="5292080" y="3555244"/>
                      <a:ext cx="3423081" cy="2682068"/>
                      <a:chOff x="5292080" y="3555244"/>
                      <a:chExt cx="3423081" cy="2682068"/>
                    </a:xfrm>
                  </p:grpSpPr>
                  <p:grpSp>
                    <p:nvGrpSpPr>
                      <p:cNvPr id="1031" name="Group 1030"/>
                      <p:cNvGrpSpPr/>
                      <p:nvPr/>
                    </p:nvGrpSpPr>
                    <p:grpSpPr>
                      <a:xfrm>
                        <a:off x="5292080" y="3555244"/>
                        <a:ext cx="3423081" cy="2682068"/>
                        <a:chOff x="5292080" y="3555244"/>
                        <a:chExt cx="3423081" cy="2682068"/>
                      </a:xfrm>
                    </p:grpSpPr>
                    <p:grpSp>
                      <p:nvGrpSpPr>
                        <p:cNvPr id="1029" name="Group 1028"/>
                        <p:cNvGrpSpPr/>
                        <p:nvPr/>
                      </p:nvGrpSpPr>
                      <p:grpSpPr>
                        <a:xfrm>
                          <a:off x="5292080" y="3555244"/>
                          <a:ext cx="3423081" cy="2682068"/>
                          <a:chOff x="5292080" y="3555244"/>
                          <a:chExt cx="3423081" cy="2682068"/>
                        </a:xfrm>
                      </p:grpSpPr>
                      <p:pic>
                        <p:nvPicPr>
                          <p:cNvPr id="1026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2080" y="3555244"/>
                            <a:ext cx="3423081" cy="26820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  <p:sp>
                        <p:nvSpPr>
                          <p:cNvPr id="24" name="Oval 23"/>
                          <p:cNvSpPr/>
                          <p:nvPr/>
                        </p:nvSpPr>
                        <p:spPr>
                          <a:xfrm>
                            <a:off x="5619750" y="5949280"/>
                            <a:ext cx="1533525" cy="270545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rgbClr val="C00000"/>
                            </a:solidFill>
                          </a:ln>
                        </p:spPr>
                        <p:style>
                          <a:lnRef idx="2">
                            <a:schemeClr val="accent6"/>
                          </a:lnRef>
                          <a:fillRef idx="1">
                            <a:schemeClr val="lt1"/>
                          </a:fillRef>
                          <a:effectRef idx="0">
                            <a:schemeClr val="accent6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fr-FR"/>
                          </a:p>
                        </p:txBody>
                      </p:sp>
                      <p:grpSp>
                        <p:nvGrpSpPr>
                          <p:cNvPr id="1028" name="Group 1027"/>
                          <p:cNvGrpSpPr/>
                          <p:nvPr/>
                        </p:nvGrpSpPr>
                        <p:grpSpPr>
                          <a:xfrm>
                            <a:off x="5508104" y="5301232"/>
                            <a:ext cx="3168352" cy="216000"/>
                            <a:chOff x="5508104" y="5301232"/>
                            <a:chExt cx="3168352" cy="216000"/>
                          </a:xfrm>
                        </p:grpSpPr>
                        <p:cxnSp>
                          <p:nvCxnSpPr>
                            <p:cNvPr id="26" name="Straight Connector 25"/>
                            <p:cNvCxnSpPr/>
                            <p:nvPr/>
                          </p:nvCxnSpPr>
                          <p:spPr>
                            <a:xfrm>
                              <a:off x="5508104" y="5445224"/>
                              <a:ext cx="2988000" cy="0"/>
                            </a:xfrm>
                            <a:prstGeom prst="line">
                              <a:avLst/>
                            </a:prstGeom>
                            <a:effectLst/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1027" name="Oval 1026"/>
                            <p:cNvSpPr/>
                            <p:nvPr/>
                          </p:nvSpPr>
                          <p:spPr>
                            <a:xfrm>
                              <a:off x="8460456" y="5301232"/>
                              <a:ext cx="216000" cy="216000"/>
                            </a:xfrm>
                            <a:prstGeom prst="ellipse">
                              <a:avLst/>
                            </a:prstGeom>
                            <a:noFill/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fr-FR"/>
                            </a:p>
                          </p:txBody>
                        </p:sp>
                      </p:grpSp>
                    </p:grpSp>
                    <p:sp>
                      <p:nvSpPr>
                        <p:cNvPr id="1030" name="TextBox 1029"/>
                        <p:cNvSpPr txBox="1"/>
                        <p:nvPr/>
                      </p:nvSpPr>
                      <p:spPr>
                        <a:xfrm>
                          <a:off x="7917174" y="5183614"/>
                          <a:ext cx="546945" cy="2616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fr-FR" sz="1100" dirty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Kaiser</a:t>
                          </a:r>
                          <a:endParaRPr lang="fr-FR" sz="1100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p:txBody>
                    </p:sp>
                  </p:grpSp>
                  <p:sp>
                    <p:nvSpPr>
                      <p:cNvPr id="1032" name="Right Bracket 1031"/>
                      <p:cNvSpPr/>
                      <p:nvPr/>
                    </p:nvSpPr>
                    <p:spPr>
                      <a:xfrm rot="16200000">
                        <a:off x="6068017" y="3933681"/>
                        <a:ext cx="73152" cy="936000"/>
                      </a:xfrm>
                      <a:prstGeom prst="rightBracket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42" name="Right Bracket 41"/>
                    <p:cNvSpPr/>
                    <p:nvPr/>
                  </p:nvSpPr>
                  <p:spPr>
                    <a:xfrm rot="16200000">
                      <a:off x="6204118" y="4235320"/>
                      <a:ext cx="72000" cy="1188000"/>
                    </a:xfrm>
                    <a:prstGeom prst="rightBracket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035" name="TextBox 1034"/>
                  <p:cNvSpPr txBox="1"/>
                  <p:nvPr/>
                </p:nvSpPr>
                <p:spPr>
                  <a:xfrm>
                    <a:off x="5868304" y="4088105"/>
                    <a:ext cx="559769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1100" dirty="0" smtClean="0"/>
                      <a:t>70,3 %</a:t>
                    </a:r>
                    <a:endParaRPr lang="fr-FR" sz="1100" dirty="0"/>
                  </a:p>
                </p:txBody>
              </p:sp>
            </p:grpSp>
            <p:sp>
              <p:nvSpPr>
                <p:cNvPr id="46" name="TextBox 45"/>
                <p:cNvSpPr txBox="1"/>
                <p:nvPr/>
              </p:nvSpPr>
              <p:spPr>
                <a:xfrm>
                  <a:off x="6030229" y="4509120"/>
                  <a:ext cx="55976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100" dirty="0" smtClean="0"/>
                    <a:t>84,2 %</a:t>
                  </a:r>
                  <a:endParaRPr lang="fr-FR" sz="1100" dirty="0"/>
                </a:p>
              </p:txBody>
            </p:sp>
          </p:grpSp>
          <p:sp>
            <p:nvSpPr>
              <p:cNvPr id="3" name="TextBox 2"/>
              <p:cNvSpPr txBox="1"/>
              <p:nvPr/>
            </p:nvSpPr>
            <p:spPr>
              <a:xfrm>
                <a:off x="3219331" y="5949280"/>
                <a:ext cx="1928733" cy="30777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fr-FR" sz="1400" dirty="0" smtClean="0"/>
                  <a:t>Choix = 6 composantes</a:t>
                </a:r>
                <a:endParaRPr lang="fr-FR" sz="1400" dirty="0"/>
              </a:p>
            </p:txBody>
          </p:sp>
        </p:grpSp>
        <p:sp>
          <p:nvSpPr>
            <p:cNvPr id="41" name="Right Arrow 40"/>
            <p:cNvSpPr/>
            <p:nvPr/>
          </p:nvSpPr>
          <p:spPr>
            <a:xfrm rot="10800000">
              <a:off x="5220073" y="6057311"/>
              <a:ext cx="324000" cy="180000"/>
            </a:xfrm>
            <a:prstGeom prst="rightArrow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56411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ACP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6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800" u="sng" dirty="0" smtClean="0"/>
              <a:t>Analyse en Composantes Principales </a:t>
            </a:r>
            <a:r>
              <a:rPr lang="fr-FR" sz="1800" dirty="0"/>
              <a:t>:</a:t>
            </a:r>
            <a:endParaRPr lang="fr-FR" sz="1800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611720" y="1881008"/>
            <a:ext cx="1620000" cy="1620000"/>
            <a:chOff x="827583" y="2708920"/>
            <a:chExt cx="1620000" cy="1620000"/>
          </a:xfrm>
        </p:grpSpPr>
        <p:sp>
          <p:nvSpPr>
            <p:cNvPr id="4" name="Oval 3"/>
            <p:cNvSpPr/>
            <p:nvPr/>
          </p:nvSpPr>
          <p:spPr>
            <a:xfrm>
              <a:off x="827583" y="2708920"/>
              <a:ext cx="1620000" cy="1620000"/>
            </a:xfrm>
            <a:prstGeom prst="ellipse">
              <a:avLst/>
            </a:prstGeom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Cercles des corrélations</a:t>
              </a:r>
              <a:endParaRPr lang="fr-F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899591" y="2744744"/>
              <a:ext cx="360000" cy="360000"/>
            </a:xfrm>
            <a:prstGeom prst="ellipse">
              <a:avLst/>
            </a:prstGeom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63325" y="3690317"/>
            <a:ext cx="187642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D</a:t>
            </a:r>
            <a:r>
              <a:rPr lang="fr-FR" sz="1200" dirty="0" smtClean="0"/>
              <a:t>egrés de corrélation variable/axe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dirty="0" smtClean="0"/>
              <a:t>Qualité représentation variable sur l’axe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/>
              <a:t>Contribution variable dans l’axe</a:t>
            </a:r>
            <a:endParaRPr lang="fr-FR" sz="1200" dirty="0"/>
          </a:p>
          <a:p>
            <a:endParaRPr lang="fr-FR" sz="1200" dirty="0" smtClean="0"/>
          </a:p>
        </p:txBody>
      </p:sp>
      <p:pic>
        <p:nvPicPr>
          <p:cNvPr id="103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923" y="1700808"/>
            <a:ext cx="3133189" cy="28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700808"/>
            <a:ext cx="2894444" cy="28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2339752" y="4581128"/>
            <a:ext cx="6353036" cy="1777410"/>
            <a:chOff x="2339752" y="4687976"/>
            <a:chExt cx="6353036" cy="1777410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53847" y="4741976"/>
              <a:ext cx="0" cy="1620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/>
          </p:nvGrpSpPr>
          <p:grpSpPr>
            <a:xfrm>
              <a:off x="2339752" y="4687976"/>
              <a:ext cx="6353036" cy="1777410"/>
              <a:chOff x="2339752" y="4687976"/>
              <a:chExt cx="6353036" cy="1777410"/>
            </a:xfrm>
          </p:grpSpPr>
          <p:sp>
            <p:nvSpPr>
              <p:cNvPr id="1039" name="TextBox 1038"/>
              <p:cNvSpPr txBox="1"/>
              <p:nvPr/>
            </p:nvSpPr>
            <p:spPr>
              <a:xfrm>
                <a:off x="2442617" y="4687976"/>
                <a:ext cx="3211230" cy="1777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 smtClean="0"/>
                  <a:t>F1 = développement socio-économique</a:t>
                </a:r>
              </a:p>
              <a:p>
                <a:r>
                  <a:rPr lang="fr-FR" sz="1050" i="1" dirty="0"/>
                  <a:t> </a:t>
                </a:r>
                <a:r>
                  <a:rPr lang="fr-FR" sz="1050" i="1" dirty="0" smtClean="0"/>
                  <a:t>     (accès </a:t>
                </a:r>
                <a:r>
                  <a:rPr lang="fr-FR" sz="1050" i="1" dirty="0"/>
                  <a:t>internet, </a:t>
                </a:r>
                <a:r>
                  <a:rPr lang="fr-FR" sz="1050" i="1" dirty="0" smtClean="0"/>
                  <a:t>pouvoir </a:t>
                </a:r>
                <a:r>
                  <a:rPr lang="fr-FR" sz="1050" i="1" dirty="0"/>
                  <a:t>d’achat, </a:t>
                </a:r>
                <a:r>
                  <a:rPr lang="fr-FR" sz="1050" i="1" dirty="0" smtClean="0"/>
                  <a:t>population urbaine,</a:t>
                </a:r>
              </a:p>
              <a:p>
                <a:pPr>
                  <a:spcAft>
                    <a:spcPts val="300"/>
                  </a:spcAft>
                </a:pPr>
                <a:r>
                  <a:rPr lang="fr-FR" sz="1050" i="1" dirty="0"/>
                  <a:t> </a:t>
                </a:r>
                <a:r>
                  <a:rPr lang="fr-FR" sz="1050" i="1" dirty="0" smtClean="0"/>
                  <a:t>      stabilité politique, droits de douanes)</a:t>
                </a:r>
                <a:endParaRPr lang="fr-FR" sz="1050" dirty="0"/>
              </a:p>
              <a:p>
                <a:pPr lvl="1"/>
                <a:r>
                  <a:rPr lang="fr-FR" sz="1100" dirty="0" smtClean="0"/>
                  <a:t>+ = développé/modernisé 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fr-FR" sz="1100" i="1" dirty="0" smtClean="0"/>
                  <a:t>--</a:t>
                </a:r>
                <a:r>
                  <a:rPr lang="fr-FR" sz="1100" dirty="0" smtClean="0"/>
                  <a:t> = protectionniste</a:t>
                </a:r>
                <a:endParaRPr lang="fr-FR" sz="1100" i="1" dirty="0" smtClean="0"/>
              </a:p>
              <a:p>
                <a:r>
                  <a:rPr lang="fr-FR" sz="1200" dirty="0" smtClean="0"/>
                  <a:t>F2 = politique commerciale</a:t>
                </a:r>
              </a:p>
              <a:p>
                <a:r>
                  <a:rPr lang="fr-FR" sz="1050" i="1" dirty="0" smtClean="0"/>
                  <a:t>      (PIB, population totale, importation volaille)</a:t>
                </a:r>
              </a:p>
              <a:p>
                <a:pPr lvl="1"/>
                <a:r>
                  <a:rPr lang="fr-FR" sz="1100" dirty="0" smtClean="0"/>
                  <a:t>+ = peuplé/riche</a:t>
                </a:r>
                <a:endParaRPr lang="fr-FR" sz="1100" dirty="0"/>
              </a:p>
              <a:p>
                <a:pPr lvl="1"/>
                <a:r>
                  <a:rPr lang="fr-FR" sz="1100" i="1" dirty="0" smtClean="0"/>
                  <a:t>--</a:t>
                </a:r>
                <a:r>
                  <a:rPr lang="fr-FR" sz="1100" dirty="0" smtClean="0"/>
                  <a:t> = importateur de volaille</a:t>
                </a:r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2339752" y="4687976"/>
                <a:ext cx="6353036" cy="1728000"/>
              </a:xfrm>
              <a:prstGeom prst="rect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18" name="TextBox 17"/>
          <p:cNvSpPr txBox="1"/>
          <p:nvPr/>
        </p:nvSpPr>
        <p:spPr>
          <a:xfrm>
            <a:off x="5753258" y="4581128"/>
            <a:ext cx="2939530" cy="17004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F3 = comportement alimentaire</a:t>
            </a:r>
          </a:p>
          <a:p>
            <a:r>
              <a:rPr lang="fr-FR" sz="1050" i="1" dirty="0"/>
              <a:t> </a:t>
            </a:r>
            <a:r>
              <a:rPr lang="fr-FR" sz="1050" i="1" dirty="0" smtClean="0"/>
              <a:t>     (population totale, agriculture biologique, PIB,</a:t>
            </a:r>
          </a:p>
          <a:p>
            <a:r>
              <a:rPr lang="fr-FR" sz="1050" i="1" dirty="0"/>
              <a:t> </a:t>
            </a:r>
            <a:r>
              <a:rPr lang="fr-FR" sz="1050" i="1" dirty="0" smtClean="0"/>
              <a:t>      importation et consommation volaille)</a:t>
            </a:r>
            <a:endParaRPr lang="fr-FR" sz="1050" dirty="0"/>
          </a:p>
          <a:p>
            <a:pPr lvl="1"/>
            <a:r>
              <a:rPr lang="fr-FR" sz="1100" dirty="0" smtClean="0"/>
              <a:t>+ = importateur et pratique le bio</a:t>
            </a:r>
          </a:p>
          <a:p>
            <a:pPr lvl="1">
              <a:spcAft>
                <a:spcPts val="600"/>
              </a:spcAft>
            </a:pPr>
            <a:r>
              <a:rPr lang="fr-FR" sz="1100" i="1" dirty="0" smtClean="0"/>
              <a:t>--</a:t>
            </a:r>
            <a:r>
              <a:rPr lang="fr-FR" sz="1100" dirty="0" smtClean="0"/>
              <a:t> = consommateur de volaille</a:t>
            </a:r>
            <a:endParaRPr lang="fr-FR" sz="1100" i="1" dirty="0" smtClean="0"/>
          </a:p>
          <a:p>
            <a:r>
              <a:rPr lang="fr-FR" sz="1200" dirty="0" smtClean="0"/>
              <a:t>F4 = valeur de la monnaie</a:t>
            </a:r>
          </a:p>
          <a:p>
            <a:r>
              <a:rPr lang="fr-FR" sz="1050" i="1" dirty="0" smtClean="0"/>
              <a:t>      (taux de change, droits de douanes, conso volaille)</a:t>
            </a:r>
          </a:p>
          <a:p>
            <a:pPr lvl="1"/>
            <a:r>
              <a:rPr lang="fr-FR" sz="1100" dirty="0" smtClean="0"/>
              <a:t>+ = taux de change favorable</a:t>
            </a:r>
            <a:endParaRPr lang="fr-FR" sz="1100" dirty="0"/>
          </a:p>
          <a:p>
            <a:pPr lvl="1"/>
            <a:r>
              <a:rPr lang="fr-FR" sz="1100" i="1" dirty="0" smtClean="0"/>
              <a:t>--</a:t>
            </a:r>
            <a:r>
              <a:rPr lang="fr-FR" sz="1100" dirty="0" smtClean="0"/>
              <a:t> = protectionniste et consommateur</a:t>
            </a:r>
          </a:p>
        </p:txBody>
      </p:sp>
    </p:spTree>
    <p:extLst>
      <p:ext uri="{BB962C8B-B14F-4D97-AF65-F5344CB8AC3E}">
        <p14:creationId xmlns:p14="http://schemas.microsoft.com/office/powerpoint/2010/main" val="198537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ACP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7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800" u="sng" dirty="0" smtClean="0"/>
              <a:t>Analyse en Composantes Principales </a:t>
            </a:r>
            <a:r>
              <a:rPr lang="fr-FR" sz="1800" dirty="0"/>
              <a:t>:</a:t>
            </a:r>
            <a:endParaRPr lang="fr-FR" sz="1800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611720" y="1881008"/>
            <a:ext cx="1620000" cy="1620000"/>
            <a:chOff x="827583" y="2708920"/>
            <a:chExt cx="1620000" cy="1620000"/>
          </a:xfrm>
        </p:grpSpPr>
        <p:sp>
          <p:nvSpPr>
            <p:cNvPr id="4" name="Oval 3"/>
            <p:cNvSpPr/>
            <p:nvPr/>
          </p:nvSpPr>
          <p:spPr>
            <a:xfrm>
              <a:off x="827583" y="2708920"/>
              <a:ext cx="1620000" cy="1620000"/>
            </a:xfrm>
            <a:prstGeom prst="ellipse">
              <a:avLst/>
            </a:prstGeom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Projections des individus</a:t>
              </a:r>
              <a:endParaRPr lang="fr-FR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899591" y="2744744"/>
              <a:ext cx="360000" cy="360000"/>
            </a:xfrm>
            <a:prstGeom prst="ellipse">
              <a:avLst/>
            </a:prstGeom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5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63325" y="3690317"/>
            <a:ext cx="187642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dirty="0"/>
              <a:t>D</a:t>
            </a:r>
            <a:r>
              <a:rPr lang="fr-FR" sz="1200" dirty="0" smtClean="0"/>
              <a:t>egrés de corrélation individu/axe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200" dirty="0" smtClean="0"/>
              <a:t>Qualité représentation individu sur l’axe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/>
              <a:t>Contribution individu dans l’axe</a:t>
            </a:r>
            <a:endParaRPr lang="fr-FR" sz="1200" dirty="0"/>
          </a:p>
          <a:p>
            <a:endParaRPr lang="fr-FR" sz="1200" dirty="0" smtClean="0"/>
          </a:p>
        </p:txBody>
      </p: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593" y="1700808"/>
            <a:ext cx="2684511" cy="28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700808"/>
            <a:ext cx="2688621" cy="28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2699792" y="4542363"/>
            <a:ext cx="5976664" cy="1838965"/>
            <a:chOff x="2699792" y="4652843"/>
            <a:chExt cx="5976664" cy="1838965"/>
          </a:xfrm>
        </p:grpSpPr>
        <p:sp>
          <p:nvSpPr>
            <p:cNvPr id="3" name="TextBox 2"/>
            <p:cNvSpPr txBox="1"/>
            <p:nvPr/>
          </p:nvSpPr>
          <p:spPr>
            <a:xfrm>
              <a:off x="2699792" y="4652843"/>
              <a:ext cx="2880000" cy="1838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fr-FR" sz="1200" dirty="0" smtClean="0"/>
                <a:t>F1-F2 = plan principal</a:t>
              </a:r>
            </a:p>
            <a:p>
              <a:pPr marL="628650" lvl="1" indent="-171450">
                <a:spcAft>
                  <a:spcPts val="600"/>
                </a:spcAft>
                <a:buFont typeface="Wingdings" panose="05000000000000000000" pitchFamily="2" charset="2"/>
                <a:buChar char="Ä"/>
              </a:pPr>
              <a:r>
                <a:rPr lang="fr-FR" sz="1200" dirty="0" smtClean="0"/>
                <a:t>Bonne représentation : nuage étalé + inertie maximale </a:t>
              </a:r>
              <a:r>
                <a:rPr lang="fr-FR" sz="1050" i="1" dirty="0" smtClean="0"/>
                <a:t>(49,44%)</a:t>
              </a:r>
            </a:p>
            <a:p>
              <a:pPr marL="628650" lvl="1" indent="-171450">
                <a:spcAft>
                  <a:spcPts val="600"/>
                </a:spcAft>
                <a:buFont typeface="Wingdings" panose="05000000000000000000" pitchFamily="2" charset="2"/>
                <a:buChar char="Ä"/>
              </a:pPr>
              <a:r>
                <a:rPr lang="fr-FR" sz="1200" dirty="0" smtClean="0"/>
                <a:t>Contient les infos principales</a:t>
              </a:r>
            </a:p>
            <a:p>
              <a:pPr marL="628650" lvl="1" indent="-171450">
                <a:spcAft>
                  <a:spcPts val="600"/>
                </a:spcAft>
                <a:buFont typeface="Wingdings" panose="05000000000000000000" pitchFamily="2" charset="2"/>
                <a:buChar char="Ä"/>
              </a:pPr>
              <a:r>
                <a:rPr lang="fr-FR" sz="1200" dirty="0" smtClean="0"/>
                <a:t>Interprétation fiable car individus bien représentés </a:t>
              </a:r>
              <a:r>
                <a:rPr lang="fr-FR" sz="1050" i="1" dirty="0" smtClean="0"/>
                <a:t>(&gt; 0,5 sauf centre)</a:t>
              </a:r>
            </a:p>
            <a:p>
              <a:pPr marL="628650" lvl="1" indent="-171450">
                <a:buFont typeface="Wingdings" panose="05000000000000000000" pitchFamily="2" charset="2"/>
                <a:buChar char="Ä"/>
              </a:pPr>
              <a:r>
                <a:rPr lang="fr-FR" sz="1200" dirty="0" smtClean="0"/>
                <a:t>Pas de cluster évident mais avec couleur 4 semblent se séparer</a:t>
              </a:r>
              <a:endParaRPr lang="fr-FR" sz="1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88456" y="4652843"/>
              <a:ext cx="2988000" cy="1838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fr-FR" sz="1200" dirty="0" smtClean="0"/>
                <a:t>F3-F4 = plan secondaire</a:t>
              </a:r>
            </a:p>
            <a:p>
              <a:pPr marL="628650" lvl="1" indent="-171450">
                <a:spcAft>
                  <a:spcPts val="600"/>
                </a:spcAft>
                <a:buFont typeface="Wingdings" panose="05000000000000000000" pitchFamily="2" charset="2"/>
                <a:buChar char="Ä"/>
              </a:pPr>
              <a:r>
                <a:rPr lang="fr-FR" sz="1200" dirty="0"/>
                <a:t>R</a:t>
              </a:r>
              <a:r>
                <a:rPr lang="fr-FR" sz="1200" dirty="0" smtClean="0"/>
                <a:t>eprésentation passable : nuage groupé au centre + inertie </a:t>
              </a:r>
              <a:r>
                <a:rPr lang="fr-FR" sz="1050" i="1" dirty="0" smtClean="0"/>
                <a:t>(20,86%)</a:t>
              </a:r>
            </a:p>
            <a:p>
              <a:pPr marL="628650" lvl="1" indent="-171450">
                <a:spcAft>
                  <a:spcPts val="600"/>
                </a:spcAft>
                <a:buFont typeface="Wingdings" panose="05000000000000000000" pitchFamily="2" charset="2"/>
                <a:buChar char="Ä"/>
              </a:pPr>
              <a:r>
                <a:rPr lang="fr-FR" sz="1200" dirty="0" smtClean="0"/>
                <a:t>Contient infos complémentaires</a:t>
              </a:r>
            </a:p>
            <a:p>
              <a:pPr marL="628650" lvl="1" indent="-171450">
                <a:spcAft>
                  <a:spcPts val="600"/>
                </a:spcAft>
                <a:buFont typeface="Wingdings" panose="05000000000000000000" pitchFamily="2" charset="2"/>
                <a:buChar char="Ä"/>
              </a:pPr>
              <a:r>
                <a:rPr lang="fr-FR" sz="1200" dirty="0" smtClean="0"/>
                <a:t>Interprétation avec parcimonie car individus mal représentés  </a:t>
              </a:r>
              <a:r>
                <a:rPr lang="fr-FR" sz="1050" i="1" dirty="0" smtClean="0"/>
                <a:t>(&lt; 0,5)</a:t>
              </a:r>
            </a:p>
            <a:p>
              <a:pPr marL="628650" lvl="1" indent="-171450">
                <a:spcAft>
                  <a:spcPts val="600"/>
                </a:spcAft>
                <a:buFont typeface="Wingdings" panose="05000000000000000000" pitchFamily="2" charset="2"/>
                <a:buChar char="Ä"/>
              </a:pPr>
              <a:r>
                <a:rPr lang="fr-FR" sz="1200" dirty="0" smtClean="0"/>
                <a:t>Pas de cluster évident mais avec couleur 3 semblent se séparer</a:t>
              </a:r>
              <a:endParaRPr lang="fr-FR" sz="1200" dirty="0"/>
            </a:p>
          </p:txBody>
        </p:sp>
        <p:cxnSp>
          <p:nvCxnSpPr>
            <p:cNvPr id="15" name="Straight Connector 14"/>
            <p:cNvCxnSpPr/>
            <p:nvPr/>
          </p:nvCxnSpPr>
          <p:spPr>
            <a:xfrm flipV="1">
              <a:off x="5598812" y="4689320"/>
              <a:ext cx="0" cy="1620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951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</a:t>
            </a:r>
            <a:r>
              <a:rPr lang="fr-FR" dirty="0" err="1" smtClean="0"/>
              <a:t>Clustering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8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2 méthodes utilisées :</a:t>
            </a:r>
            <a:endParaRPr lang="fr-FR" sz="1600" u="sng" dirty="0">
              <a:solidFill>
                <a:schemeClr val="tx1"/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75285178"/>
              </p:ext>
            </p:extLst>
          </p:nvPr>
        </p:nvGraphicFramePr>
        <p:xfrm>
          <a:off x="864424" y="1772816"/>
          <a:ext cx="7524000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1830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</a:t>
            </a:r>
            <a:r>
              <a:rPr lang="fr-FR" dirty="0" err="1" smtClean="0"/>
              <a:t>Clustering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9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Choix du nombre de clusters à conserver (CAH) :  6 </a:t>
            </a:r>
            <a:endParaRPr lang="fr-FR" sz="1600" u="sng" dirty="0">
              <a:solidFill>
                <a:schemeClr val="tx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622540" y="1844824"/>
            <a:ext cx="3693876" cy="2031372"/>
            <a:chOff x="4622540" y="1844824"/>
            <a:chExt cx="3693876" cy="2031372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2540" y="1844824"/>
              <a:ext cx="3693876" cy="2031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" name="Straight Arrow Connector 11"/>
            <p:cNvCxnSpPr/>
            <p:nvPr/>
          </p:nvCxnSpPr>
          <p:spPr>
            <a:xfrm flipV="1">
              <a:off x="5508104" y="2492896"/>
              <a:ext cx="0" cy="1008112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804248" y="2492896"/>
              <a:ext cx="0" cy="1008112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79512" y="1916832"/>
            <a:ext cx="4320000" cy="3949287"/>
            <a:chOff x="179512" y="1916832"/>
            <a:chExt cx="4320000" cy="3949287"/>
          </a:xfrm>
        </p:grpSpPr>
        <p:grpSp>
          <p:nvGrpSpPr>
            <p:cNvPr id="15" name="Group 14"/>
            <p:cNvGrpSpPr/>
            <p:nvPr/>
          </p:nvGrpSpPr>
          <p:grpSpPr>
            <a:xfrm>
              <a:off x="179512" y="1916832"/>
              <a:ext cx="4320000" cy="3949287"/>
              <a:chOff x="179512" y="1916832"/>
              <a:chExt cx="4320000" cy="3949287"/>
            </a:xfrm>
          </p:grpSpPr>
          <p:pic>
            <p:nvPicPr>
              <p:cNvPr id="1026" name="Picture 2" descr="C:\Users\Administrateur\Pictures\Screenshots\Capture d'écran 2026-03-23 185658.pn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536" y="1916832"/>
                <a:ext cx="3960440" cy="39492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" name="Straight Connector 3"/>
              <p:cNvCxnSpPr/>
              <p:nvPr/>
            </p:nvCxnSpPr>
            <p:spPr>
              <a:xfrm>
                <a:off x="179512" y="4635212"/>
                <a:ext cx="4320000" cy="0"/>
              </a:xfrm>
              <a:prstGeom prst="line">
                <a:avLst/>
              </a:prstGeom>
              <a:ln>
                <a:prstDash val="dash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/>
            <p:cNvCxnSpPr/>
            <p:nvPr/>
          </p:nvCxnSpPr>
          <p:spPr>
            <a:xfrm>
              <a:off x="179512" y="4365104"/>
              <a:ext cx="4320000" cy="0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4644008" y="4005064"/>
            <a:ext cx="3762944" cy="2088232"/>
            <a:chOff x="4644008" y="4005064"/>
            <a:chExt cx="3762944" cy="2088232"/>
          </a:xfrm>
        </p:grpSpPr>
        <p:grpSp>
          <p:nvGrpSpPr>
            <p:cNvPr id="19" name="Group 18"/>
            <p:cNvGrpSpPr/>
            <p:nvPr/>
          </p:nvGrpSpPr>
          <p:grpSpPr>
            <a:xfrm>
              <a:off x="4644008" y="4005064"/>
              <a:ext cx="3762944" cy="2088232"/>
              <a:chOff x="4628100" y="4005064"/>
              <a:chExt cx="3762944" cy="2088232"/>
            </a:xfrm>
          </p:grpSpPr>
          <p:pic>
            <p:nvPicPr>
              <p:cNvPr id="1030" name="Picture 6" descr="C:\Users\Administrateur\Pictures\Screenshots\Capture d'écran 2026-03-23 185732.png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28100" y="4005064"/>
                <a:ext cx="3762944" cy="20882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" name="Straight Connector 16"/>
              <p:cNvCxnSpPr/>
              <p:nvPr/>
            </p:nvCxnSpPr>
            <p:spPr>
              <a:xfrm>
                <a:off x="6372200" y="4149080"/>
                <a:ext cx="0" cy="1836000"/>
              </a:xfrm>
              <a:prstGeom prst="line">
                <a:avLst/>
              </a:prstGeom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/>
            <p:cNvSpPr/>
            <p:nvPr/>
          </p:nvSpPr>
          <p:spPr>
            <a:xfrm>
              <a:off x="6732240" y="4185112"/>
              <a:ext cx="252000" cy="25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1347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</a:t>
            </a:r>
            <a:r>
              <a:rPr lang="fr-FR" dirty="0" err="1" smtClean="0"/>
              <a:t>Clustering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10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Choix du nombre de clusters à conserver (K-</a:t>
            </a:r>
            <a:r>
              <a:rPr lang="fr-FR" sz="1800" dirty="0" err="1" smtClean="0"/>
              <a:t>Means</a:t>
            </a:r>
            <a:r>
              <a:rPr lang="fr-FR" sz="1800" dirty="0" smtClean="0"/>
              <a:t>) :  5</a:t>
            </a:r>
            <a:endParaRPr lang="fr-FR" sz="1600" u="sng" dirty="0">
              <a:solidFill>
                <a:schemeClr val="tx1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4716016" y="2301984"/>
            <a:ext cx="4104456" cy="2254032"/>
            <a:chOff x="4716016" y="2301984"/>
            <a:chExt cx="4104456" cy="2254032"/>
          </a:xfrm>
        </p:grpSpPr>
        <p:grpSp>
          <p:nvGrpSpPr>
            <p:cNvPr id="14" name="Group 13"/>
            <p:cNvGrpSpPr/>
            <p:nvPr/>
          </p:nvGrpSpPr>
          <p:grpSpPr>
            <a:xfrm>
              <a:off x="4716016" y="2301984"/>
              <a:ext cx="4104456" cy="2254032"/>
              <a:chOff x="4716016" y="2301984"/>
              <a:chExt cx="4104456" cy="2254032"/>
            </a:xfrm>
          </p:grpSpPr>
          <p:pic>
            <p:nvPicPr>
              <p:cNvPr id="2051" name="Picture 3" descr="C:\Users\Administrateur\Pictures\Screenshots\Capture d'écran 2026-03-23 191621.pn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16016" y="2301984"/>
                <a:ext cx="4104456" cy="22540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3" name="Straight Arrow Connector 12"/>
              <p:cNvCxnSpPr/>
              <p:nvPr/>
            </p:nvCxnSpPr>
            <p:spPr>
              <a:xfrm>
                <a:off x="5423892" y="2852936"/>
                <a:ext cx="0" cy="1368152"/>
              </a:xfrm>
              <a:prstGeom prst="straightConnector1">
                <a:avLst/>
              </a:prstGeom>
              <a:ln>
                <a:tailEnd type="arrow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/>
            <p:cNvCxnSpPr/>
            <p:nvPr/>
          </p:nvCxnSpPr>
          <p:spPr>
            <a:xfrm>
              <a:off x="5796136" y="2852936"/>
              <a:ext cx="0" cy="1368152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06960" y="2301984"/>
            <a:ext cx="4265040" cy="2254032"/>
            <a:chOff x="306960" y="2301984"/>
            <a:chExt cx="4265040" cy="2254032"/>
          </a:xfrm>
        </p:grpSpPr>
        <p:grpSp>
          <p:nvGrpSpPr>
            <p:cNvPr id="26" name="Group 25"/>
            <p:cNvGrpSpPr/>
            <p:nvPr/>
          </p:nvGrpSpPr>
          <p:grpSpPr>
            <a:xfrm>
              <a:off x="306960" y="2301984"/>
              <a:ext cx="4265040" cy="2254032"/>
              <a:chOff x="306960" y="2301984"/>
              <a:chExt cx="4265040" cy="2254032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306960" y="2301984"/>
                <a:ext cx="4265040" cy="2254032"/>
                <a:chOff x="306960" y="2301984"/>
                <a:chExt cx="4265040" cy="2254032"/>
              </a:xfrm>
            </p:grpSpPr>
            <p:pic>
              <p:nvPicPr>
                <p:cNvPr id="2050" name="Picture 2" descr="C:\Users\Administrateur\Pictures\Screenshots\Capture d'écran 2026-03-23 191608.png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6960" y="2301984"/>
                  <a:ext cx="4265040" cy="225403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4" name="Straight Connector 3"/>
                <p:cNvCxnSpPr/>
                <p:nvPr/>
              </p:nvCxnSpPr>
              <p:spPr>
                <a:xfrm>
                  <a:off x="755576" y="3792698"/>
                  <a:ext cx="3672408" cy="500398"/>
                </a:xfrm>
                <a:prstGeom prst="line">
                  <a:avLst/>
                </a:prstGeom>
                <a:ln>
                  <a:prstDash val="dash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Straight Arrow Connector 22"/>
              <p:cNvCxnSpPr/>
              <p:nvPr/>
            </p:nvCxnSpPr>
            <p:spPr>
              <a:xfrm>
                <a:off x="1763688" y="4035130"/>
                <a:ext cx="0" cy="250199"/>
              </a:xfrm>
              <a:prstGeom prst="straightConnector1">
                <a:avLst/>
              </a:prstGeom>
              <a:ln>
                <a:tailEnd type="arrow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Oval 31"/>
            <p:cNvSpPr/>
            <p:nvPr/>
          </p:nvSpPr>
          <p:spPr>
            <a:xfrm>
              <a:off x="1403648" y="4221088"/>
              <a:ext cx="252000" cy="252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67703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</a:t>
            </a:r>
            <a:r>
              <a:rPr lang="fr-FR" dirty="0" err="1" smtClean="0"/>
              <a:t>Clustering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11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40768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Projections des clusters :</a:t>
            </a:r>
            <a:endParaRPr lang="fr-FR" sz="1600" u="sng" dirty="0">
              <a:solidFill>
                <a:schemeClr val="tx1"/>
              </a:solidFill>
            </a:endParaRPr>
          </a:p>
        </p:txBody>
      </p:sp>
      <p:pic>
        <p:nvPicPr>
          <p:cNvPr id="3074" name="Picture 2" descr="C:\Users\Administrateur\Pictures\Screenshots\Capture d'écran 2026-03-23 19003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07" y="1775299"/>
            <a:ext cx="2855641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Administrateur\Pictures\Screenshots\Capture d'écran 2026-03-23 19021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168" y="3212976"/>
            <a:ext cx="2859664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Administrateur\Pictures\Screenshots\Capture d'écran 2026-03-23 191649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772976"/>
            <a:ext cx="284748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2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Résultats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12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grpSp>
        <p:nvGrpSpPr>
          <p:cNvPr id="10" name="Group 9"/>
          <p:cNvGrpSpPr/>
          <p:nvPr/>
        </p:nvGrpSpPr>
        <p:grpSpPr>
          <a:xfrm>
            <a:off x="6372200" y="1304746"/>
            <a:ext cx="2276475" cy="2293359"/>
            <a:chOff x="6372200" y="1304746"/>
            <a:chExt cx="2276475" cy="2293359"/>
          </a:xfrm>
        </p:grpSpPr>
        <p:grpSp>
          <p:nvGrpSpPr>
            <p:cNvPr id="5" name="Group 4"/>
            <p:cNvGrpSpPr/>
            <p:nvPr/>
          </p:nvGrpSpPr>
          <p:grpSpPr>
            <a:xfrm>
              <a:off x="6372200" y="1304746"/>
              <a:ext cx="2276475" cy="2293359"/>
              <a:chOff x="6372200" y="1304746"/>
              <a:chExt cx="2276475" cy="2293359"/>
            </a:xfrm>
          </p:grpSpPr>
          <p:pic>
            <p:nvPicPr>
              <p:cNvPr id="307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72200" y="1304746"/>
                <a:ext cx="2276475" cy="22933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Oval 3"/>
              <p:cNvSpPr/>
              <p:nvPr/>
            </p:nvSpPr>
            <p:spPr>
              <a:xfrm>
                <a:off x="7560392" y="2168920"/>
                <a:ext cx="540000" cy="540000"/>
              </a:xfrm>
              <a:prstGeom prst="ellipse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7738505" y="2689175"/>
              <a:ext cx="8659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solidFill>
                    <a:schemeClr val="accent1">
                      <a:lumMod val="75000"/>
                    </a:schemeClr>
                  </a:solidFill>
                </a:rPr>
                <a:t>Cluster 0</a:t>
              </a:r>
              <a:endParaRPr lang="fr-FR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9" name="Content Placeholder 11"/>
          <p:cNvSpPr txBox="1">
            <a:spLocks/>
          </p:cNvSpPr>
          <p:nvPr/>
        </p:nvSpPr>
        <p:spPr>
          <a:xfrm>
            <a:off x="476276" y="1317946"/>
            <a:ext cx="6012000" cy="4847358"/>
          </a:xfrm>
          <a:prstGeom prst="rect">
            <a:avLst/>
          </a:prstGeom>
        </p:spPr>
        <p:txBody>
          <a:bodyPr vert="horz" anchor="t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33 candidats restants</a:t>
            </a:r>
            <a:r>
              <a:rPr lang="fr-FR" sz="1600" dirty="0" smtClean="0"/>
              <a:t> :</a:t>
            </a:r>
          </a:p>
          <a:p>
            <a:pPr lvl="1">
              <a:buClr>
                <a:schemeClr val="tx1"/>
              </a:buClr>
              <a:buSzPct val="100000"/>
              <a:buFont typeface="Symbol" panose="05050102010706020507" pitchFamily="18" charset="2"/>
              <a:buChar char=""/>
            </a:pPr>
            <a:r>
              <a:rPr lang="fr-FR" sz="1600" dirty="0" smtClean="0">
                <a:solidFill>
                  <a:schemeClr val="tx1"/>
                </a:solidFill>
              </a:rPr>
              <a:t>Communs aux 2 clusters retenus (CAH + K-</a:t>
            </a:r>
            <a:r>
              <a:rPr lang="fr-FR" sz="1600" dirty="0" err="1" smtClean="0">
                <a:solidFill>
                  <a:schemeClr val="tx1"/>
                </a:solidFill>
              </a:rPr>
              <a:t>Means</a:t>
            </a:r>
            <a:r>
              <a:rPr lang="fr-FR" sz="1600" dirty="0" smtClean="0">
                <a:solidFill>
                  <a:schemeClr val="tx1"/>
                </a:solidFill>
              </a:rPr>
              <a:t>)</a:t>
            </a:r>
          </a:p>
          <a:p>
            <a:pPr lvl="1">
              <a:buClr>
                <a:schemeClr val="tx1"/>
              </a:buClr>
              <a:buSzPct val="100000"/>
              <a:buFont typeface="Symbol" panose="05050102010706020507" pitchFamily="18" charset="2"/>
              <a:buChar char="®"/>
            </a:pPr>
            <a:r>
              <a:rPr lang="fr-FR" sz="1600" dirty="0" smtClean="0">
                <a:solidFill>
                  <a:schemeClr val="tx1"/>
                </a:solidFill>
              </a:rPr>
              <a:t>France présente = bonne nouvelle =&gt; profils similaires</a:t>
            </a:r>
          </a:p>
          <a:p>
            <a:pPr lvl="1">
              <a:buClr>
                <a:schemeClr val="tx1"/>
              </a:buClr>
              <a:buSzPct val="100000"/>
              <a:buFont typeface="Symbol" panose="05050102010706020507" pitchFamily="18" charset="2"/>
              <a:buChar char="®"/>
            </a:pPr>
            <a:r>
              <a:rPr lang="fr-FR" sz="1600" dirty="0" smtClean="0">
                <a:solidFill>
                  <a:schemeClr val="tx1"/>
                </a:solidFill>
              </a:rPr>
              <a:t>Essentiellement pays :</a:t>
            </a:r>
          </a:p>
          <a:p>
            <a:pPr lvl="2">
              <a:buClr>
                <a:schemeClr val="tx1"/>
              </a:buClr>
              <a:buSzPct val="100000"/>
              <a:buFont typeface="Courier New" panose="02070309020205020404" pitchFamily="49" charset="0"/>
              <a:buChar char="-"/>
            </a:pPr>
            <a:r>
              <a:rPr lang="fr-FR" sz="1300" dirty="0" smtClean="0">
                <a:solidFill>
                  <a:schemeClr val="tx1"/>
                </a:solidFill>
              </a:rPr>
              <a:t>peuplés </a:t>
            </a:r>
            <a:r>
              <a:rPr lang="fr-FR" sz="1100" i="1" dirty="0" smtClean="0">
                <a:solidFill>
                  <a:schemeClr val="tx1"/>
                </a:solidFill>
              </a:rPr>
              <a:t>(&gt; 1M habitants)</a:t>
            </a:r>
            <a:r>
              <a:rPr lang="fr-FR" sz="1300" i="1" dirty="0" smtClean="0">
                <a:solidFill>
                  <a:schemeClr val="tx1"/>
                </a:solidFill>
              </a:rPr>
              <a:t>             </a:t>
            </a:r>
            <a:r>
              <a:rPr lang="fr-FR" sz="1200" i="1" dirty="0" smtClean="0">
                <a:solidFill>
                  <a:schemeClr val="tx1"/>
                </a:solidFill>
              </a:rPr>
              <a:t>-- </a:t>
            </a:r>
            <a:r>
              <a:rPr lang="fr-FR" sz="1300" dirty="0" smtClean="0">
                <a:solidFill>
                  <a:schemeClr val="tx1"/>
                </a:solidFill>
              </a:rPr>
              <a:t>développés </a:t>
            </a:r>
            <a:r>
              <a:rPr lang="fr-FR" sz="1100" i="1" dirty="0" smtClean="0">
                <a:solidFill>
                  <a:schemeClr val="tx1"/>
                </a:solidFill>
              </a:rPr>
              <a:t>(urbain, accès internet)</a:t>
            </a:r>
            <a:endParaRPr lang="fr-FR" sz="1300" dirty="0" smtClean="0">
              <a:solidFill>
                <a:schemeClr val="tx1"/>
              </a:solidFill>
            </a:endParaRPr>
          </a:p>
          <a:p>
            <a:pPr lvl="2">
              <a:buClr>
                <a:schemeClr val="tx1"/>
              </a:buClr>
              <a:buSzPct val="100000"/>
              <a:buFont typeface="Courier New" panose="02070309020205020404" pitchFamily="49" charset="0"/>
              <a:buChar char="-"/>
            </a:pPr>
            <a:r>
              <a:rPr lang="fr-FR" sz="1300" dirty="0" smtClean="0">
                <a:solidFill>
                  <a:schemeClr val="tx1"/>
                </a:solidFill>
              </a:rPr>
              <a:t>situation géopolitique stable    </a:t>
            </a:r>
            <a:r>
              <a:rPr lang="fr-FR" sz="1200" i="1" dirty="0" smtClean="0">
                <a:solidFill>
                  <a:schemeClr val="tx1"/>
                </a:solidFill>
              </a:rPr>
              <a:t>--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300" dirty="0" smtClean="0">
                <a:solidFill>
                  <a:schemeClr val="tx1"/>
                </a:solidFill>
              </a:rPr>
              <a:t>économie ouverte </a:t>
            </a:r>
            <a:r>
              <a:rPr lang="fr-FR" sz="1100" i="1" dirty="0" smtClean="0">
                <a:solidFill>
                  <a:schemeClr val="tx1"/>
                </a:solidFill>
              </a:rPr>
              <a:t>(PIB élevé, douanes faibles)</a:t>
            </a:r>
          </a:p>
          <a:p>
            <a:pPr lvl="1">
              <a:buClr>
                <a:schemeClr val="tx1"/>
              </a:buClr>
              <a:buSzPct val="100000"/>
              <a:buFont typeface="Symbol" panose="05050102010706020507" pitchFamily="18" charset="2"/>
              <a:buChar char="®"/>
            </a:pPr>
            <a:r>
              <a:rPr lang="fr-FR" sz="1600" dirty="0">
                <a:solidFill>
                  <a:schemeClr val="tx1"/>
                </a:solidFill>
              </a:rPr>
              <a:t>Suppression </a:t>
            </a:r>
            <a:r>
              <a:rPr lang="fr-FR" sz="1600" dirty="0" smtClean="0">
                <a:solidFill>
                  <a:schemeClr val="tx1"/>
                </a:solidFill>
              </a:rPr>
              <a:t>pays :</a:t>
            </a:r>
          </a:p>
          <a:p>
            <a:pPr lvl="2">
              <a:buClr>
                <a:schemeClr val="tx1"/>
              </a:buClr>
              <a:buSzPct val="100000"/>
              <a:buFont typeface="Courier New" panose="02070309020205020404" pitchFamily="49" charset="0"/>
              <a:buChar char="-"/>
            </a:pPr>
            <a:r>
              <a:rPr lang="fr-FR" sz="1300" dirty="0"/>
              <a:t>p</a:t>
            </a:r>
            <a:r>
              <a:rPr lang="fr-FR" sz="1300" dirty="0" smtClean="0">
                <a:solidFill>
                  <a:schemeClr val="tx1"/>
                </a:solidFill>
              </a:rPr>
              <a:t>eu/pas importateurs </a:t>
            </a:r>
            <a:r>
              <a:rPr lang="fr-FR" sz="1100" i="1" dirty="0">
                <a:solidFill>
                  <a:schemeClr val="tx1"/>
                </a:solidFill>
              </a:rPr>
              <a:t>(&lt; 30</a:t>
            </a:r>
            <a:r>
              <a:rPr lang="fr-FR" sz="1100" i="1" dirty="0" smtClean="0">
                <a:solidFill>
                  <a:schemeClr val="tx1"/>
                </a:solidFill>
              </a:rPr>
              <a:t>%)</a:t>
            </a:r>
            <a:r>
              <a:rPr lang="fr-FR" sz="1300" i="1" dirty="0" smtClean="0">
                <a:solidFill>
                  <a:schemeClr val="tx1"/>
                </a:solidFill>
              </a:rPr>
              <a:t>   </a:t>
            </a:r>
            <a:r>
              <a:rPr lang="fr-FR" sz="1200" i="1" dirty="0" smtClean="0">
                <a:solidFill>
                  <a:schemeClr val="tx1"/>
                </a:solidFill>
              </a:rPr>
              <a:t>--</a:t>
            </a:r>
            <a:r>
              <a:rPr lang="fr-FR" sz="1100" i="1" dirty="0" smtClean="0">
                <a:solidFill>
                  <a:schemeClr val="tx1"/>
                </a:solidFill>
              </a:rPr>
              <a:t> </a:t>
            </a:r>
            <a:r>
              <a:rPr lang="fr-FR" sz="1300" dirty="0" smtClean="0">
                <a:solidFill>
                  <a:schemeClr val="tx1"/>
                </a:solidFill>
              </a:rPr>
              <a:t>autres barrières </a:t>
            </a:r>
            <a:r>
              <a:rPr lang="fr-FR" sz="1200" dirty="0"/>
              <a:t>(ex : </a:t>
            </a:r>
            <a:r>
              <a:rPr lang="fr-FR" sz="1200" dirty="0" smtClean="0"/>
              <a:t>conso halal/kasher)</a:t>
            </a:r>
            <a:endParaRPr lang="fr-FR" sz="1200" dirty="0"/>
          </a:p>
          <a:p>
            <a:pPr lvl="2">
              <a:buClr>
                <a:schemeClr val="tx1"/>
              </a:buClr>
              <a:buSzPct val="100000"/>
              <a:buFont typeface="Courier New" panose="02070309020205020404" pitchFamily="49" charset="0"/>
              <a:buChar char="-"/>
            </a:pPr>
            <a:r>
              <a:rPr lang="fr-FR" sz="1300" dirty="0" smtClean="0">
                <a:solidFill>
                  <a:schemeClr val="tx1"/>
                </a:solidFill>
              </a:rPr>
              <a:t>peu/pas d’agriculture biologique </a:t>
            </a:r>
            <a:r>
              <a:rPr lang="fr-FR" sz="1100" i="1" dirty="0" smtClean="0">
                <a:solidFill>
                  <a:schemeClr val="tx1"/>
                </a:solidFill>
              </a:rPr>
              <a:t>(&lt; </a:t>
            </a:r>
            <a:r>
              <a:rPr lang="fr-FR" sz="1100" i="1" dirty="0">
                <a:solidFill>
                  <a:schemeClr val="tx1"/>
                </a:solidFill>
              </a:rPr>
              <a:t>10</a:t>
            </a:r>
            <a:r>
              <a:rPr lang="fr-FR" sz="1100" i="1" dirty="0" smtClean="0">
                <a:solidFill>
                  <a:schemeClr val="tx1"/>
                </a:solidFill>
              </a:rPr>
              <a:t>%)</a:t>
            </a:r>
          </a:p>
          <a:p>
            <a:pPr marL="320040" lvl="1" indent="0">
              <a:buClr>
                <a:schemeClr val="tx1"/>
              </a:buClr>
              <a:buSzPct val="100000"/>
              <a:buNone/>
            </a:pPr>
            <a:endParaRPr lang="fr-FR" sz="1600" dirty="0">
              <a:solidFill>
                <a:schemeClr val="tx1"/>
              </a:solidFill>
            </a:endParaRPr>
          </a:p>
          <a:p>
            <a:pPr marL="320040" lvl="1" indent="0">
              <a:buClr>
                <a:schemeClr val="tx1"/>
              </a:buClr>
              <a:buSzPct val="100000"/>
              <a:buNone/>
            </a:pPr>
            <a:endParaRPr lang="fr-FR" sz="1600" dirty="0" smtClean="0">
              <a:solidFill>
                <a:schemeClr val="tx1"/>
              </a:solidFill>
            </a:endParaRPr>
          </a:p>
          <a:p>
            <a:pPr marL="320040" lvl="1" indent="0">
              <a:buClr>
                <a:schemeClr val="tx1"/>
              </a:buClr>
              <a:buSzPct val="100000"/>
              <a:buNone/>
            </a:pPr>
            <a:endParaRPr lang="fr-FR" sz="1600" dirty="0">
              <a:solidFill>
                <a:schemeClr val="tx1"/>
              </a:solidFill>
            </a:endParaRPr>
          </a:p>
          <a:p>
            <a:pPr marL="320040" lvl="1" indent="0">
              <a:buClr>
                <a:schemeClr val="tx1"/>
              </a:buClr>
              <a:buSzPct val="100000"/>
              <a:buNone/>
            </a:pPr>
            <a:endParaRPr lang="fr-FR" sz="1600" dirty="0" smtClean="0">
              <a:solidFill>
                <a:schemeClr val="tx1"/>
              </a:solidFill>
            </a:endParaRPr>
          </a:p>
          <a:p>
            <a:pPr marL="320040" lvl="1" indent="0">
              <a:buClr>
                <a:schemeClr val="tx1"/>
              </a:buClr>
              <a:buSzPct val="100000"/>
              <a:buNone/>
            </a:pPr>
            <a:endParaRPr lang="fr-FR" sz="1600" dirty="0"/>
          </a:p>
          <a:p>
            <a:pPr marL="605790" lvl="1" indent="-285750">
              <a:buClr>
                <a:schemeClr val="tx1"/>
              </a:buClr>
              <a:buSzPct val="100000"/>
              <a:buFont typeface="Symbol" panose="05050102010706020507" pitchFamily="18" charset="2"/>
              <a:buChar char="®"/>
            </a:pPr>
            <a:r>
              <a:rPr lang="fr-FR" sz="1600" dirty="0" smtClean="0">
                <a:solidFill>
                  <a:schemeClr val="tx1"/>
                </a:solidFill>
              </a:rPr>
              <a:t>Vérification </a:t>
            </a:r>
            <a:r>
              <a:rPr lang="fr-FR" sz="1600" dirty="0">
                <a:solidFill>
                  <a:schemeClr val="tx1"/>
                </a:solidFill>
              </a:rPr>
              <a:t>derniers critères </a:t>
            </a:r>
            <a:r>
              <a:rPr lang="fr-FR" sz="1600" dirty="0" smtClean="0">
                <a:solidFill>
                  <a:schemeClr val="tx1"/>
                </a:solidFill>
              </a:rPr>
              <a:t>PESTEL </a:t>
            </a:r>
            <a:r>
              <a:rPr lang="fr-FR" sz="1600" dirty="0">
                <a:solidFill>
                  <a:schemeClr val="tx1"/>
                </a:solidFill>
              </a:rPr>
              <a:t>: </a:t>
            </a:r>
          </a:p>
          <a:p>
            <a:pPr lvl="2">
              <a:buClr>
                <a:schemeClr val="tx1"/>
              </a:buClr>
              <a:buSzPct val="100000"/>
              <a:buFont typeface="Courier New" panose="02070309020205020404" pitchFamily="49" charset="0"/>
              <a:buChar char="-"/>
            </a:pPr>
            <a:r>
              <a:rPr lang="fr-FR" sz="1300" dirty="0"/>
              <a:t>e</a:t>
            </a:r>
            <a:r>
              <a:rPr lang="fr-FR" sz="1300" dirty="0" smtClean="0">
                <a:solidFill>
                  <a:schemeClr val="tx1"/>
                </a:solidFill>
              </a:rPr>
              <a:t>mpreinte carbone </a:t>
            </a:r>
            <a:r>
              <a:rPr lang="fr-FR" sz="1100" i="1" dirty="0" smtClean="0">
                <a:solidFill>
                  <a:schemeClr val="tx1"/>
                </a:solidFill>
              </a:rPr>
              <a:t>(élevage + transport)</a:t>
            </a:r>
          </a:p>
          <a:p>
            <a:pPr lvl="2">
              <a:buClr>
                <a:schemeClr val="tx1"/>
              </a:buClr>
              <a:buSzPct val="100000"/>
              <a:buFont typeface="Courier New" panose="02070309020205020404" pitchFamily="49" charset="0"/>
              <a:buChar char="-"/>
            </a:pPr>
            <a:r>
              <a:rPr lang="fr-FR" sz="1300" dirty="0"/>
              <a:t>n</a:t>
            </a:r>
            <a:r>
              <a:rPr lang="fr-FR" sz="1300" dirty="0" smtClean="0"/>
              <a:t>ormes sanitaires</a:t>
            </a:r>
            <a:r>
              <a:rPr lang="fr-FR" sz="1300" dirty="0"/>
              <a:t>, certifications Bio </a:t>
            </a:r>
            <a:r>
              <a:rPr lang="fr-FR" sz="1100" i="1" dirty="0"/>
              <a:t>(normes et certifications UE reconnues</a:t>
            </a:r>
            <a:r>
              <a:rPr lang="fr-FR" sz="1100" i="1" dirty="0" smtClean="0"/>
              <a:t>)</a:t>
            </a:r>
            <a:endParaRPr lang="fr-FR" sz="1100" dirty="0" smtClean="0">
              <a:solidFill>
                <a:schemeClr val="tx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82534" y="3919083"/>
            <a:ext cx="6099355" cy="1080000"/>
            <a:chOff x="682534" y="3919083"/>
            <a:chExt cx="6099355" cy="1080000"/>
          </a:xfrm>
        </p:grpSpPr>
        <p:sp>
          <p:nvSpPr>
            <p:cNvPr id="3" name="TextBox 2"/>
            <p:cNvSpPr txBox="1"/>
            <p:nvPr/>
          </p:nvSpPr>
          <p:spPr>
            <a:xfrm>
              <a:off x="2173889" y="4012856"/>
              <a:ext cx="4608000" cy="900246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285750" indent="-285750" algn="ctr">
                <a:spcAft>
                  <a:spcPts val="300"/>
                </a:spcAft>
                <a:buFont typeface="Symbol"/>
                <a:buChar char="Þ"/>
              </a:pPr>
              <a:r>
                <a:rPr lang="fr-FR" sz="1600" dirty="0" smtClean="0"/>
                <a:t>Reste 6 candidats intéressants : </a:t>
              </a:r>
            </a:p>
            <a:p>
              <a:pPr algn="ctr"/>
              <a:r>
                <a:rPr lang="fr-FR" sz="1600" dirty="0" smtClean="0"/>
                <a:t>Autriche, Estonie, Lettonie, Suède, </a:t>
              </a:r>
            </a:p>
            <a:p>
              <a:pPr algn="ctr"/>
              <a:r>
                <a:rPr lang="fr-FR" sz="1600" dirty="0" smtClean="0"/>
                <a:t>Suisse et République Tchèque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95712">
              <a:off x="682534" y="3919083"/>
              <a:ext cx="1276365" cy="1080000"/>
            </a:xfrm>
            <a:prstGeom prst="cloudCallout">
              <a:avLst>
                <a:gd name="adj1" fmla="val -46301"/>
                <a:gd name="adj2" fmla="val 45481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4574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Conclusion - Recommandations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13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476275" y="1317947"/>
            <a:ext cx="8344197" cy="4949503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fr-FR" sz="1800" dirty="0" smtClean="0"/>
              <a:t>Liste de 32 candidats pour exportation poulets bio « La Poule Qui Chante ».</a:t>
            </a:r>
          </a:p>
          <a:p>
            <a:r>
              <a:rPr lang="fr-FR" sz="1800" dirty="0" smtClean="0"/>
              <a:t>Profils favorables car :</a:t>
            </a:r>
          </a:p>
          <a:p>
            <a:pPr lvl="1">
              <a:buClrTx/>
              <a:buSzPct val="100000"/>
              <a:buFont typeface="Symbol" panose="05050102010706020507" pitchFamily="18" charset="2"/>
              <a:buChar char="®"/>
            </a:pPr>
            <a:r>
              <a:rPr lang="fr-FR" sz="1500" dirty="0" smtClean="0">
                <a:solidFill>
                  <a:schemeClr val="tx1"/>
                </a:solidFill>
              </a:rPr>
              <a:t>situation géopolitique et économique</a:t>
            </a:r>
            <a:r>
              <a:rPr lang="fr-FR" sz="1500" dirty="0">
                <a:solidFill>
                  <a:schemeClr val="tx1"/>
                </a:solidFill>
              </a:rPr>
              <a:t> </a:t>
            </a:r>
            <a:r>
              <a:rPr lang="fr-FR" sz="1500" dirty="0" smtClean="0">
                <a:solidFill>
                  <a:schemeClr val="tx1"/>
                </a:solidFill>
              </a:rPr>
              <a:t>positive et stable</a:t>
            </a:r>
          </a:p>
          <a:p>
            <a:pPr lvl="1">
              <a:buClrTx/>
              <a:buSzPct val="100000"/>
              <a:buFont typeface="Symbol" panose="05050102010706020507" pitchFamily="18" charset="2"/>
              <a:buChar char="®"/>
            </a:pPr>
            <a:r>
              <a:rPr lang="fr-FR" sz="1500" dirty="0" smtClean="0">
                <a:solidFill>
                  <a:schemeClr val="tx1"/>
                </a:solidFill>
              </a:rPr>
              <a:t>consommation et importation de viande de volaille</a:t>
            </a:r>
          </a:p>
          <a:p>
            <a:pPr lvl="1">
              <a:spcAft>
                <a:spcPts val="1200"/>
              </a:spcAft>
              <a:buClrTx/>
              <a:buSzPct val="100000"/>
              <a:buFont typeface="Symbol" panose="05050102010706020507" pitchFamily="18" charset="2"/>
              <a:buChar char="®"/>
            </a:pPr>
            <a:r>
              <a:rPr lang="fr-FR" sz="1500" dirty="0" smtClean="0">
                <a:solidFill>
                  <a:schemeClr val="tx1"/>
                </a:solidFill>
              </a:rPr>
              <a:t>pratique de l’agriculture biologique</a:t>
            </a:r>
            <a:endParaRPr lang="fr-FR" sz="1800" dirty="0"/>
          </a:p>
          <a:p>
            <a:r>
              <a:rPr lang="fr-FR" sz="1800" dirty="0" smtClean="0"/>
              <a:t>&gt; 60 % en Europe et/ou membres de l’UE :</a:t>
            </a:r>
          </a:p>
          <a:p>
            <a:pPr lvl="1">
              <a:buClrTx/>
              <a:buSzPct val="100000"/>
              <a:buFont typeface="Symbol" panose="05050102010706020507" pitchFamily="18" charset="2"/>
              <a:buChar char="®"/>
            </a:pPr>
            <a:r>
              <a:rPr lang="fr-FR" sz="1500" dirty="0">
                <a:solidFill>
                  <a:schemeClr val="tx1"/>
                </a:solidFill>
              </a:rPr>
              <a:t>m</a:t>
            </a:r>
            <a:r>
              <a:rPr lang="fr-FR" sz="1500" dirty="0" smtClean="0">
                <a:solidFill>
                  <a:schemeClr val="tx1"/>
                </a:solidFill>
              </a:rPr>
              <a:t>êmes normes sanitaires et certifications demandées pour importation et agriculture biologique</a:t>
            </a:r>
          </a:p>
          <a:p>
            <a:pPr lvl="1">
              <a:buClrTx/>
              <a:buSzPct val="100000"/>
              <a:buFont typeface="Symbol" panose="05050102010706020507" pitchFamily="18" charset="2"/>
              <a:buChar char="®"/>
            </a:pPr>
            <a:r>
              <a:rPr lang="fr-FR" sz="1500" dirty="0">
                <a:solidFill>
                  <a:schemeClr val="tx1"/>
                </a:solidFill>
              </a:rPr>
              <a:t>e</a:t>
            </a:r>
            <a:r>
              <a:rPr lang="fr-FR" sz="1500" dirty="0" smtClean="0">
                <a:solidFill>
                  <a:schemeClr val="tx1"/>
                </a:solidFill>
              </a:rPr>
              <a:t>mpreinte carbone et coût transport minimisés (transport terrestre)</a:t>
            </a:r>
          </a:p>
          <a:p>
            <a:pPr lvl="1">
              <a:buClrTx/>
              <a:buSzPct val="100000"/>
              <a:buFont typeface="Symbol" panose="05050102010706020507" pitchFamily="18" charset="2"/>
              <a:buChar char="®"/>
            </a:pPr>
            <a:r>
              <a:rPr lang="fr-FR" sz="1500" dirty="0">
                <a:solidFill>
                  <a:schemeClr val="tx1"/>
                </a:solidFill>
              </a:rPr>
              <a:t>a</a:t>
            </a:r>
            <a:r>
              <a:rPr lang="fr-FR" sz="1500" dirty="0" smtClean="0">
                <a:solidFill>
                  <a:schemeClr val="tx1"/>
                </a:solidFill>
              </a:rPr>
              <a:t>ccords commerciaux avantageux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89632" y="4495466"/>
            <a:ext cx="7047136" cy="1669838"/>
            <a:chOff x="889632" y="4545264"/>
            <a:chExt cx="7047136" cy="1669838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632" y="4545264"/>
              <a:ext cx="1522128" cy="12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500768" y="4653136"/>
              <a:ext cx="5436000" cy="1561966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Symbol"/>
                <a:buChar char="Þ"/>
              </a:pPr>
              <a:r>
                <a:rPr lang="fr-FR" sz="1600" dirty="0" smtClean="0"/>
                <a:t>Cible générale = Europe</a:t>
              </a:r>
            </a:p>
            <a:p>
              <a:pPr marL="285750" indent="-285750">
                <a:spcAft>
                  <a:spcPts val="300"/>
                </a:spcAft>
                <a:buFont typeface="Symbol"/>
                <a:buChar char="Þ"/>
              </a:pPr>
              <a:r>
                <a:rPr lang="fr-FR" sz="1600" dirty="0" smtClean="0"/>
                <a:t>Commencer par les 6 pays identifiés précédemment</a:t>
              </a:r>
            </a:p>
            <a:p>
              <a:pPr marL="742950" lvl="1" indent="-285750">
                <a:buFont typeface="Wingdings" panose="05000000000000000000" pitchFamily="2" charset="2"/>
                <a:buChar char="Ä"/>
              </a:pPr>
              <a:r>
                <a:rPr lang="fr-FR" sz="1400" dirty="0"/>
                <a:t>r</a:t>
              </a:r>
              <a:r>
                <a:rPr lang="fr-FR" sz="1400" dirty="0" smtClean="0"/>
                <a:t>éunissent tous les critères</a:t>
              </a:r>
            </a:p>
            <a:p>
              <a:pPr marL="742950" lvl="1" indent="-285750">
                <a:buFont typeface="Wingdings" panose="05000000000000000000" pitchFamily="2" charset="2"/>
                <a:buChar char="Ä"/>
              </a:pPr>
              <a:r>
                <a:rPr lang="fr-FR" sz="1400" dirty="0"/>
                <a:t>e</a:t>
              </a:r>
              <a:r>
                <a:rPr lang="fr-FR" sz="1400" dirty="0" smtClean="0"/>
                <a:t>nvironnement économique et politique fiable et idéal</a:t>
              </a:r>
            </a:p>
            <a:p>
              <a:pPr marL="742950" lvl="1" indent="-285750">
                <a:buFont typeface="Wingdings" panose="05000000000000000000" pitchFamily="2" charset="2"/>
                <a:buChar char="Ä"/>
              </a:pPr>
              <a:r>
                <a:rPr lang="fr-FR" sz="1400" dirty="0"/>
                <a:t>l</a:t>
              </a:r>
              <a:r>
                <a:rPr lang="fr-FR" sz="1400" dirty="0" smtClean="0"/>
                <a:t>eaders européens du bio, pratique valorisée et forte demande</a:t>
              </a:r>
              <a:endParaRPr lang="fr-F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9162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43000" y="1772816"/>
            <a:ext cx="6858000" cy="990600"/>
          </a:xfrm>
        </p:spPr>
        <p:txBody>
          <a:bodyPr>
            <a:normAutofit/>
          </a:bodyPr>
          <a:lstStyle/>
          <a:p>
            <a:pPr algn="ctr"/>
            <a:r>
              <a:rPr lang="fr-FR" dirty="0" smtClean="0"/>
              <a:t>Merci de votre attention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000" y="2529520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fr-FR" dirty="0" smtClean="0"/>
              <a:t>Méthodologie - PESTEL</a:t>
            </a:r>
            <a:endParaRPr lang="fr-F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4628-972C-4B9F-9590-14F94F1B3C86}" type="datetime2">
              <a:rPr lang="fr-FR" smtClean="0"/>
              <a:t>lundi 13 avril 2026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6399-51D9-47D0-8D4F-13E6B1049C64}" type="slidenum">
              <a:rPr lang="fr-FR" smtClean="0"/>
              <a:t>15</a:t>
            </a:fld>
            <a:endParaRPr lang="fr-FR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88640"/>
            <a:ext cx="1134571" cy="900000"/>
          </a:xfrm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10" y="1181100"/>
            <a:ext cx="7355581" cy="5086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474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943</TotalTime>
  <Words>1357</Words>
  <Application>Microsoft Office PowerPoint</Application>
  <PresentationFormat>On-screen Show (4:3)</PresentationFormat>
  <Paragraphs>241</Paragraphs>
  <Slides>15</Slides>
  <Notes>13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Origin</vt:lpstr>
      <vt:lpstr>Etude de marché  en vue d’exportation</vt:lpstr>
      <vt:lpstr>Contexte</vt:lpstr>
      <vt:lpstr>Méthodologie - PESTEL</vt:lpstr>
      <vt:lpstr>Méthodologie - Préparation</vt:lpstr>
      <vt:lpstr>Méthodologie - ACP</vt:lpstr>
      <vt:lpstr>Méthodologie - ACP</vt:lpstr>
      <vt:lpstr>Méthodologie - ACP</vt:lpstr>
      <vt:lpstr>Méthodologie - Clustering</vt:lpstr>
      <vt:lpstr>Méthodologie - Clustering</vt:lpstr>
      <vt:lpstr>Méthodologie - Clustering</vt:lpstr>
      <vt:lpstr>Méthodologie - Clustering</vt:lpstr>
      <vt:lpstr>Résultats</vt:lpstr>
      <vt:lpstr>Conclusion - Recommandations</vt:lpstr>
      <vt:lpstr>Merci de votre attention</vt:lpstr>
      <vt:lpstr>Méthodologie - PESTEL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Inc.</dc:creator>
  <cp:lastModifiedBy>HP Inc.</cp:lastModifiedBy>
  <cp:revision>97</cp:revision>
  <dcterms:created xsi:type="dcterms:W3CDTF">2026-03-05T15:13:52Z</dcterms:created>
  <dcterms:modified xsi:type="dcterms:W3CDTF">2026-04-13T14:51:38Z</dcterms:modified>
</cp:coreProperties>
</file>